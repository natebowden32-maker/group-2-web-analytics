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4B1F44-B3CE-47E8-B0A0-5B6C665E30DF}">
  <a:tblStyle styleId="{654B1F44-B3CE-47E8-B0A0-5B6C665E30D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F3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11480" y="256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F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9FC0"/>
                </a:solidFill>
                <a:latin typeface="Calibri"/>
                <a:ea typeface="Calibri"/>
                <a:cs typeface="Calibri"/>
                <a:sym typeface="Calibri"/>
              </a:rPr>
              <a:t>Web Analytics  |  Spring 2026  |  Group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11480" y="658368"/>
            <a:ext cx="78638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Sentiment &amp; Discourse Analysis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Google's Discontinued Products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11480" y="2633472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C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FC3B8"/>
                </a:solidFill>
                <a:latin typeface="Calibri"/>
                <a:ea typeface="Calibri"/>
                <a:cs typeface="Calibri"/>
                <a:sym typeface="Calibri"/>
              </a:rPr>
              <a:t>Google Stadia   ·   Google Glass   ·   Google+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11480" y="3090672"/>
            <a:ext cx="4754880" cy="18288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11480" y="3218688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90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90AA"/>
                </a:solidFill>
                <a:latin typeface="Calibri"/>
                <a:ea typeface="Calibri"/>
                <a:cs typeface="Calibri"/>
                <a:sym typeface="Calibri"/>
              </a:rPr>
              <a:t>Fordham University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132320" y="3474720"/>
            <a:ext cx="2011680" cy="1668780"/>
          </a:xfrm>
          <a:prstGeom prst="rect">
            <a:avLst/>
          </a:prstGeom>
          <a:solidFill>
            <a:srgbClr val="0A1828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589520" y="3931920"/>
            <a:ext cx="1097280" cy="754380"/>
          </a:xfrm>
          <a:prstGeom prst="rect">
            <a:avLst/>
          </a:prstGeom>
          <a:solidFill>
            <a:srgbClr val="0E2540"/>
          </a:solidFill>
          <a:ln cap="flat" cmpd="sng" w="9525">
            <a:solidFill>
              <a:srgbClr val="3A61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CD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CDF"/>
                </a:solidFill>
                <a:latin typeface="Calibri"/>
                <a:ea typeface="Calibri"/>
                <a:cs typeface="Calibri"/>
                <a:sym typeface="Calibri"/>
              </a:rPr>
              <a:t>Problem Definition &amp; Research Goals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20040" y="658368"/>
            <a:ext cx="8503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do users keep talking after a product dies?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20040" y="1115568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When a tech product is discontinued, public discourse does not stop — it shifts. This project uses YouTube comment data to measure how sentiment and topic vocabulary change before and after discontinuation across three Google products.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20040" y="1682496"/>
            <a:ext cx="8503920" cy="18288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20040" y="1792224"/>
            <a:ext cx="8503920" cy="640080"/>
          </a:xfrm>
          <a:prstGeom prst="rect">
            <a:avLst/>
          </a:prstGeom>
          <a:solidFill>
            <a:srgbClr val="E8F0FB"/>
          </a:solidFill>
          <a:ln cap="flat" cmpd="sng" w="9525">
            <a:solidFill>
              <a:srgbClr val="1A5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75488" y="18288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A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56A0"/>
                </a:solidFill>
                <a:latin typeface="Calibri"/>
                <a:ea typeface="Calibri"/>
                <a:cs typeface="Calibri"/>
                <a:sym typeface="Calibri"/>
              </a:rPr>
              <a:t>Research Hypothesis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75488" y="202996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H1: Mean YouTube comment sentiment polarity decreases significantly (Welch's t-test, α = 0.05) after product discontinuation.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H2: Dominant keywords shift from forward-looking (e.g., 'future', 'innovation') to retrospective terms (e.g., 'remember', 'fail') post-shutdown.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20040" y="25786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Research Questions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20040" y="2907792"/>
            <a:ext cx="850392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20040" y="2907792"/>
            <a:ext cx="512064" cy="219456"/>
          </a:xfrm>
          <a:prstGeom prst="rect">
            <a:avLst/>
          </a:prstGeom>
          <a:solidFill>
            <a:srgbClr val="3A61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20040" y="2907792"/>
            <a:ext cx="512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 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96112" y="2953512"/>
            <a:ext cx="7818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 YouTube comment polarity scores shift significantly (p &lt; 0.05) after discontinuation, and does the direction vary across products?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20040" y="3566160"/>
            <a:ext cx="850392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320040" y="3566160"/>
            <a:ext cx="512064" cy="219456"/>
          </a:xfrm>
          <a:prstGeom prst="rect">
            <a:avLst/>
          </a:prstGeom>
          <a:solidFill>
            <a:srgbClr val="3A61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320040" y="3566160"/>
            <a:ext cx="512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 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96112" y="3611880"/>
            <a:ext cx="7818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Which keywords and co-occurring topics rise or fall in frequency post-discontinuation, as measured by TF-IDF and co-occurrence network analysis?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20040" y="4224528"/>
            <a:ext cx="850392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20040" y="4224528"/>
            <a:ext cx="512064" cy="219456"/>
          </a:xfrm>
          <a:prstGeom prst="rect">
            <a:avLst/>
          </a:prstGeom>
          <a:solidFill>
            <a:srgbClr val="3A61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320040" y="4224528"/>
            <a:ext cx="512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 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896112" y="4270248"/>
            <a:ext cx="7818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Which product aspects (quality, market demand, timing) attract the most negative sentiment in post-shutdown discourse, as identified by aspect-based sentiment analysis?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CD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CDF"/>
                </a:solidFill>
                <a:latin typeface="Calibri"/>
                <a:ea typeface="Calibri"/>
                <a:cs typeface="Calibri"/>
                <a:sym typeface="Calibri"/>
              </a:rPr>
              <a:t>Data Acquisition &amp; Methodology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20040" y="658368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8" name="Google Shape;58;p5"/>
          <p:cNvGraphicFramePr/>
          <p:nvPr/>
        </p:nvGraphicFramePr>
        <p:xfrm>
          <a:off x="320040" y="987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{654B1F44-B3CE-47E8-B0A0-5B6C665E30DF}</a:tableStyleId>
              </a:tblPr>
              <a:tblGrid>
                <a:gridCol w="1188725"/>
                <a:gridCol w="1005850"/>
                <a:gridCol w="822950"/>
                <a:gridCol w="1005850"/>
                <a:gridCol w="8229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Product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Before Window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n (Before)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After Window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n (After)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Google Stadia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Pre Jan 2023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600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Post Jan 2023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620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Google Glass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Pre Jan 2015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739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Post Jan 2015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306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Google+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Pre Apr 2019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763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Post Apr 2019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427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Total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2,102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1,353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" name="Google Shape;59;p5"/>
          <p:cNvSpPr/>
          <p:nvPr/>
        </p:nvSpPr>
        <p:spPr>
          <a:xfrm>
            <a:off x="320040" y="2432304"/>
            <a:ext cx="4846320" cy="1024128"/>
          </a:xfrm>
          <a:prstGeom prst="rect">
            <a:avLst/>
          </a:prstGeom>
          <a:solidFill>
            <a:srgbClr val="EAF1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457200" y="246888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Collection &amp; Cleaning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57200" y="2688336"/>
            <a:ext cx="46177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Source: YouTube Data API v3, queried by video URL for each product's key announcement/eulogy videos.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Cleaning: removed duplicate comment IDs, filtered non-English text, dropped comments under 5 words. Polarity scoring applied via TextBlob on cleaned text.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20040" y="3520440"/>
            <a:ext cx="4846320" cy="658368"/>
          </a:xfrm>
          <a:prstGeom prst="rect">
            <a:avLst/>
          </a:prstGeom>
          <a:solidFill>
            <a:srgbClr val="FFF8E7"/>
          </a:solidFill>
          <a:ln cap="flat" cmpd="sng" w="9525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457200" y="3557016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6A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06A00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57200" y="3739896"/>
            <a:ext cx="4617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English-only comments may underrepresent global sentiment. Comment volume skews toward videos with high initial engagement. Post-shutdown samples may attract a self-selected nostalgic audience.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349240" y="65836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Analytical Methods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349240" y="987552"/>
            <a:ext cx="352044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349240" y="987552"/>
            <a:ext cx="54864" cy="621792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5449824" y="1024128"/>
            <a:ext cx="3364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Sentiment Analysis (TextBlob)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449824" y="1243584"/>
            <a:ext cx="3364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Quantifies polarity shift; directly tests H1 across all comment groups.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349240" y="1682496"/>
            <a:ext cx="352044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5349240" y="1682496"/>
            <a:ext cx="54864" cy="621792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449824" y="1719072"/>
            <a:ext cx="3364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Welch's T-Test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449824" y="1938528"/>
            <a:ext cx="3364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Appropriate for unequal sample sizes and variances; provides significance threshold for H1.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349240" y="2377440"/>
            <a:ext cx="352044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5349240" y="2377440"/>
            <a:ext cx="54864" cy="621792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5449824" y="2414016"/>
            <a:ext cx="3364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TF-IDF Keyword Extraction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449824" y="2633472"/>
            <a:ext cx="3364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Identifies discriminating terms per period; tests H2 on vocabulary shift.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349240" y="3072384"/>
            <a:ext cx="352044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349240" y="3072384"/>
            <a:ext cx="54864" cy="621792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449824" y="3108960"/>
            <a:ext cx="3364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Co-occurrence Network (Gephi)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449824" y="3328416"/>
            <a:ext cx="3364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Maps discourse topology; reveals which concepts cluster together in each period.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349240" y="3767328"/>
            <a:ext cx="352044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349240" y="3767328"/>
            <a:ext cx="54864" cy="621792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5449824" y="3803904"/>
            <a:ext cx="3364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ABSA with Gemini LLM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449824" y="4023360"/>
            <a:ext cx="3364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Extracts aspect-level sentiment to answer RQ3 beyond aggregate polarity.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CD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CDF"/>
                </a:solidFill>
                <a:latin typeface="Calibri"/>
                <a:ea typeface="Calibri"/>
                <a:cs typeface="Calibri"/>
                <a:sym typeface="Calibri"/>
              </a:rPr>
              <a:t>Sentiment Analysis  —  TextBlob Polarity Scores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658368"/>
            <a:ext cx="5394960" cy="373075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/>
          <p:nvPr/>
        </p:nvSpPr>
        <p:spPr>
          <a:xfrm>
            <a:off x="5897880" y="65836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Findings  —  answers RQ1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897880" y="969264"/>
            <a:ext cx="3017520" cy="18288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5897880" y="1060704"/>
            <a:ext cx="30175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5897880" y="1060704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5998464" y="1115568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 three products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998464" y="1335024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showed lower mean polarity after discontinuation — consistent with H1.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897880" y="1810512"/>
            <a:ext cx="30175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897880" y="1810512"/>
            <a:ext cx="54864" cy="658368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998464" y="1865376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Google Glass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998464" y="2084832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largest drop (−0.054), statistically significant (p = 0.004).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897880" y="2560320"/>
            <a:ext cx="30175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5897880" y="2560320"/>
            <a:ext cx="54864" cy="65836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5998464" y="2615184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Google+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998464" y="28346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significant shift (p = 0.002); nostalgia vocabulary emerges post-shutdown.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897880" y="3310128"/>
            <a:ext cx="30175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5897880" y="3310128"/>
            <a:ext cx="54864" cy="658368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5998464" y="336499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Google Stadia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998464" y="3584448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smallest drop (−0.014), not statistically significant (p = 0.41).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274320" y="4882896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Polarity: −1.0 (very negative) to +1.0 (very positive)  |  Computed via TextBlob on raw YouTube comments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CD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CDF"/>
                </a:solidFill>
                <a:latin typeface="Calibri"/>
                <a:ea typeface="Calibri"/>
                <a:cs typeface="Calibri"/>
                <a:sym typeface="Calibri"/>
              </a:rPr>
              <a:t>Statistical Testing  —  Welch's Independent Samples T-Test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Did sentiment shift significantly after discontinuation?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1" name="Google Shape;121;p7"/>
          <p:cNvGraphicFramePr/>
          <p:nvPr/>
        </p:nvGraphicFramePr>
        <p:xfrm>
          <a:off x="320040" y="10789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{654B1F44-B3CE-47E8-B0A0-5B6C665E30DF}</a:tableStyleId>
              </a:tblPr>
              <a:tblGrid>
                <a:gridCol w="1600200"/>
                <a:gridCol w="1170425"/>
                <a:gridCol w="1170425"/>
                <a:gridCol w="1051550"/>
                <a:gridCol w="1170425"/>
                <a:gridCol w="1261875"/>
                <a:gridCol w="107900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Product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Mean Before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Mean After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Change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t-Statistic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p-Value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Significant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C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Google Stadia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0.1007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0.0867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C0392B"/>
                          </a:solidFill>
                        </a:rPr>
                        <a:t>−0.0140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0.823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0.4105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F9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B7F93"/>
                          </a:solidFill>
                        </a:rPr>
                        <a:t>No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Google Glass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0.1431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0.0905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C0392B"/>
                          </a:solidFill>
                        </a:rPr>
                        <a:t>−0.0526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2.882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0392B"/>
                          </a:solidFill>
                        </a:rPr>
                        <a:t>0.0041**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E45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E7E45"/>
                          </a:solidFill>
                        </a:rPr>
                        <a:t>Yes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Google+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0.1290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0.0705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C0392B"/>
                          </a:solidFill>
                        </a:rPr>
                        <a:t>−0.0585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3.151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0392B"/>
                          </a:solidFill>
                        </a:rPr>
                        <a:t>0.0017**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E45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E7E45"/>
                          </a:solidFill>
                        </a:rPr>
                        <a:t>Yes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" name="Google Shape;122;p7"/>
          <p:cNvSpPr/>
          <p:nvPr/>
        </p:nvSpPr>
        <p:spPr>
          <a:xfrm>
            <a:off x="320040" y="2542032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320040" y="2852928"/>
            <a:ext cx="8503920" cy="18288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274320" y="2926080"/>
            <a:ext cx="2788920" cy="1847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274320" y="2926080"/>
            <a:ext cx="2788920" cy="25603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365760" y="2926080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Stadia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84048" y="3218688"/>
            <a:ext cx="257860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Sentiment decline was not statistically significant, suggesting Stadia never built strong positive sentiment to begin with. The community tone was muted both before and after shutdown.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172968" y="2926080"/>
            <a:ext cx="2788920" cy="1847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3172968" y="2926080"/>
            <a:ext cx="2788920" cy="256032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3264408" y="2926080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Glass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3282696" y="3218688"/>
            <a:ext cx="257860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Significant drop (p &lt; 0.01). Post-shutdown criticism shifted from privacy/novelty debates to direct comparisons with Apple Vision Pro — a sign of unmet long-term expectations.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071616" y="2926080"/>
            <a:ext cx="2788920" cy="1847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6071616" y="2926080"/>
            <a:ext cx="2788920" cy="25603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6163056" y="2926080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181344" y="3218688"/>
            <a:ext cx="257860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Strongest statistical significance (p &lt; 0.01). Post-shutdown discourse is dominated by nostalgia terms ('remember', 'miss') and comparisons to Facebook — a grieving community tone.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20040" y="4901184"/>
            <a:ext cx="8503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** p &lt; 0.01  |  Welch's t-test used to account for unequal sample sizes and variances between time periods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CD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CDF"/>
                </a:solidFill>
                <a:latin typeface="Calibri"/>
                <a:ea typeface="Calibri"/>
                <a:cs typeface="Calibri"/>
                <a:sym typeface="Calibri"/>
              </a:rPr>
              <a:t>TF-IDF Keyword Analysis  —  Discourse Shifts Before vs. After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201168" y="621792"/>
            <a:ext cx="2852928" cy="256032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201168" y="621792"/>
            <a:ext cx="2852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Stadia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201168" y="914400"/>
            <a:ext cx="1389888" cy="219456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201168" y="914400"/>
            <a:ext cx="13898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A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56A0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1636776" y="914400"/>
            <a:ext cx="1389888" cy="219456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1636776" y="914400"/>
            <a:ext cx="13898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6A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06A00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201168" y="1170432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1636776" y="1170432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256032" y="1170432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gaming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1691640" y="1170432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games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201168" y="1440180"/>
            <a:ext cx="1389888" cy="246888"/>
          </a:xfrm>
          <a:prstGeom prst="rect">
            <a:avLst/>
          </a:prstGeom>
          <a:solidFill>
            <a:srgbClr val="EAF1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1636776" y="1440180"/>
            <a:ext cx="1389888" cy="246888"/>
          </a:xfrm>
          <a:prstGeom prst="rect">
            <a:avLst/>
          </a:prstGeom>
          <a:solidFill>
            <a:srgbClr val="FEF9F0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256032" y="144018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1691640" y="144018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201168" y="1709928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1636776" y="1709928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256032" y="1709928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1691640" y="1709928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201168" y="1979676"/>
            <a:ext cx="1389888" cy="246888"/>
          </a:xfrm>
          <a:prstGeom prst="rect">
            <a:avLst/>
          </a:prstGeom>
          <a:solidFill>
            <a:srgbClr val="EAF1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1636776" y="1979676"/>
            <a:ext cx="1389888" cy="246888"/>
          </a:xfrm>
          <a:prstGeom prst="rect">
            <a:avLst/>
          </a:prstGeom>
          <a:solidFill>
            <a:srgbClr val="FEF9F0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256032" y="1979676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691640" y="1979676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gaming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201168" y="2249424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1636776" y="2249424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256032" y="2249424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691640" y="2249424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remember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201168" y="2519172"/>
            <a:ext cx="1389888" cy="246888"/>
          </a:xfrm>
          <a:prstGeom prst="rect">
            <a:avLst/>
          </a:prstGeom>
          <a:solidFill>
            <a:srgbClr val="EAF1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1636776" y="2519172"/>
            <a:ext cx="1389888" cy="246888"/>
          </a:xfrm>
          <a:prstGeom prst="rect">
            <a:avLst/>
          </a:prstGeom>
          <a:solidFill>
            <a:srgbClr val="FEF9F0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256032" y="2519172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691640" y="2519172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201168" y="2788920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1636776" y="2788920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256032" y="278892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console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691640" y="278892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201168" y="3058668"/>
            <a:ext cx="1389888" cy="246888"/>
          </a:xfrm>
          <a:prstGeom prst="rect">
            <a:avLst/>
          </a:prstGeom>
          <a:solidFill>
            <a:srgbClr val="EAF1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1636776" y="3058668"/>
            <a:ext cx="1389888" cy="246888"/>
          </a:xfrm>
          <a:prstGeom prst="rect">
            <a:avLst/>
          </a:prstGeom>
          <a:solidFill>
            <a:srgbClr val="FEF9F0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256032" y="3058668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streaming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1691640" y="3058668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01168" y="3364992"/>
            <a:ext cx="2852928" cy="420624"/>
          </a:xfrm>
          <a:prstGeom prst="rect">
            <a:avLst/>
          </a:prstGeom>
          <a:solidFill>
            <a:srgbClr val="EDF3FB"/>
          </a:solidFill>
          <a:ln cap="flat" cmpd="sng" w="9525">
            <a:solidFill>
              <a:srgbClr val="1A5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274320" y="3364992"/>
            <a:ext cx="2706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6186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3A6186"/>
                </a:solidFill>
                <a:latin typeface="Calibri"/>
                <a:ea typeface="Calibri"/>
                <a:cs typeface="Calibri"/>
                <a:sym typeface="Calibri"/>
              </a:rPr>
              <a:t>Future-focused gaming enthusiasm shifts to retrospective failure analysis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3182112" y="621792"/>
            <a:ext cx="2852928" cy="25603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3182112" y="621792"/>
            <a:ext cx="2852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Glass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3182112" y="914400"/>
            <a:ext cx="1389888" cy="219456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3182112" y="914400"/>
            <a:ext cx="13898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617720" y="914400"/>
            <a:ext cx="1389888" cy="219456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4617720" y="914400"/>
            <a:ext cx="13898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6A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06A00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3182112" y="1170432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4617720" y="1170432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3236976" y="1170432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google glass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672584" y="1170432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182112" y="1440180"/>
            <a:ext cx="1389888" cy="246888"/>
          </a:xfrm>
          <a:prstGeom prst="rect">
            <a:avLst/>
          </a:prstGeom>
          <a:solidFill>
            <a:srgbClr val="EAF1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4617720" y="1440180"/>
            <a:ext cx="1389888" cy="246888"/>
          </a:xfrm>
          <a:prstGeom prst="rect">
            <a:avLst/>
          </a:prstGeom>
          <a:solidFill>
            <a:srgbClr val="FEF9F0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3236976" y="144018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672584" y="144018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glasses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182112" y="1709928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4617720" y="1709928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3236976" y="1709928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672584" y="1709928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182112" y="1979676"/>
            <a:ext cx="1389888" cy="246888"/>
          </a:xfrm>
          <a:prstGeom prst="rect">
            <a:avLst/>
          </a:prstGeom>
          <a:solidFill>
            <a:srgbClr val="EAF1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4617720" y="1979676"/>
            <a:ext cx="1389888" cy="246888"/>
          </a:xfrm>
          <a:prstGeom prst="rect">
            <a:avLst/>
          </a:prstGeom>
          <a:solidFill>
            <a:srgbClr val="FEF9F0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3236976" y="1979676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glasses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672584" y="1979676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3182112" y="2249424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4617720" y="2249424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3236976" y="2249424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ahead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672584" y="2249424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3182112" y="2519172"/>
            <a:ext cx="1389888" cy="246888"/>
          </a:xfrm>
          <a:prstGeom prst="rect">
            <a:avLst/>
          </a:prstGeom>
          <a:solidFill>
            <a:srgbClr val="EAF1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4617720" y="2519172"/>
            <a:ext cx="1389888" cy="246888"/>
          </a:xfrm>
          <a:prstGeom prst="rect">
            <a:avLst/>
          </a:prstGeom>
          <a:solidFill>
            <a:srgbClr val="FEF9F0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3236976" y="2519172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672584" y="2519172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camera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3182112" y="2788920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4617720" y="2788920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3236976" y="278892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672584" y="278892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remember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3182112" y="3058668"/>
            <a:ext cx="1389888" cy="246888"/>
          </a:xfrm>
          <a:prstGeom prst="rect">
            <a:avLst/>
          </a:prstGeom>
          <a:solidFill>
            <a:srgbClr val="EAF1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4617720" y="3058668"/>
            <a:ext cx="1389888" cy="246888"/>
          </a:xfrm>
          <a:prstGeom prst="rect">
            <a:avLst/>
          </a:prstGeom>
          <a:solidFill>
            <a:srgbClr val="FEF9F0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3236976" y="3058668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672584" y="3058668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privacy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3182112" y="3364992"/>
            <a:ext cx="2852928" cy="420624"/>
          </a:xfrm>
          <a:prstGeom prst="rect">
            <a:avLst/>
          </a:prstGeom>
          <a:solidFill>
            <a:srgbClr val="EDF3FB"/>
          </a:solidFill>
          <a:ln cap="flat" cmpd="sng" w="9525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3255264" y="3364992"/>
            <a:ext cx="2706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6186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3A6186"/>
                </a:solidFill>
                <a:latin typeface="Calibri"/>
                <a:ea typeface="Calibri"/>
                <a:cs typeface="Calibri"/>
                <a:sym typeface="Calibri"/>
              </a:rPr>
              <a:t>Innovation curiosity shifts to Apple Vision Pro comparison and privacy critique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163056" y="621792"/>
            <a:ext cx="2852928" cy="256032"/>
          </a:xfrm>
          <a:prstGeom prst="rect">
            <a:avLst/>
          </a:prstGeom>
          <a:solidFill>
            <a:srgbClr val="3A61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6163056" y="621792"/>
            <a:ext cx="2852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163056" y="914400"/>
            <a:ext cx="1389888" cy="219456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6163056" y="914400"/>
            <a:ext cx="13898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618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A6186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7598664" y="914400"/>
            <a:ext cx="1389888" cy="219456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7598664" y="914400"/>
            <a:ext cx="13898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6A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06A00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6163056" y="1170432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7598664" y="1170432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6217920" y="1170432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youtube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7653528" y="1170432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remember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163056" y="1440180"/>
            <a:ext cx="1389888" cy="246888"/>
          </a:xfrm>
          <a:prstGeom prst="rect">
            <a:avLst/>
          </a:prstGeom>
          <a:solidFill>
            <a:srgbClr val="EAF1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7598664" y="1440180"/>
            <a:ext cx="1389888" cy="246888"/>
          </a:xfrm>
          <a:prstGeom prst="rect">
            <a:avLst/>
          </a:prstGeom>
          <a:solidFill>
            <a:srgbClr val="FEF9F0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6217920" y="144018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facebook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7653528" y="144018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google plus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6163056" y="1709928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7598664" y="1709928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6217920" y="1709928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7653528" y="1709928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6163056" y="1979676"/>
            <a:ext cx="1389888" cy="246888"/>
          </a:xfrm>
          <a:prstGeom prst="rect">
            <a:avLst/>
          </a:prstGeom>
          <a:solidFill>
            <a:srgbClr val="EAF1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7598664" y="1979676"/>
            <a:ext cx="1389888" cy="246888"/>
          </a:xfrm>
          <a:prstGeom prst="rect">
            <a:avLst/>
          </a:prstGeom>
          <a:solidFill>
            <a:srgbClr val="FEF9F0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6217920" y="1979676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7653528" y="1979676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youtube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163056" y="2249424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7598664" y="2249424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6217920" y="2249424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7653528" y="2249424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6163056" y="2519172"/>
            <a:ext cx="1389888" cy="246888"/>
          </a:xfrm>
          <a:prstGeom prst="rect">
            <a:avLst/>
          </a:prstGeom>
          <a:solidFill>
            <a:srgbClr val="EAF1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7598664" y="2519172"/>
            <a:ext cx="1389888" cy="246888"/>
          </a:xfrm>
          <a:prstGeom prst="rect">
            <a:avLst/>
          </a:prstGeom>
          <a:solidFill>
            <a:srgbClr val="FEF9F0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6217920" y="2519172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7653528" y="2519172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6163056" y="2788920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7598664" y="2788920"/>
            <a:ext cx="1389888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6217920" y="278892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awesome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7653528" y="278892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friends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6163056" y="3058668"/>
            <a:ext cx="1389888" cy="246888"/>
          </a:xfrm>
          <a:prstGeom prst="rect">
            <a:avLst/>
          </a:prstGeom>
          <a:solidFill>
            <a:srgbClr val="EAF1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7598664" y="3058668"/>
            <a:ext cx="1389888" cy="246888"/>
          </a:xfrm>
          <a:prstGeom prst="rect">
            <a:avLst/>
          </a:prstGeom>
          <a:solidFill>
            <a:srgbClr val="FEF9F0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6217920" y="3058668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thanks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7653528" y="3058668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nostalgic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6163056" y="3364992"/>
            <a:ext cx="2852928" cy="420624"/>
          </a:xfrm>
          <a:prstGeom prst="rect">
            <a:avLst/>
          </a:prstGeom>
          <a:solidFill>
            <a:srgbClr val="EDF3FB"/>
          </a:solidFill>
          <a:ln cap="flat" cmpd="sng" w="9525">
            <a:solidFill>
              <a:srgbClr val="3A61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6236208" y="3364992"/>
            <a:ext cx="2706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6186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3A6186"/>
                </a:solidFill>
                <a:latin typeface="Calibri"/>
                <a:ea typeface="Calibri"/>
                <a:cs typeface="Calibri"/>
                <a:sym typeface="Calibri"/>
              </a:rPr>
              <a:t>Active platform engagement shifts to nostalgia and social network comparison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CD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CDF"/>
                </a:solidFill>
                <a:latin typeface="Calibri"/>
                <a:ea typeface="Calibri"/>
                <a:cs typeface="Calibri"/>
                <a:sym typeface="Calibri"/>
              </a:rPr>
              <a:t>Keyword Co-occurrence Network  —  Gephi Graph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274320" y="658368"/>
            <a:ext cx="2011680" cy="749808"/>
          </a:xfrm>
          <a:prstGeom prst="rect">
            <a:avLst/>
          </a:prstGeom>
          <a:solidFill>
            <a:srgbClr val="EAF1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274320" y="694944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A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56A0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274320" y="111556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Total Nodes (Keywords)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2468880" y="658368"/>
            <a:ext cx="2011680" cy="749808"/>
          </a:xfrm>
          <a:prstGeom prst="rect">
            <a:avLst/>
          </a:prstGeom>
          <a:solidFill>
            <a:srgbClr val="EAF1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2468880" y="694944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A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56A0"/>
                </a:solidFill>
                <a:latin typeface="Calibri"/>
                <a:ea typeface="Calibri"/>
                <a:cs typeface="Calibri"/>
                <a:sym typeface="Calibri"/>
              </a:rPr>
              <a:t>427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2468880" y="111556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Total Edges (Co-occurrences)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4663440" y="658368"/>
            <a:ext cx="2011680" cy="749808"/>
          </a:xfrm>
          <a:prstGeom prst="rect">
            <a:avLst/>
          </a:prstGeom>
          <a:solidFill>
            <a:srgbClr val="EAF1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4663440" y="694944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A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56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4663440" y="111556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Products Analyzed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6858000" y="658368"/>
            <a:ext cx="2011680" cy="749808"/>
          </a:xfrm>
          <a:prstGeom prst="rect">
            <a:avLst/>
          </a:prstGeom>
          <a:solidFill>
            <a:srgbClr val="EAF1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6858000" y="694944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A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56A0"/>
                </a:solidFill>
                <a:latin typeface="Calibri"/>
                <a:ea typeface="Calibri"/>
                <a:cs typeface="Calibri"/>
                <a:sym typeface="Calibri"/>
              </a:rPr>
              <a:t>4.7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6858000" y="111556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Avg. Node Degree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320040" y="1572768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Most Frequent Co-occurring Keywords by Product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320040" y="1883664"/>
            <a:ext cx="8503920" cy="18288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201168" y="1956816"/>
            <a:ext cx="2852928" cy="237744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201168" y="1956816"/>
            <a:ext cx="2852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Stadia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201168" y="2231136"/>
            <a:ext cx="2852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237744" y="2267712"/>
            <a:ext cx="2418971" cy="146304"/>
          </a:xfrm>
          <a:prstGeom prst="rect">
            <a:avLst/>
          </a:prstGeom>
          <a:solidFill>
            <a:srgbClr val="1A56A0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274320" y="2231136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games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2532888" y="2231136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153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201168" y="2473452"/>
            <a:ext cx="2852928" cy="219456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237744" y="2510028"/>
            <a:ext cx="1723320" cy="146304"/>
          </a:xfrm>
          <a:prstGeom prst="rect">
            <a:avLst/>
          </a:prstGeom>
          <a:solidFill>
            <a:srgbClr val="1A56A0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274320" y="2473452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game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2532888" y="2473452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109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201168" y="2715768"/>
            <a:ext cx="2852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237744" y="2752344"/>
            <a:ext cx="1660078" cy="146304"/>
          </a:xfrm>
          <a:prstGeom prst="rect">
            <a:avLst/>
          </a:prstGeom>
          <a:solidFill>
            <a:srgbClr val="1A56A0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274320" y="2715768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play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2532888" y="2715768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105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201168" y="2958084"/>
            <a:ext cx="2852928" cy="219456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237744" y="2994660"/>
            <a:ext cx="1628458" cy="146304"/>
          </a:xfrm>
          <a:prstGeom prst="rect">
            <a:avLst/>
          </a:prstGeom>
          <a:solidFill>
            <a:srgbClr val="1A56A0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274320" y="2958084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gaming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2532888" y="2958084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103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201168" y="3200400"/>
            <a:ext cx="2852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237744" y="3236976"/>
            <a:ext cx="1565217" cy="146304"/>
          </a:xfrm>
          <a:prstGeom prst="rect">
            <a:avLst/>
          </a:prstGeom>
          <a:solidFill>
            <a:srgbClr val="1A56A0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274320" y="320040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2532888" y="3200400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201168" y="3442716"/>
            <a:ext cx="2852928" cy="219456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237744" y="3479292"/>
            <a:ext cx="948616" cy="146304"/>
          </a:xfrm>
          <a:prstGeom prst="rect">
            <a:avLst/>
          </a:prstGeom>
          <a:solidFill>
            <a:srgbClr val="1A56A0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274320" y="3442716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streaming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2532888" y="3442716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201168" y="3685032"/>
            <a:ext cx="2852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237744" y="3721608"/>
            <a:ext cx="664031" cy="146304"/>
          </a:xfrm>
          <a:prstGeom prst="rect">
            <a:avLst/>
          </a:prstGeom>
          <a:solidFill>
            <a:srgbClr val="1A56A0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274320" y="3685032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2532888" y="3685032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201168" y="3927348"/>
            <a:ext cx="2852928" cy="219456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237744" y="3963924"/>
            <a:ext cx="600790" cy="146304"/>
          </a:xfrm>
          <a:prstGeom prst="rect">
            <a:avLst/>
          </a:prstGeom>
          <a:solidFill>
            <a:srgbClr val="1A56A0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274320" y="3927348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2532888" y="3927348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201168" y="4279392"/>
            <a:ext cx="2852928" cy="658368"/>
          </a:xfrm>
          <a:prstGeom prst="rect">
            <a:avLst/>
          </a:prstGeom>
          <a:solidFill>
            <a:srgbClr val="EAF1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274320" y="4315968"/>
            <a:ext cx="270662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Gaming vocabulary dominated throughout. After shutdown, 'fail', 'service' and 'cloud' grew — criticism focused on the business model rather than game quality.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3182112" y="1956816"/>
            <a:ext cx="2852928" cy="23774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3182112" y="1956816"/>
            <a:ext cx="2852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Glass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3182112" y="2231136"/>
            <a:ext cx="2852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3218688" y="2267712"/>
            <a:ext cx="1565217" cy="146304"/>
          </a:xfrm>
          <a:prstGeom prst="rect">
            <a:avLst/>
          </a:prstGeom>
          <a:solidFill>
            <a:srgbClr val="0E7C7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3255264" y="2231136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5513832" y="2231136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3182112" y="2473452"/>
            <a:ext cx="2852928" cy="219456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3218688" y="2510028"/>
            <a:ext cx="1343873" cy="146304"/>
          </a:xfrm>
          <a:prstGeom prst="rect">
            <a:avLst/>
          </a:prstGeom>
          <a:solidFill>
            <a:srgbClr val="0E7C7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3255264" y="2473452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5513832" y="2473452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85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3182112" y="2715768"/>
            <a:ext cx="2852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3218688" y="2752344"/>
            <a:ext cx="1169960" cy="146304"/>
          </a:xfrm>
          <a:prstGeom prst="rect">
            <a:avLst/>
          </a:prstGeom>
          <a:solidFill>
            <a:srgbClr val="0E7C7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3255264" y="2715768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glasses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5513832" y="2715768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74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3182112" y="2958084"/>
            <a:ext cx="2852928" cy="219456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3218688" y="2994660"/>
            <a:ext cx="964427" cy="146304"/>
          </a:xfrm>
          <a:prstGeom prst="rect">
            <a:avLst/>
          </a:prstGeom>
          <a:solidFill>
            <a:srgbClr val="0E7C7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3255264" y="2958084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5513832" y="2958084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61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3182112" y="3200400"/>
            <a:ext cx="2852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3218688" y="3236976"/>
            <a:ext cx="664031" cy="146304"/>
          </a:xfrm>
          <a:prstGeom prst="rect">
            <a:avLst/>
          </a:prstGeom>
          <a:solidFill>
            <a:srgbClr val="0E7C7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3255264" y="320040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watching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5513832" y="3200400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3182112" y="3442716"/>
            <a:ext cx="2852928" cy="219456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3218688" y="3479292"/>
            <a:ext cx="363636" cy="146304"/>
          </a:xfrm>
          <a:prstGeom prst="rect">
            <a:avLst/>
          </a:prstGeom>
          <a:solidFill>
            <a:srgbClr val="0E7C7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3255264" y="3442716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looks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5513832" y="3442716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3182112" y="3685032"/>
            <a:ext cx="2852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3218688" y="3721608"/>
            <a:ext cx="347826" cy="146304"/>
          </a:xfrm>
          <a:prstGeom prst="rect">
            <a:avLst/>
          </a:prstGeom>
          <a:solidFill>
            <a:srgbClr val="0E7C7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3255264" y="3685032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wait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5513832" y="3685032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3182112" y="3927348"/>
            <a:ext cx="2852928" cy="219456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3218688" y="3963924"/>
            <a:ext cx="316205" cy="146304"/>
          </a:xfrm>
          <a:prstGeom prst="rect">
            <a:avLst/>
          </a:prstGeom>
          <a:solidFill>
            <a:srgbClr val="0E7C7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3255264" y="3927348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privacy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5513832" y="3927348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3182112" y="4279392"/>
            <a:ext cx="2852928" cy="658368"/>
          </a:xfrm>
          <a:prstGeom prst="rect">
            <a:avLst/>
          </a:prstGeom>
          <a:solidFill>
            <a:srgbClr val="EAF1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3255264" y="4315968"/>
            <a:ext cx="270662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'Apple' is the top co-occurring node — Glass's legacy is now framed through comparison with Apple Vision Pro. Privacy concerns persist as a recurring theme.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6163056" y="1956816"/>
            <a:ext cx="2852928" cy="237744"/>
          </a:xfrm>
          <a:prstGeom prst="rect">
            <a:avLst/>
          </a:prstGeom>
          <a:solidFill>
            <a:srgbClr val="3A61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6163056" y="1956816"/>
            <a:ext cx="2852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6163056" y="2231136"/>
            <a:ext cx="2852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6199632" y="2267712"/>
            <a:ext cx="1802371" cy="146304"/>
          </a:xfrm>
          <a:prstGeom prst="rect">
            <a:avLst/>
          </a:prstGeom>
          <a:solidFill>
            <a:srgbClr val="3A6186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6236208" y="2231136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youtube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8494776" y="2231136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114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6163056" y="2473452"/>
            <a:ext cx="2852928" cy="219456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6199632" y="2510028"/>
            <a:ext cx="1628458" cy="146304"/>
          </a:xfrm>
          <a:prstGeom prst="rect">
            <a:avLst/>
          </a:prstGeom>
          <a:solidFill>
            <a:srgbClr val="3A6186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6236208" y="2473452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8494776" y="2473452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103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6163056" y="2715768"/>
            <a:ext cx="2852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6199632" y="2752344"/>
            <a:ext cx="1075098" cy="146304"/>
          </a:xfrm>
          <a:prstGeom prst="rect">
            <a:avLst/>
          </a:prstGeom>
          <a:solidFill>
            <a:srgbClr val="3A6186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6236208" y="2715768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facebook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8494776" y="2715768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68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6163056" y="2958084"/>
            <a:ext cx="2852928" cy="219456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6199632" y="2994660"/>
            <a:ext cx="806324" cy="146304"/>
          </a:xfrm>
          <a:prstGeom prst="rect">
            <a:avLst/>
          </a:prstGeom>
          <a:solidFill>
            <a:srgbClr val="3A6186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9"/>
          <p:cNvSpPr/>
          <p:nvPr/>
        </p:nvSpPr>
        <p:spPr>
          <a:xfrm>
            <a:off x="6236208" y="2958084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8494776" y="2958084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6163056" y="3200400"/>
            <a:ext cx="2852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6199632" y="3236976"/>
            <a:ext cx="790514" cy="146304"/>
          </a:xfrm>
          <a:prstGeom prst="rect">
            <a:avLst/>
          </a:prstGeom>
          <a:solidFill>
            <a:srgbClr val="3A6186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6236208" y="320040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friends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8494776" y="3200400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6163056" y="3442716"/>
            <a:ext cx="2852928" cy="219456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6199632" y="3479292"/>
            <a:ext cx="774703" cy="146304"/>
          </a:xfrm>
          <a:prstGeom prst="rect">
            <a:avLst/>
          </a:prstGeom>
          <a:solidFill>
            <a:srgbClr val="3A6186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6236208" y="3442716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social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8494776" y="3442716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6163056" y="3685032"/>
            <a:ext cx="2852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6199632" y="3721608"/>
            <a:ext cx="664031" cy="146304"/>
          </a:xfrm>
          <a:prstGeom prst="rect">
            <a:avLst/>
          </a:prstGeom>
          <a:solidFill>
            <a:srgbClr val="3A6186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6236208" y="3685032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8494776" y="3685032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6163056" y="3927348"/>
            <a:ext cx="2852928" cy="219456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9"/>
          <p:cNvSpPr/>
          <p:nvPr/>
        </p:nvSpPr>
        <p:spPr>
          <a:xfrm>
            <a:off x="6199632" y="3963924"/>
            <a:ext cx="648221" cy="146304"/>
          </a:xfrm>
          <a:prstGeom prst="rect">
            <a:avLst/>
          </a:prstGeom>
          <a:solidFill>
            <a:srgbClr val="3A6186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9"/>
          <p:cNvSpPr/>
          <p:nvPr/>
        </p:nvSpPr>
        <p:spPr>
          <a:xfrm>
            <a:off x="6236208" y="3927348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8494776" y="3927348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6163056" y="4279392"/>
            <a:ext cx="2852928" cy="658368"/>
          </a:xfrm>
          <a:prstGeom prst="rect">
            <a:avLst/>
          </a:prstGeom>
          <a:solidFill>
            <a:srgbClr val="EAF1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6236208" y="4315968"/>
            <a:ext cx="270662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Social platform terms dominate. 'Miss' and 'used' signal post-shutdown nostalgia — a contrast to the 'love' and 'awesome' active engagement terms seen before shutdown.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CD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CDF"/>
                </a:solidFill>
                <a:latin typeface="Calibri"/>
                <a:ea typeface="Calibri"/>
                <a:cs typeface="Calibri"/>
                <a:sym typeface="Calibri"/>
              </a:rPr>
              <a:t>Aspect-Based Sentiment Analysis  —  Gemini LLM  —  answers RQ3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0" name="Google Shape;4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658368"/>
            <a:ext cx="5303520" cy="352044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0"/>
          <p:cNvSpPr/>
          <p:nvPr/>
        </p:nvSpPr>
        <p:spPr>
          <a:xfrm>
            <a:off x="5760720" y="65836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Aspect Breakdown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5760720" y="950976"/>
            <a:ext cx="3108960" cy="18288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03" name="Google Shape;403;p10"/>
          <p:cNvGraphicFramePr/>
          <p:nvPr/>
        </p:nvGraphicFramePr>
        <p:xfrm>
          <a:off x="5760720" y="1024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{654B1F44-B3CE-47E8-B0A0-5B6C665E30DF}</a:tableStyleId>
              </a:tblPr>
              <a:tblGrid>
                <a:gridCol w="1645925"/>
                <a:gridCol w="731525"/>
                <a:gridCol w="73152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Aspect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Neg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Pos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7E45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00000"/>
                          </a:solidFill>
                        </a:rPr>
                        <a:t>Stadia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Product Quality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16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11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Market Demand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14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3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Adoption Ability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11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7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00000"/>
                          </a:solidFill>
                        </a:rPr>
                        <a:t>Glass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Product Quality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14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9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Market Demand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10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5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Timing/Innovation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4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8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00000"/>
                          </a:solidFill>
                        </a:rPr>
                        <a:t>Google+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Product Quality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47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16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Market Demand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14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5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Adoption Ability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13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6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4" name="Google Shape;404;p10"/>
          <p:cNvSpPr/>
          <p:nvPr/>
        </p:nvSpPr>
        <p:spPr>
          <a:xfrm>
            <a:off x="274320" y="4242816"/>
            <a:ext cx="8577072" cy="676656"/>
          </a:xfrm>
          <a:prstGeom prst="rect">
            <a:avLst/>
          </a:prstGeom>
          <a:solidFill>
            <a:srgbClr val="F0F5FB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420624" y="427939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Insight: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420624" y="4480560"/>
            <a:ext cx="8321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Google+ had by far the highest volume of Product Quality negativity (47 neg vs. 16 pos), suggesting fundamental platform dissatisfaction. Google Glass's Timing/Innovation aspect skewed positive (4 neg vs. 8 pos) — the concept was appreciated even as execution fell short. Stadia's Market Demand was nearly all negative (14 neg vs. 3 pos), confirming low consumer appetite for cloud gaming at launch.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CD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CDF"/>
                </a:solidFill>
                <a:latin typeface="Calibri"/>
                <a:ea typeface="Calibri"/>
                <a:cs typeface="Calibri"/>
                <a:sym typeface="Calibri"/>
              </a:rPr>
              <a:t>Findings &amp; Recommendations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274320" y="65836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Findings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274320" y="969264"/>
            <a:ext cx="4160520" cy="18288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1"/>
          <p:cNvSpPr/>
          <p:nvPr/>
        </p:nvSpPr>
        <p:spPr>
          <a:xfrm>
            <a:off x="274320" y="1042416"/>
            <a:ext cx="416052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1"/>
          <p:cNvSpPr/>
          <p:nvPr/>
        </p:nvSpPr>
        <p:spPr>
          <a:xfrm>
            <a:off x="274320" y="1042416"/>
            <a:ext cx="420624" cy="219456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274320" y="1042416"/>
            <a:ext cx="4206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731520" y="1042416"/>
            <a:ext cx="475488" cy="219456"/>
          </a:xfrm>
          <a:prstGeom prst="rect">
            <a:avLst/>
          </a:prstGeom>
          <a:solidFill>
            <a:srgbClr val="3A61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731520" y="1042416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1261872" y="1078992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 three products showed a decline in mean polarity after shutdown. Glass and Google+ were statistically significant (p &lt; 0.01); Stadia was not.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274320" y="1746504"/>
            <a:ext cx="416052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274320" y="1746504"/>
            <a:ext cx="420624" cy="219456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274320" y="1746504"/>
            <a:ext cx="4206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731520" y="1746504"/>
            <a:ext cx="475488" cy="219456"/>
          </a:xfrm>
          <a:prstGeom prst="rect">
            <a:avLst/>
          </a:prstGeom>
          <a:solidFill>
            <a:srgbClr val="3A61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731520" y="1746504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1261872" y="178308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Stadia's non-significant result reflects pre-existing lukewarm sentiment — the shutdown did not dramatically alter how users felt.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274320" y="2450592"/>
            <a:ext cx="416052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274320" y="2450592"/>
            <a:ext cx="420624" cy="219456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274320" y="2450592"/>
            <a:ext cx="4206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731520" y="2450592"/>
            <a:ext cx="475488" cy="219456"/>
          </a:xfrm>
          <a:prstGeom prst="rect">
            <a:avLst/>
          </a:prstGeom>
          <a:solidFill>
            <a:srgbClr val="3A61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731520" y="2450592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1261872" y="2487168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TF-IDF confirmed a consistent vocabulary shift from future-oriented terms to retrospective ones, validating H2 across all three products.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274320" y="3154680"/>
            <a:ext cx="416052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1"/>
          <p:cNvSpPr/>
          <p:nvPr/>
        </p:nvSpPr>
        <p:spPr>
          <a:xfrm>
            <a:off x="274320" y="3154680"/>
            <a:ext cx="420624" cy="219456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274320" y="3154680"/>
            <a:ext cx="4206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731520" y="3154680"/>
            <a:ext cx="475488" cy="219456"/>
          </a:xfrm>
          <a:prstGeom prst="rect">
            <a:avLst/>
          </a:prstGeom>
          <a:solidFill>
            <a:srgbClr val="3A61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731520" y="3154680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1261872" y="3191256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ABSA showed Product Quality and Market Demand as universally criticised aspects. Timing/Innovation was uniquely positive for Glass.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274320" y="3858768"/>
            <a:ext cx="416052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1"/>
          <p:cNvSpPr/>
          <p:nvPr/>
        </p:nvSpPr>
        <p:spPr>
          <a:xfrm>
            <a:off x="274320" y="3858768"/>
            <a:ext cx="420624" cy="219456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274320" y="3858768"/>
            <a:ext cx="4206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731520" y="3858768"/>
            <a:ext cx="475488" cy="219456"/>
          </a:xfrm>
          <a:prstGeom prst="rect">
            <a:avLst/>
          </a:prstGeom>
          <a:solidFill>
            <a:srgbClr val="3A61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731520" y="3858768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1261872" y="3895344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Co-occurrence networks show Glass permanently reframed around Apple Vision Pro, while Google+ is remembered through its social community.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4663440" y="658368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4663440" y="969264"/>
            <a:ext cx="4251960" cy="18288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4663440" y="1042416"/>
            <a:ext cx="425196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1"/>
          <p:cNvSpPr/>
          <p:nvPr/>
        </p:nvSpPr>
        <p:spPr>
          <a:xfrm>
            <a:off x="4663440" y="1042416"/>
            <a:ext cx="420624" cy="21945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1"/>
          <p:cNvSpPr/>
          <p:nvPr/>
        </p:nvSpPr>
        <p:spPr>
          <a:xfrm>
            <a:off x="4663440" y="1042416"/>
            <a:ext cx="4206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5138928" y="106070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based on F1+F2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5138928" y="1243584"/>
            <a:ext cx="37124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Track sentiment early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5138928" y="1463040"/>
            <a:ext cx="37124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Monitor YouTube comment polarity at launch. Persistently muted or declining sentiment (as with Stadia) signals low resilience to shutdown announcements.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4663440" y="1975104"/>
            <a:ext cx="425196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1"/>
          <p:cNvSpPr/>
          <p:nvPr/>
        </p:nvSpPr>
        <p:spPr>
          <a:xfrm>
            <a:off x="4663440" y="1975104"/>
            <a:ext cx="420624" cy="21945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4663440" y="1975104"/>
            <a:ext cx="4206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5138928" y="199339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based on F4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5138928" y="2176272"/>
            <a:ext cx="37124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Timing readiness matters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5138928" y="2395728"/>
            <a:ext cx="37124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Glass's positive Timing/Innovation scores show the public appreciated the concept. Time future launches to ecosystem readiness — not just internal readiness.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4663440" y="2907792"/>
            <a:ext cx="425196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1"/>
          <p:cNvSpPr/>
          <p:nvPr/>
        </p:nvSpPr>
        <p:spPr>
          <a:xfrm>
            <a:off x="4663440" y="2907792"/>
            <a:ext cx="420624" cy="21945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1"/>
          <p:cNvSpPr/>
          <p:nvPr/>
        </p:nvSpPr>
        <p:spPr>
          <a:xfrm>
            <a:off x="4663440" y="2907792"/>
            <a:ext cx="4206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5138928" y="292608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based on F5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5138928" y="3108960"/>
            <a:ext cx="37124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Preserve community on exit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5138928" y="3328416"/>
            <a:ext cx="37124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Google+'s nostalgia signals a community that valued connection. Products with strong social identity need transition planning, not abrupt shutdowns.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4663440" y="3840480"/>
            <a:ext cx="425196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1"/>
          <p:cNvSpPr/>
          <p:nvPr/>
        </p:nvSpPr>
        <p:spPr>
          <a:xfrm>
            <a:off x="4663440" y="3840480"/>
            <a:ext cx="420624" cy="21945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1"/>
          <p:cNvSpPr/>
          <p:nvPr/>
        </p:nvSpPr>
        <p:spPr>
          <a:xfrm>
            <a:off x="4663440" y="3840480"/>
            <a:ext cx="4206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5138928" y="385876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3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6B7F93"/>
                </a:solidFill>
                <a:latin typeface="Calibri"/>
                <a:ea typeface="Calibri"/>
                <a:cs typeface="Calibri"/>
                <a:sym typeface="Calibri"/>
              </a:rPr>
              <a:t>based on F3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5138928" y="4041648"/>
            <a:ext cx="37124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Shape the post-shutdown story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5138928" y="4261104"/>
            <a:ext cx="37124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Vocabulary shifts show organic post-shutdown narratives form quickly. Proactive communication can prevent 'fail' and 'mistake' from dominating the discourse.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F3C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411480" y="25603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C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C3B8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411480" y="603504"/>
            <a:ext cx="8321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YouTube Comments Reveal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About Product Discontinuation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411480" y="2048256"/>
            <a:ext cx="5303520" cy="18288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2"/>
          <p:cNvSpPr/>
          <p:nvPr/>
        </p:nvSpPr>
        <p:spPr>
          <a:xfrm>
            <a:off x="411480" y="2157984"/>
            <a:ext cx="201168" cy="20116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2"/>
          <p:cNvSpPr/>
          <p:nvPr/>
        </p:nvSpPr>
        <p:spPr>
          <a:xfrm>
            <a:off x="694944" y="2139696"/>
            <a:ext cx="8046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8DF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FF0"/>
                </a:solidFill>
                <a:latin typeface="Calibri"/>
                <a:ea typeface="Calibri"/>
                <a:cs typeface="Calibri"/>
                <a:sym typeface="Calibri"/>
              </a:rPr>
              <a:t>Sentiment analysis confirmed H1 for two of three products — the shift is real and measurable, not anecdotal.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411480" y="2871216"/>
            <a:ext cx="201168" cy="20116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694944" y="2852928"/>
            <a:ext cx="8046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8DF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FF0"/>
                </a:solidFill>
                <a:latin typeface="Calibri"/>
                <a:ea typeface="Calibri"/>
                <a:cs typeface="Calibri"/>
                <a:sym typeface="Calibri"/>
              </a:rPr>
              <a:t>TF-IDF and network analysis show that product legacies live on through competitive comparisons and community nostalgia, each product developing its own post-shutdown vocabulary.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411480" y="3584448"/>
            <a:ext cx="201168" cy="20116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2"/>
          <p:cNvSpPr/>
          <p:nvPr/>
        </p:nvSpPr>
        <p:spPr>
          <a:xfrm>
            <a:off x="694944" y="3566160"/>
            <a:ext cx="8046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8DF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FF0"/>
                </a:solidFill>
                <a:latin typeface="Calibri"/>
                <a:ea typeface="Calibri"/>
                <a:cs typeface="Calibri"/>
                <a:sym typeface="Calibri"/>
              </a:rPr>
              <a:t>ABSA with Gemini LLM reveals that Product Quality and Market Demand are the most criticised aspects — issues detectable through web analytics before any shutdown decision.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411480" y="4727448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89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7898"/>
                </a:solidFill>
                <a:latin typeface="Calibri"/>
                <a:ea typeface="Calibri"/>
                <a:cs typeface="Calibri"/>
                <a:sym typeface="Calibri"/>
              </a:rPr>
              <a:t>Group 2  ·  Web Analytics  ·  Fordham University  ·  Spring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