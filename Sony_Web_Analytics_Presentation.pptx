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5143500" cy="9144000"/>
  <p:embeddedFontLst>
    <p:embeddedFont>
      <p:font typeface="Inter"/>
      <p:bold r:id="rId21"/>
      <p:boldItalic r:id="rId22"/>
    </p:embeddedFont>
    <p:embeddedFont>
      <p:font typeface="Quattrocento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Inter-boldItalic.fntdata"/><Relationship Id="rId21" Type="http://schemas.openxmlformats.org/officeDocument/2006/relationships/font" Target="fonts/Inter-bold.fntdata"/><Relationship Id="rId24" Type="http://schemas.openxmlformats.org/officeDocument/2006/relationships/font" Target="fonts/QuattrocentoSans-bold.fntdata"/><Relationship Id="rId23"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QuattrocentoSans-boldItalic.fntdata"/><Relationship Id="rId25" Type="http://schemas.openxmlformats.org/officeDocument/2006/relationships/font" Target="fonts/Quattrocento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9e3fca9f0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9e3fca9f0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Honglin</a:t>
            </a:r>
            <a:endParaRPr/>
          </a:p>
        </p:txBody>
      </p:sp>
      <p:sp>
        <p:nvSpPr>
          <p:cNvPr id="122" name="Google Shape;122;g3d9e3fca9f0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d9e3fca9f0_0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d9e3fca9f0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Honglin</a:t>
            </a:r>
            <a:endParaRPr/>
          </a:p>
        </p:txBody>
      </p:sp>
      <p:sp>
        <p:nvSpPr>
          <p:cNvPr id="161" name="Google Shape;161;g3d9e3fca9f0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4" name="Google Shape;29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9e642ad66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1" name="Google Shape;341;g3d9e642ad66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2" name="Google Shape;342;g3d9e642ad66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9e642ad66_1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9e642ad66_1_1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9e642ad66_1_1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9c39524ff_2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d9c39524ff_2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d9c39524ff_2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d9cb5f07a5_1_80: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3d9cb5f07a5_1_80: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when reflecting on the results of our sentiment analysis, we learned that sentiment analysis can provide </a:t>
            </a:r>
            <a:r>
              <a:rPr lang="en-US"/>
              <a:t>meaningful</a:t>
            </a:r>
            <a:r>
              <a:rPr lang="en-US"/>
              <a:t> insights into the consumer experience of specific products, however sentiment analysis can not be the sole basis of strategic product decisions, as in our cases, it does not address additional factors that drive decisions made by businesses like sony. it ignores sales performance, market demand, and how a </a:t>
            </a:r>
            <a:r>
              <a:rPr lang="en-US"/>
              <a:t>product</a:t>
            </a:r>
            <a:r>
              <a:rPr lang="en-US"/>
              <a:t> matches up to competing products. In the case of VAIO, our analysis results recommend maintaining the product line, but this is due to a lack of consideration of VAIO sales performance, Sony small market share in the PC market, as well as PCs experiencing a decline in demand around the time Sony stopped selling the product. additionally, our results show that sentiment analysis has an inability to identify certain nuances in user reviews, leading to incorrect sentiment identification, that skew results, and also an inability to distinguish between user reviews and general product information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d9cb5f07a5_1_269: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d9cb5f07a5_1_269: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d9cb5f07a5_1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65" name="Google Shape;465;g3d9cb5f07a5_1_33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g3d9cb5f07a5_1_33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d9cb5f07a5_1_338:notes"/>
          <p:cNvSpPr/>
          <p:nvPr>
            <p:ph idx="2" type="sldImg"/>
          </p:nvPr>
        </p:nvSpPr>
        <p:spPr>
          <a:xfrm>
            <a:off x="285975"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d9cb5f07a5_1_338:notes"/>
          <p:cNvSpPr txBox="1"/>
          <p:nvPr>
            <p:ph idx="1" type="body"/>
          </p:nvPr>
        </p:nvSpPr>
        <p:spPr>
          <a:xfrm>
            <a:off x="514350" y="4343400"/>
            <a:ext cx="41148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4" name="Google Shape;50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 name="Google Shape;17;p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8" name="Google Shape;18;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1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0" name="Google Shape;4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4" name="Google Shape;44;p1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1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1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1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 name="Google Shape;52;p1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3" name="Google Shape;13;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14" name="Google Shape;14;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44"/>
        </a:solidFill>
      </p:bgPr>
    </p:bg>
    <p:spTree>
      <p:nvGrpSpPr>
        <p:cNvPr id="60" name="Shape 60"/>
        <p:cNvGrpSpPr/>
        <p:nvPr/>
      </p:nvGrpSpPr>
      <p:grpSpPr>
        <a:xfrm>
          <a:off x="0" y="0"/>
          <a:ext cx="0" cy="0"/>
          <a:chOff x="0" y="0"/>
          <a:chExt cx="0" cy="0"/>
        </a:xfrm>
      </p:grpSpPr>
      <p:sp>
        <p:nvSpPr>
          <p:cNvPr id="61" name="Google Shape;61;p15"/>
          <p:cNvSpPr/>
          <p:nvPr/>
        </p:nvSpPr>
        <p:spPr>
          <a:xfrm>
            <a:off x="-518895" y="3611870"/>
            <a:ext cx="3657600" cy="2286000"/>
          </a:xfrm>
          <a:prstGeom prst="rect">
            <a:avLst/>
          </a:prstGeom>
          <a:solidFill>
            <a:srgbClr val="00A896">
              <a:alpha val="14901"/>
            </a:srgbClr>
          </a:solidFill>
          <a:ln cap="flat" cmpd="sng" w="12700">
            <a:solidFill>
              <a:srgbClr val="00A896">
                <a:alpha val="1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5"/>
          <p:cNvSpPr/>
          <p:nvPr/>
        </p:nvSpPr>
        <p:spPr>
          <a:xfrm>
            <a:off x="7132320" y="-457200"/>
            <a:ext cx="2743200" cy="2743200"/>
          </a:xfrm>
          <a:prstGeom prst="ellipse">
            <a:avLst/>
          </a:prstGeom>
          <a:solidFill>
            <a:srgbClr val="02C39A">
              <a:alpha val="12156"/>
            </a:srgbClr>
          </a:solidFill>
          <a:ln cap="flat" cmpd="sng" w="12700">
            <a:solidFill>
              <a:srgbClr val="02C39A">
                <a:alpha val="1215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5"/>
          <p:cNvSpPr/>
          <p:nvPr/>
        </p:nvSpPr>
        <p:spPr>
          <a:xfrm>
            <a:off x="0" y="4663440"/>
            <a:ext cx="9144000" cy="48006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5"/>
          <p:cNvSpPr/>
          <p:nvPr/>
        </p:nvSpPr>
        <p:spPr>
          <a:xfrm>
            <a:off x="640080" y="640080"/>
            <a:ext cx="7863840" cy="201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Consumer Sentiment</a:t>
            </a:r>
            <a:endParaRPr b="0" i="0" sz="36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Analytics Dashboard</a:t>
            </a:r>
            <a:endParaRPr b="0" i="0" sz="3600" u="none" cap="none" strike="noStrike">
              <a:solidFill>
                <a:schemeClr val="dk1"/>
              </a:solidFill>
              <a:latin typeface="Calibri"/>
              <a:ea typeface="Calibri"/>
              <a:cs typeface="Calibri"/>
              <a:sym typeface="Calibri"/>
            </a:endParaRPr>
          </a:p>
        </p:txBody>
      </p:sp>
      <p:sp>
        <p:nvSpPr>
          <p:cNvPr id="65" name="Google Shape;65;p15"/>
          <p:cNvSpPr/>
          <p:nvPr/>
        </p:nvSpPr>
        <p:spPr>
          <a:xfrm>
            <a:off x="640080" y="2651760"/>
            <a:ext cx="786384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2C39A"/>
              </a:buClr>
              <a:buSzPts val="1600"/>
              <a:buFont typeface="Calibri"/>
              <a:buNone/>
            </a:pPr>
            <a:r>
              <a:rPr b="0" i="1" lang="en-US" sz="1600" u="none" cap="none" strike="noStrike">
                <a:solidFill>
                  <a:srgbClr val="02C39A"/>
                </a:solidFill>
                <a:latin typeface="Calibri"/>
                <a:ea typeface="Calibri"/>
                <a:cs typeface="Calibri"/>
                <a:sym typeface="Calibri"/>
              </a:rPr>
              <a:t>Data-Driven Product Portfolio Decision Support</a:t>
            </a:r>
            <a:endParaRPr b="0" i="0" sz="1600" u="none" cap="none" strike="noStrike">
              <a:solidFill>
                <a:schemeClr val="dk1"/>
              </a:solidFill>
              <a:latin typeface="Calibri"/>
              <a:ea typeface="Calibri"/>
              <a:cs typeface="Calibri"/>
              <a:sym typeface="Calibri"/>
            </a:endParaRPr>
          </a:p>
        </p:txBody>
      </p:sp>
      <p:sp>
        <p:nvSpPr>
          <p:cNvPr id="66" name="Google Shape;66;p15"/>
          <p:cNvSpPr/>
          <p:nvPr/>
        </p:nvSpPr>
        <p:spPr>
          <a:xfrm>
            <a:off x="640080" y="3246120"/>
            <a:ext cx="78638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Sony VAIO  •  Sony PlayMemories Online  •  Sony PlayStation Vue</a:t>
            </a:r>
            <a:endParaRPr b="0" i="0" sz="1200" u="none" cap="none" strike="noStrike">
              <a:solidFill>
                <a:schemeClr val="dk1"/>
              </a:solidFill>
              <a:latin typeface="Calibri"/>
              <a:ea typeface="Calibri"/>
              <a:cs typeface="Calibri"/>
              <a:sym typeface="Calibri"/>
            </a:endParaRPr>
          </a:p>
        </p:txBody>
      </p:sp>
      <p:sp>
        <p:nvSpPr>
          <p:cNvPr id="67" name="Google Shape;67;p15"/>
          <p:cNvSpPr/>
          <p:nvPr/>
        </p:nvSpPr>
        <p:spPr>
          <a:xfrm>
            <a:off x="182880" y="4709160"/>
            <a:ext cx="8778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Group 2  |  Web Analytics  |  Fordham University  |  Spring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72" name="Shape 72"/>
        <p:cNvGrpSpPr/>
        <p:nvPr/>
      </p:nvGrpSpPr>
      <p:grpSpPr>
        <a:xfrm>
          <a:off x="0" y="0"/>
          <a:ext cx="0" cy="0"/>
          <a:chOff x="0" y="0"/>
          <a:chExt cx="0" cy="0"/>
        </a:xfrm>
      </p:grpSpPr>
      <p:sp>
        <p:nvSpPr>
          <p:cNvPr id="73" name="Google Shape;73;p16"/>
          <p:cNvSpPr/>
          <p:nvPr/>
        </p:nvSpPr>
        <p:spPr>
          <a:xfrm>
            <a:off x="0" y="0"/>
            <a:ext cx="9144000" cy="658368"/>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6"/>
          <p:cNvSpPr/>
          <p:nvPr/>
        </p:nvSpPr>
        <p:spPr>
          <a:xfrm>
            <a:off x="365760" y="73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1</a:t>
            </a:r>
            <a:endParaRPr b="0" i="0" sz="800" u="none" cap="none" strike="noStrike">
              <a:solidFill>
                <a:schemeClr val="dk1"/>
              </a:solidFill>
              <a:latin typeface="Calibri"/>
              <a:ea typeface="Calibri"/>
              <a:cs typeface="Calibri"/>
              <a:sym typeface="Calibri"/>
            </a:endParaRPr>
          </a:p>
        </p:txBody>
      </p:sp>
      <p:sp>
        <p:nvSpPr>
          <p:cNvPr id="75" name="Google Shape;75;p16"/>
          <p:cNvSpPr/>
          <p:nvPr/>
        </p:nvSpPr>
        <p:spPr>
          <a:xfrm>
            <a:off x="365760" y="274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Project Overview</a:t>
            </a:r>
            <a:endParaRPr b="0" i="0" sz="1800" u="none" cap="none" strike="noStrike">
              <a:solidFill>
                <a:schemeClr val="dk1"/>
              </a:solidFill>
              <a:latin typeface="Calibri"/>
              <a:ea typeface="Calibri"/>
              <a:cs typeface="Calibri"/>
              <a:sym typeface="Calibri"/>
            </a:endParaRPr>
          </a:p>
        </p:txBody>
      </p:sp>
      <p:sp>
        <p:nvSpPr>
          <p:cNvPr id="76" name="Google Shape;76;p16"/>
          <p:cNvSpPr/>
          <p:nvPr/>
        </p:nvSpPr>
        <p:spPr>
          <a:xfrm>
            <a:off x="8732520" y="164592"/>
            <a:ext cx="320040" cy="32004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6"/>
          <p:cNvSpPr/>
          <p:nvPr/>
        </p:nvSpPr>
        <p:spPr>
          <a:xfrm>
            <a:off x="365760" y="777240"/>
            <a:ext cx="8412480" cy="658368"/>
          </a:xfrm>
          <a:prstGeom prst="rect">
            <a:avLst/>
          </a:prstGeom>
          <a:solidFill>
            <a:srgbClr val="EBF8F5"/>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6"/>
          <p:cNvSpPr/>
          <p:nvPr/>
        </p:nvSpPr>
        <p:spPr>
          <a:xfrm>
            <a:off x="502920" y="822960"/>
            <a:ext cx="813816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100"/>
              <a:buFont typeface="Calibri"/>
              <a:buNone/>
            </a:pPr>
            <a:r>
              <a:rPr b="0" i="0" lang="en-US" sz="1200" u="none" cap="none" strike="noStrike">
                <a:solidFill>
                  <a:srgbClr val="0F2044"/>
                </a:solidFill>
                <a:latin typeface="Calibri"/>
                <a:ea typeface="Calibri"/>
                <a:cs typeface="Calibri"/>
                <a:sym typeface="Calibri"/>
              </a:rPr>
              <a:t>Objective: Use sentiment analysis to </a:t>
            </a:r>
            <a:r>
              <a:rPr lang="en-US" sz="1200">
                <a:solidFill>
                  <a:srgbClr val="0F2044"/>
                </a:solidFill>
                <a:latin typeface="Calibri"/>
                <a:ea typeface="Calibri"/>
                <a:cs typeface="Calibri"/>
                <a:sym typeface="Calibri"/>
              </a:rPr>
              <a:t>identify the reasoning behind Sony’s decisions to discontinue Sony VAIO, Sony PlayMemories Online, and Sony PlayStation Vue. The results of the project should demonstrate how </a:t>
            </a:r>
            <a:r>
              <a:rPr lang="en-US" sz="1200">
                <a:solidFill>
                  <a:srgbClr val="1F2328"/>
                </a:solidFill>
                <a:latin typeface="Calibri"/>
                <a:ea typeface="Calibri"/>
                <a:cs typeface="Calibri"/>
                <a:sym typeface="Calibri"/>
              </a:rPr>
              <a:t>an integrated analytics system can support strategic product decisions</a:t>
            </a:r>
            <a:r>
              <a:rPr lang="en-US" sz="1200">
                <a:solidFill>
                  <a:srgbClr val="1F2328"/>
                </a:solidFill>
                <a:latin typeface="Calibri"/>
                <a:ea typeface="Calibri"/>
                <a:cs typeface="Calibri"/>
                <a:sym typeface="Calibri"/>
              </a:rPr>
              <a:t> by analyzing consumer feedback into actionable insights. </a:t>
            </a:r>
            <a:endParaRPr i="0" sz="1200" u="none" cap="none" strike="noStrike">
              <a:solidFill>
                <a:schemeClr val="dk1"/>
              </a:solidFill>
              <a:latin typeface="Calibri"/>
              <a:ea typeface="Calibri"/>
              <a:cs typeface="Calibri"/>
              <a:sym typeface="Calibri"/>
            </a:endParaRPr>
          </a:p>
        </p:txBody>
      </p:sp>
      <p:sp>
        <p:nvSpPr>
          <p:cNvPr id="79" name="Google Shape;79;p16"/>
          <p:cNvSpPr/>
          <p:nvPr/>
        </p:nvSpPr>
        <p:spPr>
          <a:xfrm>
            <a:off x="365760" y="1572768"/>
            <a:ext cx="192024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6"/>
          <p:cNvSpPr/>
          <p:nvPr/>
        </p:nvSpPr>
        <p:spPr>
          <a:xfrm>
            <a:off x="365760" y="1572768"/>
            <a:ext cx="54864" cy="13716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6"/>
          <p:cNvSpPr/>
          <p:nvPr/>
        </p:nvSpPr>
        <p:spPr>
          <a:xfrm>
            <a:off x="502920" y="1664208"/>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82" name="Google Shape;82;p16"/>
          <p:cNvSpPr/>
          <p:nvPr/>
        </p:nvSpPr>
        <p:spPr>
          <a:xfrm>
            <a:off x="502920" y="1984248"/>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Web Scraping</a:t>
            </a:r>
            <a:endParaRPr b="0" i="0" sz="1200" u="none" cap="none" strike="noStrike">
              <a:solidFill>
                <a:schemeClr val="dk1"/>
              </a:solidFill>
              <a:latin typeface="Calibri"/>
              <a:ea typeface="Calibri"/>
              <a:cs typeface="Calibri"/>
              <a:sym typeface="Calibri"/>
            </a:endParaRPr>
          </a:p>
        </p:txBody>
      </p:sp>
      <p:sp>
        <p:nvSpPr>
          <p:cNvPr id="83" name="Google Shape;83;p16"/>
          <p:cNvSpPr/>
          <p:nvPr/>
        </p:nvSpPr>
        <p:spPr>
          <a:xfrm>
            <a:off x="502920" y="2276856"/>
            <a:ext cx="169164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BeautifulSoup + Playwright scraping across 10+ sources for 3 Sony products</a:t>
            </a:r>
            <a:endParaRPr b="0" i="0" sz="1000" u="none" cap="none" strike="noStrike">
              <a:solidFill>
                <a:schemeClr val="dk1"/>
              </a:solidFill>
              <a:latin typeface="Calibri"/>
              <a:ea typeface="Calibri"/>
              <a:cs typeface="Calibri"/>
              <a:sym typeface="Calibri"/>
            </a:endParaRPr>
          </a:p>
        </p:txBody>
      </p:sp>
      <p:sp>
        <p:nvSpPr>
          <p:cNvPr id="84" name="Google Shape;84;p16"/>
          <p:cNvSpPr/>
          <p:nvPr/>
        </p:nvSpPr>
        <p:spPr>
          <a:xfrm>
            <a:off x="2423160" y="1572768"/>
            <a:ext cx="192024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6"/>
          <p:cNvSpPr/>
          <p:nvPr/>
        </p:nvSpPr>
        <p:spPr>
          <a:xfrm>
            <a:off x="2423160" y="1572768"/>
            <a:ext cx="54864" cy="13716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p:nvPr/>
        </p:nvSpPr>
        <p:spPr>
          <a:xfrm>
            <a:off x="2560320" y="1664208"/>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87" name="Google Shape;87;p16"/>
          <p:cNvSpPr/>
          <p:nvPr/>
        </p:nvSpPr>
        <p:spPr>
          <a:xfrm>
            <a:off x="2560320" y="1984248"/>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Data Cleaning</a:t>
            </a:r>
            <a:endParaRPr b="0" i="0" sz="1200" u="none" cap="none" strike="noStrike">
              <a:solidFill>
                <a:schemeClr val="dk1"/>
              </a:solidFill>
              <a:latin typeface="Calibri"/>
              <a:ea typeface="Calibri"/>
              <a:cs typeface="Calibri"/>
              <a:sym typeface="Calibri"/>
            </a:endParaRPr>
          </a:p>
        </p:txBody>
      </p:sp>
      <p:sp>
        <p:nvSpPr>
          <p:cNvPr id="88" name="Google Shape;88;p16"/>
          <p:cNvSpPr/>
          <p:nvPr/>
        </p:nvSpPr>
        <p:spPr>
          <a:xfrm>
            <a:off x="2560320" y="2276856"/>
            <a:ext cx="169164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Noise removal, text standardization, structured CSV output</a:t>
            </a:r>
            <a:endParaRPr b="0" i="0" sz="1000" u="none" cap="none" strike="noStrike">
              <a:solidFill>
                <a:schemeClr val="dk1"/>
              </a:solidFill>
              <a:latin typeface="Calibri"/>
              <a:ea typeface="Calibri"/>
              <a:cs typeface="Calibri"/>
              <a:sym typeface="Calibri"/>
            </a:endParaRPr>
          </a:p>
        </p:txBody>
      </p:sp>
      <p:sp>
        <p:nvSpPr>
          <p:cNvPr id="89" name="Google Shape;89;p16"/>
          <p:cNvSpPr/>
          <p:nvPr/>
        </p:nvSpPr>
        <p:spPr>
          <a:xfrm>
            <a:off x="4480560" y="1572768"/>
            <a:ext cx="192024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p:nvPr/>
        </p:nvSpPr>
        <p:spPr>
          <a:xfrm>
            <a:off x="4480560" y="1572768"/>
            <a:ext cx="54864" cy="13716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6"/>
          <p:cNvSpPr/>
          <p:nvPr/>
        </p:nvSpPr>
        <p:spPr>
          <a:xfrm>
            <a:off x="4617720" y="1664208"/>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92" name="Google Shape;92;p16"/>
          <p:cNvSpPr/>
          <p:nvPr/>
        </p:nvSpPr>
        <p:spPr>
          <a:xfrm>
            <a:off x="4617720" y="1984248"/>
            <a:ext cx="1691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Sentiment Analysis</a:t>
            </a:r>
            <a:endParaRPr b="0" i="0" sz="1200" u="none" cap="none" strike="noStrike">
              <a:solidFill>
                <a:schemeClr val="dk1"/>
              </a:solidFill>
              <a:latin typeface="Calibri"/>
              <a:ea typeface="Calibri"/>
              <a:cs typeface="Calibri"/>
              <a:sym typeface="Calibri"/>
            </a:endParaRPr>
          </a:p>
        </p:txBody>
      </p:sp>
      <p:sp>
        <p:nvSpPr>
          <p:cNvPr id="93" name="Google Shape;93;p16"/>
          <p:cNvSpPr/>
          <p:nvPr/>
        </p:nvSpPr>
        <p:spPr>
          <a:xfrm>
            <a:off x="4617720" y="2276856"/>
            <a:ext cx="169164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VADER + TextBlob scoring — Positive / Neutral / Negative</a:t>
            </a:r>
            <a:endParaRPr b="0" i="0" sz="1000" u="none" cap="none" strike="noStrike">
              <a:solidFill>
                <a:schemeClr val="dk1"/>
              </a:solidFill>
              <a:latin typeface="Calibri"/>
              <a:ea typeface="Calibri"/>
              <a:cs typeface="Calibri"/>
              <a:sym typeface="Calibri"/>
            </a:endParaRPr>
          </a:p>
        </p:txBody>
      </p:sp>
      <p:sp>
        <p:nvSpPr>
          <p:cNvPr id="94" name="Google Shape;94;p16"/>
          <p:cNvSpPr/>
          <p:nvPr/>
        </p:nvSpPr>
        <p:spPr>
          <a:xfrm>
            <a:off x="6537960" y="1572768"/>
            <a:ext cx="2240280" cy="1371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p:nvPr/>
        </p:nvSpPr>
        <p:spPr>
          <a:xfrm>
            <a:off x="6537960" y="1572768"/>
            <a:ext cx="54864" cy="13716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6"/>
          <p:cNvSpPr/>
          <p:nvPr/>
        </p:nvSpPr>
        <p:spPr>
          <a:xfrm>
            <a:off x="6675120" y="1664208"/>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97" name="Google Shape;97;p16"/>
          <p:cNvSpPr/>
          <p:nvPr/>
        </p:nvSpPr>
        <p:spPr>
          <a:xfrm>
            <a:off x="6675120" y="1984248"/>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Dashboard</a:t>
            </a:r>
            <a:endParaRPr b="0" i="0" sz="1200" u="none" cap="none" strike="noStrike">
              <a:solidFill>
                <a:schemeClr val="dk1"/>
              </a:solidFill>
              <a:latin typeface="Calibri"/>
              <a:ea typeface="Calibri"/>
              <a:cs typeface="Calibri"/>
              <a:sym typeface="Calibri"/>
            </a:endParaRPr>
          </a:p>
        </p:txBody>
      </p:sp>
      <p:sp>
        <p:nvSpPr>
          <p:cNvPr id="98" name="Google Shape;98;p16"/>
          <p:cNvSpPr/>
          <p:nvPr/>
        </p:nvSpPr>
        <p:spPr>
          <a:xfrm>
            <a:off x="6675120" y="2276856"/>
            <a:ext cx="201168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Streamlit app with executive KPIs, charts, and word clouds</a:t>
            </a:r>
            <a:endParaRPr b="0" i="0" sz="1000" u="none" cap="none" strike="noStrike">
              <a:solidFill>
                <a:schemeClr val="dk1"/>
              </a:solidFill>
              <a:latin typeface="Calibri"/>
              <a:ea typeface="Calibri"/>
              <a:cs typeface="Calibri"/>
              <a:sym typeface="Calibri"/>
            </a:endParaRPr>
          </a:p>
        </p:txBody>
      </p:sp>
      <p:sp>
        <p:nvSpPr>
          <p:cNvPr id="99" name="Google Shape;99;p16"/>
          <p:cNvSpPr/>
          <p:nvPr/>
        </p:nvSpPr>
        <p:spPr>
          <a:xfrm>
            <a:off x="365760" y="3090672"/>
            <a:ext cx="8412480" cy="50292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6"/>
          <p:cNvSpPr/>
          <p:nvPr/>
        </p:nvSpPr>
        <p:spPr>
          <a:xfrm>
            <a:off x="502920" y="3145536"/>
            <a:ext cx="1371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00"/>
              <a:buFont typeface="Calibri"/>
              <a:buNone/>
            </a:pPr>
            <a:r>
              <a:rPr b="1" i="0" lang="en-US" sz="1000" u="none" cap="none" strike="noStrike">
                <a:solidFill>
                  <a:srgbClr val="0F2044"/>
                </a:solidFill>
                <a:latin typeface="Calibri"/>
                <a:ea typeface="Calibri"/>
                <a:cs typeface="Calibri"/>
                <a:sym typeface="Calibri"/>
              </a:rPr>
              <a:t>Products Analyzed:</a:t>
            </a:r>
            <a:endParaRPr b="0" i="0" sz="1000" u="none" cap="none" strike="noStrike">
              <a:solidFill>
                <a:schemeClr val="dk1"/>
              </a:solidFill>
              <a:latin typeface="Calibri"/>
              <a:ea typeface="Calibri"/>
              <a:cs typeface="Calibri"/>
              <a:sym typeface="Calibri"/>
            </a:endParaRPr>
          </a:p>
        </p:txBody>
      </p:sp>
      <p:sp>
        <p:nvSpPr>
          <p:cNvPr id="101" name="Google Shape;101;p16"/>
          <p:cNvSpPr/>
          <p:nvPr/>
        </p:nvSpPr>
        <p:spPr>
          <a:xfrm>
            <a:off x="2011680" y="3172968"/>
            <a:ext cx="109728" cy="201168"/>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a:off x="2176272" y="3163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00"/>
              <a:buFont typeface="Calibri"/>
              <a:buNone/>
            </a:pPr>
            <a:r>
              <a:rPr b="0" i="0" lang="en-US" sz="1000" u="none" cap="none" strike="noStrike">
                <a:solidFill>
                  <a:srgbClr val="0F2044"/>
                </a:solidFill>
                <a:latin typeface="Calibri"/>
                <a:ea typeface="Calibri"/>
                <a:cs typeface="Calibri"/>
                <a:sym typeface="Calibri"/>
              </a:rPr>
              <a:t>Sony VAIO </a:t>
            </a:r>
            <a:endParaRPr b="0" i="0" sz="1000" u="none" cap="none" strike="noStrike">
              <a:solidFill>
                <a:schemeClr val="dk1"/>
              </a:solidFill>
              <a:latin typeface="Calibri"/>
              <a:ea typeface="Calibri"/>
              <a:cs typeface="Calibri"/>
              <a:sym typeface="Calibri"/>
            </a:endParaRPr>
          </a:p>
        </p:txBody>
      </p:sp>
      <p:sp>
        <p:nvSpPr>
          <p:cNvPr id="103" name="Google Shape;103;p16"/>
          <p:cNvSpPr/>
          <p:nvPr/>
        </p:nvSpPr>
        <p:spPr>
          <a:xfrm>
            <a:off x="4297680" y="3172968"/>
            <a:ext cx="109728" cy="201168"/>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6"/>
          <p:cNvSpPr/>
          <p:nvPr/>
        </p:nvSpPr>
        <p:spPr>
          <a:xfrm>
            <a:off x="4462272" y="3163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00"/>
              <a:buFont typeface="Calibri"/>
              <a:buNone/>
            </a:pPr>
            <a:r>
              <a:rPr b="0" i="0" lang="en-US" sz="1000" u="none" cap="none" strike="noStrike">
                <a:solidFill>
                  <a:srgbClr val="0F2044"/>
                </a:solidFill>
                <a:latin typeface="Calibri"/>
                <a:ea typeface="Calibri"/>
                <a:cs typeface="Calibri"/>
                <a:sym typeface="Calibri"/>
              </a:rPr>
              <a:t>Sony PlayMemories Online</a:t>
            </a:r>
            <a:endParaRPr b="0" i="0" sz="1000" u="none" cap="none" strike="noStrike">
              <a:solidFill>
                <a:schemeClr val="dk1"/>
              </a:solidFill>
              <a:latin typeface="Calibri"/>
              <a:ea typeface="Calibri"/>
              <a:cs typeface="Calibri"/>
              <a:sym typeface="Calibri"/>
            </a:endParaRPr>
          </a:p>
        </p:txBody>
      </p:sp>
      <p:sp>
        <p:nvSpPr>
          <p:cNvPr id="105" name="Google Shape;105;p16"/>
          <p:cNvSpPr/>
          <p:nvPr/>
        </p:nvSpPr>
        <p:spPr>
          <a:xfrm>
            <a:off x="6583680" y="3172968"/>
            <a:ext cx="109728" cy="201168"/>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6"/>
          <p:cNvSpPr/>
          <p:nvPr/>
        </p:nvSpPr>
        <p:spPr>
          <a:xfrm>
            <a:off x="6748272" y="3163824"/>
            <a:ext cx="201168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00"/>
              <a:buFont typeface="Calibri"/>
              <a:buNone/>
            </a:pPr>
            <a:r>
              <a:rPr b="0" i="0" lang="en-US" sz="1000" u="none" cap="none" strike="noStrike">
                <a:solidFill>
                  <a:srgbClr val="0F2044"/>
                </a:solidFill>
                <a:latin typeface="Calibri"/>
                <a:ea typeface="Calibri"/>
                <a:cs typeface="Calibri"/>
                <a:sym typeface="Calibri"/>
              </a:rPr>
              <a:t>Sony PlayStation Vue</a:t>
            </a:r>
            <a:endParaRPr b="0" i="0" sz="1000" u="none" cap="none" strike="noStrike">
              <a:solidFill>
                <a:schemeClr val="dk1"/>
              </a:solidFill>
              <a:latin typeface="Calibri"/>
              <a:ea typeface="Calibri"/>
              <a:cs typeface="Calibri"/>
              <a:sym typeface="Calibri"/>
            </a:endParaRPr>
          </a:p>
        </p:txBody>
      </p:sp>
      <p:sp>
        <p:nvSpPr>
          <p:cNvPr id="107" name="Google Shape;107;p16"/>
          <p:cNvSpPr/>
          <p:nvPr/>
        </p:nvSpPr>
        <p:spPr>
          <a:xfrm>
            <a:off x="365760" y="3730752"/>
            <a:ext cx="1920240" cy="89611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6"/>
          <p:cNvSpPr/>
          <p:nvPr/>
        </p:nvSpPr>
        <p:spPr>
          <a:xfrm>
            <a:off x="365760" y="3767328"/>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2400"/>
              <a:buFont typeface="Calibri"/>
              <a:buNone/>
            </a:pPr>
            <a:r>
              <a:rPr b="1" i="0" lang="en-US" sz="2400" u="none" cap="none" strike="noStrike">
                <a:solidFill>
                  <a:srgbClr val="00A896"/>
                </a:solidFill>
                <a:latin typeface="Calibri"/>
                <a:ea typeface="Calibri"/>
                <a:cs typeface="Calibri"/>
                <a:sym typeface="Calibri"/>
              </a:rPr>
              <a:t>166</a:t>
            </a:r>
            <a:endParaRPr b="0" i="0" sz="2400" u="none" cap="none" strike="noStrike">
              <a:solidFill>
                <a:schemeClr val="dk1"/>
              </a:solidFill>
              <a:latin typeface="Calibri"/>
              <a:ea typeface="Calibri"/>
              <a:cs typeface="Calibri"/>
              <a:sym typeface="Calibri"/>
            </a:endParaRPr>
          </a:p>
        </p:txBody>
      </p:sp>
      <p:sp>
        <p:nvSpPr>
          <p:cNvPr id="109" name="Google Shape;109;p16"/>
          <p:cNvSpPr/>
          <p:nvPr/>
        </p:nvSpPr>
        <p:spPr>
          <a:xfrm>
            <a:off x="365760" y="4224528"/>
            <a:ext cx="1920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Total Reviews</a:t>
            </a:r>
            <a:endParaRPr b="0" i="0" sz="900" u="none" cap="none" strike="noStrike">
              <a:solidFill>
                <a:schemeClr val="dk1"/>
              </a:solidFill>
              <a:latin typeface="Calibri"/>
              <a:ea typeface="Calibri"/>
              <a:cs typeface="Calibri"/>
              <a:sym typeface="Calibri"/>
            </a:endParaRPr>
          </a:p>
        </p:txBody>
      </p:sp>
      <p:sp>
        <p:nvSpPr>
          <p:cNvPr id="110" name="Google Shape;110;p16"/>
          <p:cNvSpPr/>
          <p:nvPr/>
        </p:nvSpPr>
        <p:spPr>
          <a:xfrm>
            <a:off x="2487168" y="3730752"/>
            <a:ext cx="1920240" cy="89611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6"/>
          <p:cNvSpPr/>
          <p:nvPr/>
        </p:nvSpPr>
        <p:spPr>
          <a:xfrm>
            <a:off x="2487168" y="3767328"/>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2400"/>
              <a:buFont typeface="Calibri"/>
              <a:buNone/>
            </a:pPr>
            <a:r>
              <a:rPr b="1" i="0" lang="en-US" sz="2400" u="none" cap="none" strike="noStrike">
                <a:solidFill>
                  <a:srgbClr val="00A896"/>
                </a:solidFill>
                <a:latin typeface="Calibri"/>
                <a:ea typeface="Calibri"/>
                <a:cs typeface="Calibri"/>
                <a:sym typeface="Calibri"/>
              </a:rPr>
              <a:t>67/100</a:t>
            </a:r>
            <a:endParaRPr b="0" i="0" sz="2400" u="none" cap="none" strike="noStrike">
              <a:solidFill>
                <a:schemeClr val="dk1"/>
              </a:solidFill>
              <a:latin typeface="Calibri"/>
              <a:ea typeface="Calibri"/>
              <a:cs typeface="Calibri"/>
              <a:sym typeface="Calibri"/>
            </a:endParaRPr>
          </a:p>
        </p:txBody>
      </p:sp>
      <p:sp>
        <p:nvSpPr>
          <p:cNvPr id="112" name="Google Shape;112;p16"/>
          <p:cNvSpPr/>
          <p:nvPr/>
        </p:nvSpPr>
        <p:spPr>
          <a:xfrm>
            <a:off x="2487168" y="4224528"/>
            <a:ext cx="1920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Global Sentiment</a:t>
            </a:r>
            <a:endParaRPr b="0" i="0" sz="900" u="none" cap="none" strike="noStrike">
              <a:solidFill>
                <a:schemeClr val="dk1"/>
              </a:solidFill>
              <a:latin typeface="Calibri"/>
              <a:ea typeface="Calibri"/>
              <a:cs typeface="Calibri"/>
              <a:sym typeface="Calibri"/>
            </a:endParaRPr>
          </a:p>
        </p:txBody>
      </p:sp>
      <p:sp>
        <p:nvSpPr>
          <p:cNvPr id="113" name="Google Shape;113;p16"/>
          <p:cNvSpPr/>
          <p:nvPr/>
        </p:nvSpPr>
        <p:spPr>
          <a:xfrm>
            <a:off x="4608576" y="3730752"/>
            <a:ext cx="1920240" cy="89611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4608576" y="3767328"/>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2400"/>
              <a:buFont typeface="Calibri"/>
              <a:buNone/>
            </a:pPr>
            <a:r>
              <a:rPr b="1" i="0" lang="en-US" sz="2400" u="none" cap="none" strike="noStrike">
                <a:solidFill>
                  <a:srgbClr val="00A896"/>
                </a:solidFill>
                <a:latin typeface="Calibri"/>
                <a:ea typeface="Calibri"/>
                <a:cs typeface="Calibri"/>
                <a:sym typeface="Calibri"/>
              </a:rPr>
              <a:t>63.3%</a:t>
            </a:r>
            <a:endParaRPr b="0" i="0" sz="2400" u="none" cap="none" strike="noStrike">
              <a:solidFill>
                <a:schemeClr val="dk1"/>
              </a:solidFill>
              <a:latin typeface="Calibri"/>
              <a:ea typeface="Calibri"/>
              <a:cs typeface="Calibri"/>
              <a:sym typeface="Calibri"/>
            </a:endParaRPr>
          </a:p>
        </p:txBody>
      </p:sp>
      <p:sp>
        <p:nvSpPr>
          <p:cNvPr id="115" name="Google Shape;115;p16"/>
          <p:cNvSpPr/>
          <p:nvPr/>
        </p:nvSpPr>
        <p:spPr>
          <a:xfrm>
            <a:off x="4608576" y="4224528"/>
            <a:ext cx="1920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Positive Reviews</a:t>
            </a:r>
            <a:endParaRPr b="0" i="0" sz="900" u="none" cap="none" strike="noStrike">
              <a:solidFill>
                <a:schemeClr val="dk1"/>
              </a:solidFill>
              <a:latin typeface="Calibri"/>
              <a:ea typeface="Calibri"/>
              <a:cs typeface="Calibri"/>
              <a:sym typeface="Calibri"/>
            </a:endParaRPr>
          </a:p>
        </p:txBody>
      </p:sp>
      <p:sp>
        <p:nvSpPr>
          <p:cNvPr id="116" name="Google Shape;116;p16"/>
          <p:cNvSpPr/>
          <p:nvPr/>
        </p:nvSpPr>
        <p:spPr>
          <a:xfrm>
            <a:off x="6729984" y="3730752"/>
            <a:ext cx="1920240" cy="89611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6"/>
          <p:cNvSpPr/>
          <p:nvPr/>
        </p:nvSpPr>
        <p:spPr>
          <a:xfrm>
            <a:off x="6729984" y="3767328"/>
            <a:ext cx="1920240"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2400"/>
              <a:buFont typeface="Calibri"/>
              <a:buNone/>
            </a:pPr>
            <a:r>
              <a:rPr b="1" i="0" lang="en-US" sz="2400" u="none" cap="none" strike="noStrike">
                <a:solidFill>
                  <a:srgbClr val="00A896"/>
                </a:solidFill>
                <a:latin typeface="Calibri"/>
                <a:ea typeface="Calibri"/>
                <a:cs typeface="Calibri"/>
                <a:sym typeface="Calibri"/>
              </a:rPr>
              <a:t>10.8%</a:t>
            </a:r>
            <a:endParaRPr b="0" i="0" sz="2400" u="none" cap="none" strike="noStrike">
              <a:solidFill>
                <a:schemeClr val="dk1"/>
              </a:solidFill>
              <a:latin typeface="Calibri"/>
              <a:ea typeface="Calibri"/>
              <a:cs typeface="Calibri"/>
              <a:sym typeface="Calibri"/>
            </a:endParaRPr>
          </a:p>
        </p:txBody>
      </p:sp>
      <p:sp>
        <p:nvSpPr>
          <p:cNvPr id="118" name="Google Shape;118;p16"/>
          <p:cNvSpPr/>
          <p:nvPr/>
        </p:nvSpPr>
        <p:spPr>
          <a:xfrm>
            <a:off x="6729984" y="4224528"/>
            <a:ext cx="1920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Negative Reviews</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p:nvPr/>
        </p:nvSpPr>
        <p:spPr>
          <a:xfrm>
            <a:off x="0" y="0"/>
            <a:ext cx="9144000" cy="6585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7"/>
          <p:cNvSpPr/>
          <p:nvPr/>
        </p:nvSpPr>
        <p:spPr>
          <a:xfrm>
            <a:off x="365760" y="73152"/>
            <a:ext cx="1371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2</a:t>
            </a:r>
            <a:endParaRPr b="0" i="0" sz="800" u="none" cap="none" strike="noStrike">
              <a:solidFill>
                <a:srgbClr val="000000"/>
              </a:solidFill>
              <a:latin typeface="Calibri"/>
              <a:ea typeface="Calibri"/>
              <a:cs typeface="Calibri"/>
              <a:sym typeface="Calibri"/>
            </a:endParaRPr>
          </a:p>
        </p:txBody>
      </p:sp>
      <p:sp>
        <p:nvSpPr>
          <p:cNvPr id="126" name="Google Shape;126;p17"/>
          <p:cNvSpPr/>
          <p:nvPr/>
        </p:nvSpPr>
        <p:spPr>
          <a:xfrm>
            <a:off x="365760" y="274320"/>
            <a:ext cx="5029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Data — Product Selection</a:t>
            </a:r>
            <a:endParaRPr b="0" i="0" sz="1800" u="none" cap="none" strike="noStrike">
              <a:solidFill>
                <a:srgbClr val="000000"/>
              </a:solidFill>
              <a:latin typeface="Calibri"/>
              <a:ea typeface="Calibri"/>
              <a:cs typeface="Calibri"/>
              <a:sym typeface="Calibri"/>
            </a:endParaRPr>
          </a:p>
        </p:txBody>
      </p:sp>
      <p:sp>
        <p:nvSpPr>
          <p:cNvPr id="127" name="Google Shape;127;p17"/>
          <p:cNvSpPr/>
          <p:nvPr/>
        </p:nvSpPr>
        <p:spPr>
          <a:xfrm>
            <a:off x="8732520" y="164592"/>
            <a:ext cx="320100" cy="32010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365760" y="896112"/>
            <a:ext cx="8412600" cy="457200"/>
          </a:xfrm>
          <a:prstGeom prst="rect">
            <a:avLst/>
          </a:prstGeom>
          <a:solidFill>
            <a:srgbClr val="EBF8F5"/>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502920" y="914400"/>
            <a:ext cx="8138100" cy="420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50"/>
              <a:buFont typeface="Calibri"/>
              <a:buNone/>
            </a:pPr>
            <a:r>
              <a:rPr b="0" i="0" lang="en-US" sz="1050" u="none" cap="none" strike="noStrike">
                <a:solidFill>
                  <a:srgbClr val="0F2044"/>
                </a:solidFill>
                <a:latin typeface="Calibri"/>
                <a:ea typeface="Calibri"/>
                <a:cs typeface="Calibri"/>
                <a:sym typeface="Calibri"/>
              </a:rPr>
              <a:t>We analyzed three Sony products that have all already been discontinued — giving us a real-world basis to evaluate what sentiment signals preceded their discontinuation.</a:t>
            </a:r>
            <a:endParaRPr b="0" i="0" sz="1050" u="none" cap="none" strike="noStrike">
              <a:solidFill>
                <a:srgbClr val="000000"/>
              </a:solidFill>
              <a:latin typeface="Calibri"/>
              <a:ea typeface="Calibri"/>
              <a:cs typeface="Calibri"/>
              <a:sym typeface="Calibri"/>
            </a:endParaRPr>
          </a:p>
        </p:txBody>
      </p:sp>
      <p:sp>
        <p:nvSpPr>
          <p:cNvPr id="130" name="Google Shape;130;p17"/>
          <p:cNvSpPr/>
          <p:nvPr/>
        </p:nvSpPr>
        <p:spPr>
          <a:xfrm>
            <a:off x="365760" y="1463040"/>
            <a:ext cx="2651700" cy="2560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p:nvPr/>
        </p:nvSpPr>
        <p:spPr>
          <a:xfrm>
            <a:off x="365760" y="1463040"/>
            <a:ext cx="2651700" cy="347400"/>
          </a:xfrm>
          <a:prstGeom prst="rect">
            <a:avLst/>
          </a:prstGeom>
          <a:solidFill>
            <a:srgbClr val="00A896">
              <a:alpha val="14900"/>
            </a:srgbClr>
          </a:solidFill>
          <a:ln cap="flat" cmpd="sng" w="12700">
            <a:solidFill>
              <a:srgbClr val="00A896">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7"/>
          <p:cNvSpPr/>
          <p:nvPr/>
        </p:nvSpPr>
        <p:spPr>
          <a:xfrm>
            <a:off x="365760" y="1463040"/>
            <a:ext cx="54900" cy="25602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7"/>
          <p:cNvSpPr/>
          <p:nvPr/>
        </p:nvSpPr>
        <p:spPr>
          <a:xfrm>
            <a:off x="493776" y="1499616"/>
            <a:ext cx="245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Sony VAIO</a:t>
            </a:r>
            <a:endParaRPr b="0" i="0" sz="1200" u="none" cap="none" strike="noStrike">
              <a:solidFill>
                <a:srgbClr val="000000"/>
              </a:solidFill>
              <a:latin typeface="Calibri"/>
              <a:ea typeface="Calibri"/>
              <a:cs typeface="Calibri"/>
              <a:sym typeface="Calibri"/>
            </a:endParaRPr>
          </a:p>
        </p:txBody>
      </p:sp>
      <p:sp>
        <p:nvSpPr>
          <p:cNvPr id="134" name="Google Shape;134;p17"/>
          <p:cNvSpPr/>
          <p:nvPr/>
        </p:nvSpPr>
        <p:spPr>
          <a:xfrm>
            <a:off x="493776" y="1865376"/>
            <a:ext cx="2450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50"/>
              <a:buFont typeface="Calibri"/>
              <a:buNone/>
            </a:pPr>
            <a:r>
              <a:rPr b="1" i="0" lang="en-US" sz="950" u="none" cap="none" strike="noStrike">
                <a:solidFill>
                  <a:srgbClr val="00A896"/>
                </a:solidFill>
                <a:latin typeface="Calibri"/>
                <a:ea typeface="Calibri"/>
                <a:cs typeface="Calibri"/>
                <a:sym typeface="Calibri"/>
              </a:rPr>
              <a:t>PCs &amp; Laptops</a:t>
            </a:r>
            <a:endParaRPr b="0" i="0" sz="950" u="none" cap="none" strike="noStrike">
              <a:solidFill>
                <a:srgbClr val="000000"/>
              </a:solidFill>
              <a:latin typeface="Calibri"/>
              <a:ea typeface="Calibri"/>
              <a:cs typeface="Calibri"/>
              <a:sym typeface="Calibri"/>
            </a:endParaRPr>
          </a:p>
        </p:txBody>
      </p:sp>
      <p:sp>
        <p:nvSpPr>
          <p:cNvPr id="135" name="Google Shape;135;p17"/>
          <p:cNvSpPr/>
          <p:nvPr/>
        </p:nvSpPr>
        <p:spPr>
          <a:xfrm>
            <a:off x="493776" y="2103120"/>
            <a:ext cx="1371600" cy="201300"/>
          </a:xfrm>
          <a:prstGeom prst="rect">
            <a:avLst/>
          </a:prstGeom>
          <a:solidFill>
            <a:srgbClr val="00A896">
              <a:alpha val="20000"/>
            </a:srgbClr>
          </a:solidFill>
          <a:ln cap="flat" cmpd="sng" w="12700">
            <a:solidFill>
              <a:srgbClr val="00A89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7"/>
          <p:cNvSpPr/>
          <p:nvPr/>
        </p:nvSpPr>
        <p:spPr>
          <a:xfrm>
            <a:off x="512064" y="2112264"/>
            <a:ext cx="1371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850"/>
              <a:buFont typeface="Calibri"/>
              <a:buNone/>
            </a:pPr>
            <a:r>
              <a:rPr b="1" i="0" lang="en-US" sz="850" u="none" cap="none" strike="noStrike">
                <a:solidFill>
                  <a:srgbClr val="0F2044"/>
                </a:solidFill>
                <a:latin typeface="Calibri"/>
                <a:ea typeface="Calibri"/>
                <a:cs typeface="Calibri"/>
                <a:sym typeface="Calibri"/>
              </a:rPr>
              <a:t>Discontinued: 2014</a:t>
            </a:r>
            <a:endParaRPr b="0" i="0" sz="850" u="none" cap="none" strike="noStrike">
              <a:solidFill>
                <a:srgbClr val="000000"/>
              </a:solidFill>
              <a:latin typeface="Calibri"/>
              <a:ea typeface="Calibri"/>
              <a:cs typeface="Calibri"/>
              <a:sym typeface="Calibri"/>
            </a:endParaRPr>
          </a:p>
        </p:txBody>
      </p:sp>
      <p:sp>
        <p:nvSpPr>
          <p:cNvPr id="137" name="Google Shape;137;p17"/>
          <p:cNvSpPr/>
          <p:nvPr/>
        </p:nvSpPr>
        <p:spPr>
          <a:xfrm>
            <a:off x="493776" y="2377440"/>
            <a:ext cx="24507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Sony sold VAIO to Japan Industrial Partners. Despite discontinuation, it retained the most positive consumer sentiment in our dataset.</a:t>
            </a:r>
            <a:endParaRPr b="0" i="0" sz="950" u="none" cap="none" strike="noStrike">
              <a:solidFill>
                <a:srgbClr val="000000"/>
              </a:solidFill>
              <a:latin typeface="Calibri"/>
              <a:ea typeface="Calibri"/>
              <a:cs typeface="Calibri"/>
              <a:sym typeface="Calibri"/>
            </a:endParaRPr>
          </a:p>
        </p:txBody>
      </p:sp>
      <p:sp>
        <p:nvSpPr>
          <p:cNvPr id="138" name="Google Shape;138;p17"/>
          <p:cNvSpPr/>
          <p:nvPr/>
        </p:nvSpPr>
        <p:spPr>
          <a:xfrm>
            <a:off x="3200400" y="1463040"/>
            <a:ext cx="2651700" cy="2560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7"/>
          <p:cNvSpPr/>
          <p:nvPr/>
        </p:nvSpPr>
        <p:spPr>
          <a:xfrm>
            <a:off x="3200400" y="1463040"/>
            <a:ext cx="2651700" cy="347400"/>
          </a:xfrm>
          <a:prstGeom prst="rect">
            <a:avLst/>
          </a:prstGeom>
          <a:solidFill>
            <a:srgbClr val="EF4444">
              <a:alpha val="14900"/>
            </a:srgbClr>
          </a:solidFill>
          <a:ln cap="flat" cmpd="sng" w="12700">
            <a:solidFill>
              <a:srgbClr val="EF4444">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7"/>
          <p:cNvSpPr/>
          <p:nvPr/>
        </p:nvSpPr>
        <p:spPr>
          <a:xfrm>
            <a:off x="3200400" y="1463040"/>
            <a:ext cx="54900" cy="25602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7"/>
          <p:cNvSpPr/>
          <p:nvPr/>
        </p:nvSpPr>
        <p:spPr>
          <a:xfrm>
            <a:off x="3328416" y="1499616"/>
            <a:ext cx="245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Sony PlayMemories</a:t>
            </a:r>
            <a:endParaRPr b="0" i="0" sz="1200" u="none" cap="none" strike="noStrike">
              <a:solidFill>
                <a:srgbClr val="000000"/>
              </a:solidFill>
              <a:latin typeface="Calibri"/>
              <a:ea typeface="Calibri"/>
              <a:cs typeface="Calibri"/>
              <a:sym typeface="Calibri"/>
            </a:endParaRPr>
          </a:p>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Online</a:t>
            </a:r>
            <a:endParaRPr b="0" i="0" sz="1200" u="none" cap="none" strike="noStrike">
              <a:solidFill>
                <a:srgbClr val="000000"/>
              </a:solidFill>
              <a:latin typeface="Calibri"/>
              <a:ea typeface="Calibri"/>
              <a:cs typeface="Calibri"/>
              <a:sym typeface="Calibri"/>
            </a:endParaRPr>
          </a:p>
        </p:txBody>
      </p:sp>
      <p:sp>
        <p:nvSpPr>
          <p:cNvPr id="142" name="Google Shape;142;p17"/>
          <p:cNvSpPr/>
          <p:nvPr/>
        </p:nvSpPr>
        <p:spPr>
          <a:xfrm>
            <a:off x="3328416" y="1865376"/>
            <a:ext cx="2450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950"/>
              <a:buFont typeface="Calibri"/>
              <a:buNone/>
            </a:pPr>
            <a:r>
              <a:rPr b="1" i="0" lang="en-US" sz="950" u="none" cap="none" strike="noStrike">
                <a:solidFill>
                  <a:srgbClr val="EF4444"/>
                </a:solidFill>
                <a:latin typeface="Calibri"/>
                <a:ea typeface="Calibri"/>
                <a:cs typeface="Calibri"/>
                <a:sym typeface="Calibri"/>
              </a:rPr>
              <a:t>Cloud Photo Service</a:t>
            </a:r>
            <a:endParaRPr b="0" i="0" sz="950" u="none" cap="none" strike="noStrike">
              <a:solidFill>
                <a:srgbClr val="000000"/>
              </a:solidFill>
              <a:latin typeface="Calibri"/>
              <a:ea typeface="Calibri"/>
              <a:cs typeface="Calibri"/>
              <a:sym typeface="Calibri"/>
            </a:endParaRPr>
          </a:p>
        </p:txBody>
      </p:sp>
      <p:sp>
        <p:nvSpPr>
          <p:cNvPr id="143" name="Google Shape;143;p17"/>
          <p:cNvSpPr/>
          <p:nvPr/>
        </p:nvSpPr>
        <p:spPr>
          <a:xfrm>
            <a:off x="3328416" y="2103120"/>
            <a:ext cx="1371600" cy="201300"/>
          </a:xfrm>
          <a:prstGeom prst="rect">
            <a:avLst/>
          </a:prstGeom>
          <a:solidFill>
            <a:srgbClr val="EF4444">
              <a:alpha val="20000"/>
            </a:srgbClr>
          </a:solidFill>
          <a:ln cap="flat" cmpd="sng" w="12700">
            <a:solidFill>
              <a:srgbClr val="EF4444">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7"/>
          <p:cNvSpPr/>
          <p:nvPr/>
        </p:nvSpPr>
        <p:spPr>
          <a:xfrm>
            <a:off x="3346704" y="2112264"/>
            <a:ext cx="1371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850"/>
              <a:buFont typeface="Calibri"/>
              <a:buNone/>
            </a:pPr>
            <a:r>
              <a:rPr b="1" i="0" lang="en-US" sz="850" u="none" cap="none" strike="noStrike">
                <a:solidFill>
                  <a:srgbClr val="0F2044"/>
                </a:solidFill>
                <a:latin typeface="Calibri"/>
                <a:ea typeface="Calibri"/>
                <a:cs typeface="Calibri"/>
                <a:sym typeface="Calibri"/>
              </a:rPr>
              <a:t>Discontinued: 2021</a:t>
            </a:r>
            <a:endParaRPr b="0" i="0" sz="850" u="none" cap="none" strike="noStrike">
              <a:solidFill>
                <a:srgbClr val="000000"/>
              </a:solidFill>
              <a:latin typeface="Calibri"/>
              <a:ea typeface="Calibri"/>
              <a:cs typeface="Calibri"/>
              <a:sym typeface="Calibri"/>
            </a:endParaRPr>
          </a:p>
        </p:txBody>
      </p:sp>
      <p:sp>
        <p:nvSpPr>
          <p:cNvPr id="145" name="Google Shape;145;p17"/>
          <p:cNvSpPr/>
          <p:nvPr/>
        </p:nvSpPr>
        <p:spPr>
          <a:xfrm>
            <a:off x="3328416" y="2377440"/>
            <a:ext cx="24507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A cloud-based photo storage and sharing platform. Received the lowest sentiment scores — flagged as Critical Remediation Target.</a:t>
            </a:r>
            <a:endParaRPr b="0" i="0" sz="950" u="none" cap="none" strike="noStrike">
              <a:solidFill>
                <a:srgbClr val="000000"/>
              </a:solidFill>
              <a:latin typeface="Calibri"/>
              <a:ea typeface="Calibri"/>
              <a:cs typeface="Calibri"/>
              <a:sym typeface="Calibri"/>
            </a:endParaRPr>
          </a:p>
        </p:txBody>
      </p:sp>
      <p:sp>
        <p:nvSpPr>
          <p:cNvPr id="146" name="Google Shape;146;p17"/>
          <p:cNvSpPr/>
          <p:nvPr/>
        </p:nvSpPr>
        <p:spPr>
          <a:xfrm>
            <a:off x="6035040" y="1463040"/>
            <a:ext cx="2651700" cy="25602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7"/>
          <p:cNvSpPr/>
          <p:nvPr/>
        </p:nvSpPr>
        <p:spPr>
          <a:xfrm>
            <a:off x="6035040" y="1463040"/>
            <a:ext cx="2651700" cy="347400"/>
          </a:xfrm>
          <a:prstGeom prst="rect">
            <a:avLst/>
          </a:prstGeom>
          <a:solidFill>
            <a:srgbClr val="3B82F6">
              <a:alpha val="14900"/>
            </a:srgbClr>
          </a:solidFill>
          <a:ln cap="flat" cmpd="sng" w="12700">
            <a:solidFill>
              <a:srgbClr val="3B82F6">
                <a:alpha val="149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p:nvPr/>
        </p:nvSpPr>
        <p:spPr>
          <a:xfrm>
            <a:off x="6035040" y="1463040"/>
            <a:ext cx="54900" cy="2560200"/>
          </a:xfrm>
          <a:prstGeom prst="rect">
            <a:avLst/>
          </a:prstGeom>
          <a:solidFill>
            <a:srgbClr val="3B82F6"/>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7"/>
          <p:cNvSpPr/>
          <p:nvPr/>
        </p:nvSpPr>
        <p:spPr>
          <a:xfrm>
            <a:off x="6163056" y="1499616"/>
            <a:ext cx="24507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Sony PlayStation Vue</a:t>
            </a:r>
            <a:endParaRPr b="0" i="0" sz="1200" u="none" cap="none" strike="noStrike">
              <a:solidFill>
                <a:srgbClr val="000000"/>
              </a:solidFill>
              <a:latin typeface="Calibri"/>
              <a:ea typeface="Calibri"/>
              <a:cs typeface="Calibri"/>
              <a:sym typeface="Calibri"/>
            </a:endParaRPr>
          </a:p>
        </p:txBody>
      </p:sp>
      <p:sp>
        <p:nvSpPr>
          <p:cNvPr id="150" name="Google Shape;150;p17"/>
          <p:cNvSpPr/>
          <p:nvPr/>
        </p:nvSpPr>
        <p:spPr>
          <a:xfrm>
            <a:off x="6163056" y="1865376"/>
            <a:ext cx="24507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50"/>
              <a:buFont typeface="Calibri"/>
              <a:buNone/>
            </a:pPr>
            <a:r>
              <a:rPr b="1" i="0" lang="en-US" sz="950" u="none" cap="none" strike="noStrike">
                <a:solidFill>
                  <a:srgbClr val="3B82F6"/>
                </a:solidFill>
                <a:latin typeface="Calibri"/>
                <a:ea typeface="Calibri"/>
                <a:cs typeface="Calibri"/>
                <a:sym typeface="Calibri"/>
              </a:rPr>
              <a:t>Live TV Streaming</a:t>
            </a:r>
            <a:endParaRPr b="0" i="0" sz="950" u="none" cap="none" strike="noStrike">
              <a:solidFill>
                <a:srgbClr val="000000"/>
              </a:solidFill>
              <a:latin typeface="Calibri"/>
              <a:ea typeface="Calibri"/>
              <a:cs typeface="Calibri"/>
              <a:sym typeface="Calibri"/>
            </a:endParaRPr>
          </a:p>
        </p:txBody>
      </p:sp>
      <p:sp>
        <p:nvSpPr>
          <p:cNvPr id="151" name="Google Shape;151;p17"/>
          <p:cNvSpPr/>
          <p:nvPr/>
        </p:nvSpPr>
        <p:spPr>
          <a:xfrm>
            <a:off x="6163056" y="2103120"/>
            <a:ext cx="1371600" cy="201300"/>
          </a:xfrm>
          <a:prstGeom prst="rect">
            <a:avLst/>
          </a:prstGeom>
          <a:solidFill>
            <a:srgbClr val="3B82F6">
              <a:alpha val="20000"/>
            </a:srgbClr>
          </a:solidFill>
          <a:ln cap="flat" cmpd="sng" w="12700">
            <a:solidFill>
              <a:srgbClr val="3B82F6">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p:nvPr/>
        </p:nvSpPr>
        <p:spPr>
          <a:xfrm>
            <a:off x="6181344" y="2112264"/>
            <a:ext cx="1371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850"/>
              <a:buFont typeface="Calibri"/>
              <a:buNone/>
            </a:pPr>
            <a:r>
              <a:rPr b="1" i="0" lang="en-US" sz="850" u="none" cap="none" strike="noStrike">
                <a:solidFill>
                  <a:srgbClr val="0F2044"/>
                </a:solidFill>
                <a:latin typeface="Calibri"/>
                <a:ea typeface="Calibri"/>
                <a:cs typeface="Calibri"/>
                <a:sym typeface="Calibri"/>
              </a:rPr>
              <a:t>Discontinued: Jan 2020</a:t>
            </a:r>
            <a:endParaRPr b="0" i="0" sz="850" u="none" cap="none" strike="noStrike">
              <a:solidFill>
                <a:srgbClr val="000000"/>
              </a:solidFill>
              <a:latin typeface="Calibri"/>
              <a:ea typeface="Calibri"/>
              <a:cs typeface="Calibri"/>
              <a:sym typeface="Calibri"/>
            </a:endParaRPr>
          </a:p>
        </p:txBody>
      </p:sp>
      <p:sp>
        <p:nvSpPr>
          <p:cNvPr id="153" name="Google Shape;153;p17"/>
          <p:cNvSpPr/>
          <p:nvPr/>
        </p:nvSpPr>
        <p:spPr>
          <a:xfrm>
            <a:off x="6163056" y="2377440"/>
            <a:ext cx="24507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Sony's streaming TV service shut down due to rising content licensing costs. Mixed-to-negative sentiment around the shutdown.</a:t>
            </a:r>
            <a:endParaRPr b="0" i="0" sz="950" u="none" cap="none" strike="noStrike">
              <a:solidFill>
                <a:srgbClr val="000000"/>
              </a:solidFill>
              <a:latin typeface="Calibri"/>
              <a:ea typeface="Calibri"/>
              <a:cs typeface="Calibri"/>
              <a:sym typeface="Calibri"/>
            </a:endParaRPr>
          </a:p>
        </p:txBody>
      </p:sp>
      <p:sp>
        <p:nvSpPr>
          <p:cNvPr id="154" name="Google Shape;154;p17"/>
          <p:cNvSpPr/>
          <p:nvPr/>
        </p:nvSpPr>
        <p:spPr>
          <a:xfrm>
            <a:off x="365760" y="4114800"/>
            <a:ext cx="8412600" cy="658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7"/>
          <p:cNvSpPr/>
          <p:nvPr/>
        </p:nvSpPr>
        <p:spPr>
          <a:xfrm>
            <a:off x="365760" y="4114800"/>
            <a:ext cx="54900" cy="6585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7"/>
          <p:cNvSpPr/>
          <p:nvPr/>
        </p:nvSpPr>
        <p:spPr>
          <a:xfrm>
            <a:off x="502920" y="4151376"/>
            <a:ext cx="1005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950"/>
              <a:buFont typeface="Calibri"/>
              <a:buNone/>
            </a:pPr>
            <a:r>
              <a:rPr b="1" i="0" lang="en-US" sz="950" u="none" cap="none" strike="noStrike">
                <a:solidFill>
                  <a:srgbClr val="0F2044"/>
                </a:solidFill>
                <a:latin typeface="Calibri"/>
                <a:ea typeface="Calibri"/>
                <a:cs typeface="Calibri"/>
                <a:sym typeface="Calibri"/>
              </a:rPr>
              <a:t>Sources:</a:t>
            </a:r>
            <a:endParaRPr b="0" i="0" sz="950" u="none" cap="none" strike="noStrike">
              <a:solidFill>
                <a:srgbClr val="000000"/>
              </a:solidFill>
              <a:latin typeface="Calibri"/>
              <a:ea typeface="Calibri"/>
              <a:cs typeface="Calibri"/>
              <a:sym typeface="Calibri"/>
            </a:endParaRPr>
          </a:p>
        </p:txBody>
      </p:sp>
      <p:sp>
        <p:nvSpPr>
          <p:cNvPr id="157" name="Google Shape;157;p17"/>
          <p:cNvSpPr/>
          <p:nvPr/>
        </p:nvSpPr>
        <p:spPr>
          <a:xfrm>
            <a:off x="502920" y="4352544"/>
            <a:ext cx="82296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00"/>
              <a:buFont typeface="Calibri"/>
              <a:buNone/>
            </a:pPr>
            <a:r>
              <a:rPr b="0" i="0" lang="en-US" sz="900" u="none" cap="none" strike="noStrike">
                <a:solidFill>
                  <a:srgbClr val="64748B"/>
                </a:solidFill>
                <a:latin typeface="Calibri"/>
                <a:ea typeface="Calibri"/>
                <a:cs typeface="Calibri"/>
                <a:sym typeface="Calibri"/>
              </a:rPr>
              <a:t>Wikipedia  •  Sony Support  •  Sony Help Guide  •  TechRadar  •  Britannica  •  DP Review Forum  •  The Verge  •  Sony Global History  •  Sony.com Product Page</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p:nvPr/>
        </p:nvSpPr>
        <p:spPr>
          <a:xfrm>
            <a:off x="0" y="0"/>
            <a:ext cx="9144000" cy="6585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8"/>
          <p:cNvSpPr/>
          <p:nvPr/>
        </p:nvSpPr>
        <p:spPr>
          <a:xfrm>
            <a:off x="365760" y="73152"/>
            <a:ext cx="1371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2</a:t>
            </a:r>
            <a:endParaRPr b="0" i="0" sz="800" u="none" cap="none" strike="noStrike">
              <a:solidFill>
                <a:srgbClr val="000000"/>
              </a:solidFill>
              <a:latin typeface="Calibri"/>
              <a:ea typeface="Calibri"/>
              <a:cs typeface="Calibri"/>
              <a:sym typeface="Calibri"/>
            </a:endParaRPr>
          </a:p>
        </p:txBody>
      </p:sp>
      <p:sp>
        <p:nvSpPr>
          <p:cNvPr id="165" name="Google Shape;165;p18"/>
          <p:cNvSpPr/>
          <p:nvPr/>
        </p:nvSpPr>
        <p:spPr>
          <a:xfrm>
            <a:off x="365760" y="274320"/>
            <a:ext cx="5029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Data — Dataset Overview</a:t>
            </a:r>
            <a:endParaRPr b="0" i="0" sz="1800" u="none" cap="none" strike="noStrike">
              <a:solidFill>
                <a:srgbClr val="000000"/>
              </a:solidFill>
              <a:latin typeface="Calibri"/>
              <a:ea typeface="Calibri"/>
              <a:cs typeface="Calibri"/>
              <a:sym typeface="Calibri"/>
            </a:endParaRPr>
          </a:p>
        </p:txBody>
      </p:sp>
      <p:sp>
        <p:nvSpPr>
          <p:cNvPr id="166" name="Google Shape;166;p18"/>
          <p:cNvSpPr/>
          <p:nvPr/>
        </p:nvSpPr>
        <p:spPr>
          <a:xfrm>
            <a:off x="8732520" y="164592"/>
            <a:ext cx="320100" cy="32010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8"/>
          <p:cNvSpPr/>
          <p:nvPr/>
        </p:nvSpPr>
        <p:spPr>
          <a:xfrm>
            <a:off x="365760" y="896112"/>
            <a:ext cx="1920300" cy="1005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8"/>
          <p:cNvSpPr/>
          <p:nvPr/>
        </p:nvSpPr>
        <p:spPr>
          <a:xfrm>
            <a:off x="365760" y="896112"/>
            <a:ext cx="1920300" cy="54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8"/>
          <p:cNvSpPr/>
          <p:nvPr/>
        </p:nvSpPr>
        <p:spPr>
          <a:xfrm>
            <a:off x="365760" y="950976"/>
            <a:ext cx="19203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3000"/>
              <a:buFont typeface="Calibri"/>
              <a:buNone/>
            </a:pPr>
            <a:r>
              <a:rPr b="1" i="0" lang="en-US" sz="3000" u="none" cap="none" strike="noStrike">
                <a:solidFill>
                  <a:srgbClr val="00A896"/>
                </a:solidFill>
                <a:latin typeface="Calibri"/>
                <a:ea typeface="Calibri"/>
                <a:cs typeface="Calibri"/>
                <a:sym typeface="Calibri"/>
              </a:rPr>
              <a:t>166</a:t>
            </a:r>
            <a:endParaRPr b="0" i="0" sz="3000" u="none" cap="none" strike="noStrike">
              <a:solidFill>
                <a:srgbClr val="000000"/>
              </a:solidFill>
              <a:latin typeface="Calibri"/>
              <a:ea typeface="Calibri"/>
              <a:cs typeface="Calibri"/>
              <a:sym typeface="Calibri"/>
            </a:endParaRPr>
          </a:p>
        </p:txBody>
      </p:sp>
      <p:sp>
        <p:nvSpPr>
          <p:cNvPr id="170" name="Google Shape;170;p18"/>
          <p:cNvSpPr/>
          <p:nvPr/>
        </p:nvSpPr>
        <p:spPr>
          <a:xfrm>
            <a:off x="365760" y="1426464"/>
            <a:ext cx="1920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1050"/>
              <a:buFont typeface="Calibri"/>
              <a:buNone/>
            </a:pPr>
            <a:r>
              <a:rPr b="1" i="0" lang="en-US" sz="1050" u="none" cap="none" strike="noStrike">
                <a:solidFill>
                  <a:srgbClr val="0F2044"/>
                </a:solidFill>
                <a:latin typeface="Calibri"/>
                <a:ea typeface="Calibri"/>
                <a:cs typeface="Calibri"/>
                <a:sym typeface="Calibri"/>
              </a:rPr>
              <a:t>Total Reviews</a:t>
            </a:r>
            <a:endParaRPr b="0" i="0" sz="1050" u="none" cap="none" strike="noStrike">
              <a:solidFill>
                <a:srgbClr val="000000"/>
              </a:solidFill>
              <a:latin typeface="Calibri"/>
              <a:ea typeface="Calibri"/>
              <a:cs typeface="Calibri"/>
              <a:sym typeface="Calibri"/>
            </a:endParaRPr>
          </a:p>
        </p:txBody>
      </p:sp>
      <p:sp>
        <p:nvSpPr>
          <p:cNvPr id="171" name="Google Shape;171;p18"/>
          <p:cNvSpPr/>
          <p:nvPr/>
        </p:nvSpPr>
        <p:spPr>
          <a:xfrm>
            <a:off x="365760" y="1645920"/>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Across all 3 products</a:t>
            </a:r>
            <a:endParaRPr b="0" i="0" sz="800" u="none" cap="none" strike="noStrike">
              <a:solidFill>
                <a:srgbClr val="000000"/>
              </a:solidFill>
              <a:latin typeface="Calibri"/>
              <a:ea typeface="Calibri"/>
              <a:cs typeface="Calibri"/>
              <a:sym typeface="Calibri"/>
            </a:endParaRPr>
          </a:p>
        </p:txBody>
      </p:sp>
      <p:sp>
        <p:nvSpPr>
          <p:cNvPr id="172" name="Google Shape;172;p18"/>
          <p:cNvSpPr/>
          <p:nvPr/>
        </p:nvSpPr>
        <p:spPr>
          <a:xfrm>
            <a:off x="2487168" y="896112"/>
            <a:ext cx="1920300" cy="1005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8"/>
          <p:cNvSpPr/>
          <p:nvPr/>
        </p:nvSpPr>
        <p:spPr>
          <a:xfrm>
            <a:off x="2487168" y="896112"/>
            <a:ext cx="1920300" cy="54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8"/>
          <p:cNvSpPr/>
          <p:nvPr/>
        </p:nvSpPr>
        <p:spPr>
          <a:xfrm>
            <a:off x="2487168" y="950976"/>
            <a:ext cx="19203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3000"/>
              <a:buFont typeface="Calibri"/>
              <a:buNone/>
            </a:pPr>
            <a:r>
              <a:rPr b="1" i="0" lang="en-US" sz="3000" u="none" cap="none" strike="noStrike">
                <a:solidFill>
                  <a:srgbClr val="00A896"/>
                </a:solidFill>
                <a:latin typeface="Calibri"/>
                <a:ea typeface="Calibri"/>
                <a:cs typeface="Calibri"/>
                <a:sym typeface="Calibri"/>
              </a:rPr>
              <a:t>10+</a:t>
            </a:r>
            <a:endParaRPr b="0" i="0" sz="3000" u="none" cap="none" strike="noStrike">
              <a:solidFill>
                <a:srgbClr val="000000"/>
              </a:solidFill>
              <a:latin typeface="Calibri"/>
              <a:ea typeface="Calibri"/>
              <a:cs typeface="Calibri"/>
              <a:sym typeface="Calibri"/>
            </a:endParaRPr>
          </a:p>
        </p:txBody>
      </p:sp>
      <p:sp>
        <p:nvSpPr>
          <p:cNvPr id="175" name="Google Shape;175;p18"/>
          <p:cNvSpPr/>
          <p:nvPr/>
        </p:nvSpPr>
        <p:spPr>
          <a:xfrm>
            <a:off x="2487168" y="1426464"/>
            <a:ext cx="1920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1050"/>
              <a:buFont typeface="Calibri"/>
              <a:buNone/>
            </a:pPr>
            <a:r>
              <a:rPr b="1" i="0" lang="en-US" sz="1050" u="none" cap="none" strike="noStrike">
                <a:solidFill>
                  <a:srgbClr val="0F2044"/>
                </a:solidFill>
                <a:latin typeface="Calibri"/>
                <a:ea typeface="Calibri"/>
                <a:cs typeface="Calibri"/>
                <a:sym typeface="Calibri"/>
              </a:rPr>
              <a:t>Web Sources</a:t>
            </a:r>
            <a:endParaRPr b="0" i="0" sz="1050" u="none" cap="none" strike="noStrike">
              <a:solidFill>
                <a:srgbClr val="000000"/>
              </a:solidFill>
              <a:latin typeface="Calibri"/>
              <a:ea typeface="Calibri"/>
              <a:cs typeface="Calibri"/>
              <a:sym typeface="Calibri"/>
            </a:endParaRPr>
          </a:p>
        </p:txBody>
      </p:sp>
      <p:sp>
        <p:nvSpPr>
          <p:cNvPr id="176" name="Google Shape;176;p18"/>
          <p:cNvSpPr/>
          <p:nvPr/>
        </p:nvSpPr>
        <p:spPr>
          <a:xfrm>
            <a:off x="2487168" y="1645920"/>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Per-product multi-source coverage</a:t>
            </a:r>
            <a:endParaRPr b="0" i="0" sz="800" u="none" cap="none" strike="noStrike">
              <a:solidFill>
                <a:srgbClr val="000000"/>
              </a:solidFill>
              <a:latin typeface="Calibri"/>
              <a:ea typeface="Calibri"/>
              <a:cs typeface="Calibri"/>
              <a:sym typeface="Calibri"/>
            </a:endParaRPr>
          </a:p>
        </p:txBody>
      </p:sp>
      <p:sp>
        <p:nvSpPr>
          <p:cNvPr id="177" name="Google Shape;177;p18"/>
          <p:cNvSpPr/>
          <p:nvPr/>
        </p:nvSpPr>
        <p:spPr>
          <a:xfrm>
            <a:off x="4608576" y="896112"/>
            <a:ext cx="1920300" cy="1005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8"/>
          <p:cNvSpPr/>
          <p:nvPr/>
        </p:nvSpPr>
        <p:spPr>
          <a:xfrm>
            <a:off x="4608576" y="896112"/>
            <a:ext cx="1920300" cy="54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8"/>
          <p:cNvSpPr/>
          <p:nvPr/>
        </p:nvSpPr>
        <p:spPr>
          <a:xfrm>
            <a:off x="4608576" y="950976"/>
            <a:ext cx="19203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3000"/>
              <a:buFont typeface="Calibri"/>
              <a:buNone/>
            </a:pPr>
            <a:r>
              <a:rPr b="1" i="0" lang="en-US" sz="3000" u="none" cap="none" strike="noStrike">
                <a:solidFill>
                  <a:srgbClr val="00A896"/>
                </a:solidFill>
                <a:latin typeface="Calibri"/>
                <a:ea typeface="Calibri"/>
                <a:cs typeface="Calibri"/>
                <a:sym typeface="Calibri"/>
              </a:rPr>
              <a:t>2</a:t>
            </a:r>
            <a:endParaRPr b="0" i="0" sz="3000" u="none" cap="none" strike="noStrike">
              <a:solidFill>
                <a:srgbClr val="000000"/>
              </a:solidFill>
              <a:latin typeface="Calibri"/>
              <a:ea typeface="Calibri"/>
              <a:cs typeface="Calibri"/>
              <a:sym typeface="Calibri"/>
            </a:endParaRPr>
          </a:p>
        </p:txBody>
      </p:sp>
      <p:sp>
        <p:nvSpPr>
          <p:cNvPr id="180" name="Google Shape;180;p18"/>
          <p:cNvSpPr/>
          <p:nvPr/>
        </p:nvSpPr>
        <p:spPr>
          <a:xfrm>
            <a:off x="4608576" y="1426464"/>
            <a:ext cx="1920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1050"/>
              <a:buFont typeface="Calibri"/>
              <a:buNone/>
            </a:pPr>
            <a:r>
              <a:rPr b="1" i="0" lang="en-US" sz="1050" u="none" cap="none" strike="noStrike">
                <a:solidFill>
                  <a:srgbClr val="0F2044"/>
                </a:solidFill>
                <a:latin typeface="Calibri"/>
                <a:ea typeface="Calibri"/>
                <a:cs typeface="Calibri"/>
                <a:sym typeface="Calibri"/>
              </a:rPr>
              <a:t>NLP Models</a:t>
            </a:r>
            <a:endParaRPr b="0" i="0" sz="1050" u="none" cap="none" strike="noStrike">
              <a:solidFill>
                <a:srgbClr val="000000"/>
              </a:solidFill>
              <a:latin typeface="Calibri"/>
              <a:ea typeface="Calibri"/>
              <a:cs typeface="Calibri"/>
              <a:sym typeface="Calibri"/>
            </a:endParaRPr>
          </a:p>
        </p:txBody>
      </p:sp>
      <p:sp>
        <p:nvSpPr>
          <p:cNvPr id="181" name="Google Shape;181;p18"/>
          <p:cNvSpPr/>
          <p:nvPr/>
        </p:nvSpPr>
        <p:spPr>
          <a:xfrm>
            <a:off x="4608576" y="1645920"/>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VADER + TextBlob dual validation</a:t>
            </a:r>
            <a:endParaRPr b="0" i="0" sz="800" u="none" cap="none" strike="noStrike">
              <a:solidFill>
                <a:srgbClr val="000000"/>
              </a:solidFill>
              <a:latin typeface="Calibri"/>
              <a:ea typeface="Calibri"/>
              <a:cs typeface="Calibri"/>
              <a:sym typeface="Calibri"/>
            </a:endParaRPr>
          </a:p>
        </p:txBody>
      </p:sp>
      <p:sp>
        <p:nvSpPr>
          <p:cNvPr id="182" name="Google Shape;182;p18"/>
          <p:cNvSpPr/>
          <p:nvPr/>
        </p:nvSpPr>
        <p:spPr>
          <a:xfrm>
            <a:off x="6729984" y="896112"/>
            <a:ext cx="1920300" cy="10059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8"/>
          <p:cNvSpPr/>
          <p:nvPr/>
        </p:nvSpPr>
        <p:spPr>
          <a:xfrm>
            <a:off x="6729984" y="896112"/>
            <a:ext cx="1920300" cy="549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a:off x="6729984" y="950976"/>
            <a:ext cx="19203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A896"/>
              </a:buClr>
              <a:buSzPts val="3000"/>
              <a:buFont typeface="Calibri"/>
              <a:buNone/>
            </a:pPr>
            <a:r>
              <a:rPr b="1" i="0" lang="en-US" sz="3000" u="none" cap="none" strike="noStrike">
                <a:solidFill>
                  <a:srgbClr val="00A896"/>
                </a:solidFill>
                <a:latin typeface="Calibri"/>
                <a:ea typeface="Calibri"/>
                <a:cs typeface="Calibri"/>
                <a:sym typeface="Calibri"/>
              </a:rPr>
              <a:t>4</a:t>
            </a:r>
            <a:endParaRPr b="0" i="0" sz="3000" u="none" cap="none" strike="noStrike">
              <a:solidFill>
                <a:srgbClr val="000000"/>
              </a:solidFill>
              <a:latin typeface="Calibri"/>
              <a:ea typeface="Calibri"/>
              <a:cs typeface="Calibri"/>
              <a:sym typeface="Calibri"/>
            </a:endParaRPr>
          </a:p>
        </p:txBody>
      </p:sp>
      <p:sp>
        <p:nvSpPr>
          <p:cNvPr id="185" name="Google Shape;185;p18"/>
          <p:cNvSpPr/>
          <p:nvPr/>
        </p:nvSpPr>
        <p:spPr>
          <a:xfrm>
            <a:off x="6729984" y="1426464"/>
            <a:ext cx="1920300" cy="219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1050"/>
              <a:buFont typeface="Calibri"/>
              <a:buNone/>
            </a:pPr>
            <a:r>
              <a:rPr b="1" i="0" lang="en-US" sz="1050" u="none" cap="none" strike="noStrike">
                <a:solidFill>
                  <a:srgbClr val="0F2044"/>
                </a:solidFill>
                <a:latin typeface="Calibri"/>
                <a:ea typeface="Calibri"/>
                <a:cs typeface="Calibri"/>
                <a:sym typeface="Calibri"/>
              </a:rPr>
              <a:t>Data Columns</a:t>
            </a:r>
            <a:endParaRPr b="0" i="0" sz="1050" u="none" cap="none" strike="noStrike">
              <a:solidFill>
                <a:srgbClr val="000000"/>
              </a:solidFill>
              <a:latin typeface="Calibri"/>
              <a:ea typeface="Calibri"/>
              <a:cs typeface="Calibri"/>
              <a:sym typeface="Calibri"/>
            </a:endParaRPr>
          </a:p>
        </p:txBody>
      </p:sp>
      <p:sp>
        <p:nvSpPr>
          <p:cNvPr id="186" name="Google Shape;186;p18"/>
          <p:cNvSpPr/>
          <p:nvPr/>
        </p:nvSpPr>
        <p:spPr>
          <a:xfrm>
            <a:off x="6729984" y="1645920"/>
            <a:ext cx="1920300" cy="201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4748B"/>
              </a:buClr>
              <a:buSzPts val="800"/>
              <a:buFont typeface="Calibri"/>
              <a:buNone/>
            </a:pPr>
            <a:r>
              <a:rPr b="0" i="0" lang="en-US" sz="800" u="none" cap="none" strike="noStrike">
                <a:solidFill>
                  <a:srgbClr val="64748B"/>
                </a:solidFill>
                <a:latin typeface="Calibri"/>
                <a:ea typeface="Calibri"/>
                <a:cs typeface="Calibri"/>
                <a:sym typeface="Calibri"/>
              </a:rPr>
              <a:t>product · source · url · clean_text</a:t>
            </a:r>
            <a:endParaRPr b="0" i="0" sz="800" u="none" cap="none" strike="noStrike">
              <a:solidFill>
                <a:srgbClr val="000000"/>
              </a:solidFill>
              <a:latin typeface="Calibri"/>
              <a:ea typeface="Calibri"/>
              <a:cs typeface="Calibri"/>
              <a:sym typeface="Calibri"/>
            </a:endParaRPr>
          </a:p>
        </p:txBody>
      </p:sp>
      <p:sp>
        <p:nvSpPr>
          <p:cNvPr id="187" name="Google Shape;187;p18"/>
          <p:cNvSpPr/>
          <p:nvPr/>
        </p:nvSpPr>
        <p:spPr>
          <a:xfrm>
            <a:off x="365760" y="2029968"/>
            <a:ext cx="4114800" cy="25146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
          <p:cNvSpPr/>
          <p:nvPr/>
        </p:nvSpPr>
        <p:spPr>
          <a:xfrm>
            <a:off x="365760" y="2029968"/>
            <a:ext cx="54900" cy="25146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8"/>
          <p:cNvSpPr/>
          <p:nvPr/>
        </p:nvSpPr>
        <p:spPr>
          <a:xfrm>
            <a:off x="502920" y="2084832"/>
            <a:ext cx="3840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Review Volume by Product</a:t>
            </a:r>
            <a:endParaRPr b="0" i="0" sz="1200" u="none" cap="none" strike="noStrike">
              <a:solidFill>
                <a:srgbClr val="000000"/>
              </a:solidFill>
              <a:latin typeface="Calibri"/>
              <a:ea typeface="Calibri"/>
              <a:cs typeface="Calibri"/>
              <a:sym typeface="Calibri"/>
            </a:endParaRPr>
          </a:p>
        </p:txBody>
      </p:sp>
      <p:sp>
        <p:nvSpPr>
          <p:cNvPr id="190" name="Google Shape;190;p18"/>
          <p:cNvSpPr/>
          <p:nvPr/>
        </p:nvSpPr>
        <p:spPr>
          <a:xfrm>
            <a:off x="502920" y="2450592"/>
            <a:ext cx="2286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950"/>
              <a:buFont typeface="Calibri"/>
              <a:buNone/>
            </a:pPr>
            <a:r>
              <a:rPr b="0" i="0" lang="en-US" sz="950" u="none" cap="none" strike="noStrike">
                <a:solidFill>
                  <a:srgbClr val="0F2044"/>
                </a:solidFill>
                <a:latin typeface="Calibri"/>
                <a:ea typeface="Calibri"/>
                <a:cs typeface="Calibri"/>
                <a:sym typeface="Calibri"/>
              </a:rPr>
              <a:t>Sony VAIO</a:t>
            </a:r>
            <a:endParaRPr b="0" i="0" sz="950" u="none" cap="none" strike="noStrike">
              <a:solidFill>
                <a:srgbClr val="000000"/>
              </a:solidFill>
              <a:latin typeface="Calibri"/>
              <a:ea typeface="Calibri"/>
              <a:cs typeface="Calibri"/>
              <a:sym typeface="Calibri"/>
            </a:endParaRPr>
          </a:p>
        </p:txBody>
      </p:sp>
      <p:sp>
        <p:nvSpPr>
          <p:cNvPr id="191" name="Google Shape;191;p18"/>
          <p:cNvSpPr/>
          <p:nvPr/>
        </p:nvSpPr>
        <p:spPr>
          <a:xfrm>
            <a:off x="502920" y="2670048"/>
            <a:ext cx="2501700" cy="237600"/>
          </a:xfrm>
          <a:prstGeom prst="rect">
            <a:avLst/>
          </a:prstGeom>
          <a:solidFill>
            <a:srgbClr val="00A896">
              <a:alpha val="80000"/>
            </a:srgbClr>
          </a:solidFill>
          <a:ln cap="flat" cmpd="sng" w="12700">
            <a:solidFill>
              <a:srgbClr val="00A896">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8"/>
          <p:cNvSpPr/>
          <p:nvPr/>
        </p:nvSpPr>
        <p:spPr>
          <a:xfrm>
            <a:off x="3077870" y="2688336"/>
            <a:ext cx="822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alibri"/>
              <a:buNone/>
            </a:pPr>
            <a:r>
              <a:rPr b="1" i="0" lang="en-US" sz="900" u="none" cap="none" strike="noStrike">
                <a:solidFill>
                  <a:srgbClr val="00A896"/>
                </a:solidFill>
                <a:latin typeface="Calibri"/>
                <a:ea typeface="Calibri"/>
                <a:cs typeface="Calibri"/>
                <a:sym typeface="Calibri"/>
              </a:rPr>
              <a:t>~60 reviews</a:t>
            </a:r>
            <a:endParaRPr b="0" i="0" sz="900" u="none" cap="none" strike="noStrike">
              <a:solidFill>
                <a:srgbClr val="000000"/>
              </a:solidFill>
              <a:latin typeface="Calibri"/>
              <a:ea typeface="Calibri"/>
              <a:cs typeface="Calibri"/>
              <a:sym typeface="Calibri"/>
            </a:endParaRPr>
          </a:p>
        </p:txBody>
      </p:sp>
      <p:sp>
        <p:nvSpPr>
          <p:cNvPr id="193" name="Google Shape;193;p18"/>
          <p:cNvSpPr/>
          <p:nvPr/>
        </p:nvSpPr>
        <p:spPr>
          <a:xfrm>
            <a:off x="502920" y="3108960"/>
            <a:ext cx="2286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950"/>
              <a:buFont typeface="Calibri"/>
              <a:buNone/>
            </a:pPr>
            <a:r>
              <a:rPr b="0" i="0" lang="en-US" sz="950" u="none" cap="none" strike="noStrike">
                <a:solidFill>
                  <a:srgbClr val="0F2044"/>
                </a:solidFill>
                <a:latin typeface="Calibri"/>
                <a:ea typeface="Calibri"/>
                <a:cs typeface="Calibri"/>
                <a:sym typeface="Calibri"/>
              </a:rPr>
              <a:t>Sony PlayStation Vue</a:t>
            </a:r>
            <a:endParaRPr b="0" i="0" sz="950" u="none" cap="none" strike="noStrike">
              <a:solidFill>
                <a:srgbClr val="000000"/>
              </a:solidFill>
              <a:latin typeface="Calibri"/>
              <a:ea typeface="Calibri"/>
              <a:cs typeface="Calibri"/>
              <a:sym typeface="Calibri"/>
            </a:endParaRPr>
          </a:p>
        </p:txBody>
      </p:sp>
      <p:sp>
        <p:nvSpPr>
          <p:cNvPr id="194" name="Google Shape;194;p18"/>
          <p:cNvSpPr/>
          <p:nvPr/>
        </p:nvSpPr>
        <p:spPr>
          <a:xfrm>
            <a:off x="502920" y="3328416"/>
            <a:ext cx="2293200" cy="237600"/>
          </a:xfrm>
          <a:prstGeom prst="rect">
            <a:avLst/>
          </a:prstGeom>
          <a:solidFill>
            <a:srgbClr val="3B82F6">
              <a:alpha val="80000"/>
            </a:srgbClr>
          </a:solidFill>
          <a:ln cap="flat" cmpd="sng" w="12700">
            <a:solidFill>
              <a:srgbClr val="3B82F6">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8"/>
          <p:cNvSpPr/>
          <p:nvPr/>
        </p:nvSpPr>
        <p:spPr>
          <a:xfrm>
            <a:off x="2869387" y="3346704"/>
            <a:ext cx="822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B82F6"/>
              </a:buClr>
              <a:buSzPts val="900"/>
              <a:buFont typeface="Calibri"/>
              <a:buNone/>
            </a:pPr>
            <a:r>
              <a:rPr b="1" i="0" lang="en-US" sz="900" u="none" cap="none" strike="noStrike">
                <a:solidFill>
                  <a:srgbClr val="3B82F6"/>
                </a:solidFill>
                <a:latin typeface="Calibri"/>
                <a:ea typeface="Calibri"/>
                <a:cs typeface="Calibri"/>
                <a:sym typeface="Calibri"/>
              </a:rPr>
              <a:t>~55 reviews</a:t>
            </a:r>
            <a:endParaRPr b="0" i="0" sz="900" u="none" cap="none" strike="noStrike">
              <a:solidFill>
                <a:srgbClr val="000000"/>
              </a:solidFill>
              <a:latin typeface="Calibri"/>
              <a:ea typeface="Calibri"/>
              <a:cs typeface="Calibri"/>
              <a:sym typeface="Calibri"/>
            </a:endParaRPr>
          </a:p>
        </p:txBody>
      </p:sp>
      <p:sp>
        <p:nvSpPr>
          <p:cNvPr id="196" name="Google Shape;196;p18"/>
          <p:cNvSpPr/>
          <p:nvPr/>
        </p:nvSpPr>
        <p:spPr>
          <a:xfrm>
            <a:off x="502920" y="3767328"/>
            <a:ext cx="22860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950"/>
              <a:buFont typeface="Calibri"/>
              <a:buNone/>
            </a:pPr>
            <a:r>
              <a:rPr b="0" i="0" lang="en-US" sz="950" u="none" cap="none" strike="noStrike">
                <a:solidFill>
                  <a:srgbClr val="0F2044"/>
                </a:solidFill>
                <a:latin typeface="Calibri"/>
                <a:ea typeface="Calibri"/>
                <a:cs typeface="Calibri"/>
                <a:sym typeface="Calibri"/>
              </a:rPr>
              <a:t>Sony PlayMemories Online</a:t>
            </a:r>
            <a:endParaRPr b="0" i="0" sz="950" u="none" cap="none" strike="noStrike">
              <a:solidFill>
                <a:srgbClr val="000000"/>
              </a:solidFill>
              <a:latin typeface="Calibri"/>
              <a:ea typeface="Calibri"/>
              <a:cs typeface="Calibri"/>
              <a:sym typeface="Calibri"/>
            </a:endParaRPr>
          </a:p>
        </p:txBody>
      </p:sp>
      <p:sp>
        <p:nvSpPr>
          <p:cNvPr id="197" name="Google Shape;197;p18"/>
          <p:cNvSpPr/>
          <p:nvPr/>
        </p:nvSpPr>
        <p:spPr>
          <a:xfrm>
            <a:off x="502920" y="3986784"/>
            <a:ext cx="2119500" cy="237600"/>
          </a:xfrm>
          <a:prstGeom prst="rect">
            <a:avLst/>
          </a:prstGeom>
          <a:solidFill>
            <a:srgbClr val="EF4444">
              <a:alpha val="80000"/>
            </a:srgbClr>
          </a:solidFill>
          <a:ln cap="flat" cmpd="sng" w="12700">
            <a:solidFill>
              <a:srgbClr val="EF4444">
                <a:alpha val="8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8"/>
          <p:cNvSpPr/>
          <p:nvPr/>
        </p:nvSpPr>
        <p:spPr>
          <a:xfrm>
            <a:off x="2695651" y="4005072"/>
            <a:ext cx="8229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F4444"/>
              </a:buClr>
              <a:buSzPts val="900"/>
              <a:buFont typeface="Calibri"/>
              <a:buNone/>
            </a:pPr>
            <a:r>
              <a:rPr b="1" i="0" lang="en-US" sz="900" u="none" cap="none" strike="noStrike">
                <a:solidFill>
                  <a:srgbClr val="EF4444"/>
                </a:solidFill>
                <a:latin typeface="Calibri"/>
                <a:ea typeface="Calibri"/>
                <a:cs typeface="Calibri"/>
                <a:sym typeface="Calibri"/>
              </a:rPr>
              <a:t>~51 reviews</a:t>
            </a:r>
            <a:endParaRPr b="0" i="0" sz="900" u="none" cap="none" strike="noStrike">
              <a:solidFill>
                <a:srgbClr val="000000"/>
              </a:solidFill>
              <a:latin typeface="Calibri"/>
              <a:ea typeface="Calibri"/>
              <a:cs typeface="Calibri"/>
              <a:sym typeface="Calibri"/>
            </a:endParaRPr>
          </a:p>
        </p:txBody>
      </p:sp>
      <p:sp>
        <p:nvSpPr>
          <p:cNvPr id="199" name="Google Shape;199;p18"/>
          <p:cNvSpPr/>
          <p:nvPr/>
        </p:nvSpPr>
        <p:spPr>
          <a:xfrm>
            <a:off x="4663440" y="2029968"/>
            <a:ext cx="4114800" cy="2514600"/>
          </a:xfrm>
          <a:prstGeom prst="rect">
            <a:avLst/>
          </a:prstGeom>
          <a:solidFill>
            <a:srgbClr val="1E293B"/>
          </a:solidFill>
          <a:ln cap="flat" cmpd="sng" w="12700">
            <a:solidFill>
              <a:srgbClr val="334155"/>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
          <p:cNvSpPr/>
          <p:nvPr/>
        </p:nvSpPr>
        <p:spPr>
          <a:xfrm>
            <a:off x="4800600" y="2103120"/>
            <a:ext cx="38406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i="0" lang="en-US" sz="1100" u="none" cap="none" strike="noStrike">
                <a:solidFill>
                  <a:srgbClr val="02C39A"/>
                </a:solidFill>
                <a:latin typeface="Calibri"/>
                <a:ea typeface="Calibri"/>
                <a:cs typeface="Calibri"/>
                <a:sym typeface="Calibri"/>
              </a:rPr>
              <a:t>Dataset Schema</a:t>
            </a:r>
            <a:endParaRPr b="0" i="0" sz="1100" u="none" cap="none" strike="noStrike">
              <a:solidFill>
                <a:srgbClr val="000000"/>
              </a:solidFill>
              <a:latin typeface="Calibri"/>
              <a:ea typeface="Calibri"/>
              <a:cs typeface="Calibri"/>
              <a:sym typeface="Calibri"/>
            </a:endParaRPr>
          </a:p>
        </p:txBody>
      </p:sp>
      <p:sp>
        <p:nvSpPr>
          <p:cNvPr id="201" name="Google Shape;201;p18"/>
          <p:cNvSpPr/>
          <p:nvPr/>
        </p:nvSpPr>
        <p:spPr>
          <a:xfrm>
            <a:off x="4800600" y="241401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product</a:t>
            </a:r>
            <a:endParaRPr b="0" i="0" sz="900" u="none" cap="none" strike="noStrike">
              <a:solidFill>
                <a:srgbClr val="000000"/>
              </a:solidFill>
              <a:latin typeface="Calibri"/>
              <a:ea typeface="Calibri"/>
              <a:cs typeface="Calibri"/>
              <a:sym typeface="Calibri"/>
            </a:endParaRPr>
          </a:p>
        </p:txBody>
      </p:sp>
      <p:sp>
        <p:nvSpPr>
          <p:cNvPr id="202" name="Google Shape;202;p18"/>
          <p:cNvSpPr/>
          <p:nvPr/>
        </p:nvSpPr>
        <p:spPr>
          <a:xfrm>
            <a:off x="6236208" y="241401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str</a:t>
            </a:r>
            <a:endParaRPr b="0" i="0" sz="800" u="none" cap="none" strike="noStrike">
              <a:solidFill>
                <a:srgbClr val="000000"/>
              </a:solidFill>
              <a:latin typeface="Calibri"/>
              <a:ea typeface="Calibri"/>
              <a:cs typeface="Calibri"/>
              <a:sym typeface="Calibri"/>
            </a:endParaRPr>
          </a:p>
        </p:txBody>
      </p:sp>
      <p:sp>
        <p:nvSpPr>
          <p:cNvPr id="203" name="Google Shape;203;p18"/>
          <p:cNvSpPr/>
          <p:nvPr/>
        </p:nvSpPr>
        <p:spPr>
          <a:xfrm>
            <a:off x="6748272" y="241401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Sony VAIO / PlayMemories / PS Vue</a:t>
            </a:r>
            <a:endParaRPr b="0" i="0" sz="850" u="none" cap="none" strike="noStrike">
              <a:solidFill>
                <a:srgbClr val="000000"/>
              </a:solidFill>
              <a:latin typeface="Calibri"/>
              <a:ea typeface="Calibri"/>
              <a:cs typeface="Calibri"/>
              <a:sym typeface="Calibri"/>
            </a:endParaRPr>
          </a:p>
        </p:txBody>
      </p:sp>
      <p:sp>
        <p:nvSpPr>
          <p:cNvPr id="204" name="Google Shape;204;p18"/>
          <p:cNvSpPr/>
          <p:nvPr/>
        </p:nvSpPr>
        <p:spPr>
          <a:xfrm>
            <a:off x="4800600" y="273405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source</a:t>
            </a:r>
            <a:endParaRPr b="0" i="0" sz="900" u="none" cap="none" strike="noStrike">
              <a:solidFill>
                <a:srgbClr val="000000"/>
              </a:solidFill>
              <a:latin typeface="Calibri"/>
              <a:ea typeface="Calibri"/>
              <a:cs typeface="Calibri"/>
              <a:sym typeface="Calibri"/>
            </a:endParaRPr>
          </a:p>
        </p:txBody>
      </p:sp>
      <p:sp>
        <p:nvSpPr>
          <p:cNvPr id="205" name="Google Shape;205;p18"/>
          <p:cNvSpPr/>
          <p:nvPr/>
        </p:nvSpPr>
        <p:spPr>
          <a:xfrm>
            <a:off x="6236208" y="273405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str</a:t>
            </a:r>
            <a:endParaRPr b="0" i="0" sz="800" u="none" cap="none" strike="noStrike">
              <a:solidFill>
                <a:srgbClr val="000000"/>
              </a:solidFill>
              <a:latin typeface="Calibri"/>
              <a:ea typeface="Calibri"/>
              <a:cs typeface="Calibri"/>
              <a:sym typeface="Calibri"/>
            </a:endParaRPr>
          </a:p>
        </p:txBody>
      </p:sp>
      <p:sp>
        <p:nvSpPr>
          <p:cNvPr id="206" name="Google Shape;206;p18"/>
          <p:cNvSpPr/>
          <p:nvPr/>
        </p:nvSpPr>
        <p:spPr>
          <a:xfrm>
            <a:off x="6748272" y="273405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Wikipedia, TechRadar, etc.</a:t>
            </a:r>
            <a:endParaRPr b="0" i="0" sz="850" u="none" cap="none" strike="noStrike">
              <a:solidFill>
                <a:srgbClr val="000000"/>
              </a:solidFill>
              <a:latin typeface="Calibri"/>
              <a:ea typeface="Calibri"/>
              <a:cs typeface="Calibri"/>
              <a:sym typeface="Calibri"/>
            </a:endParaRPr>
          </a:p>
        </p:txBody>
      </p:sp>
      <p:sp>
        <p:nvSpPr>
          <p:cNvPr id="207" name="Google Shape;207;p18"/>
          <p:cNvSpPr/>
          <p:nvPr/>
        </p:nvSpPr>
        <p:spPr>
          <a:xfrm>
            <a:off x="4800600" y="305409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url</a:t>
            </a:r>
            <a:endParaRPr b="0" i="0" sz="900" u="none" cap="none" strike="noStrike">
              <a:solidFill>
                <a:srgbClr val="000000"/>
              </a:solidFill>
              <a:latin typeface="Calibri"/>
              <a:ea typeface="Calibri"/>
              <a:cs typeface="Calibri"/>
              <a:sym typeface="Calibri"/>
            </a:endParaRPr>
          </a:p>
        </p:txBody>
      </p:sp>
      <p:sp>
        <p:nvSpPr>
          <p:cNvPr id="208" name="Google Shape;208;p18"/>
          <p:cNvSpPr/>
          <p:nvPr/>
        </p:nvSpPr>
        <p:spPr>
          <a:xfrm>
            <a:off x="6236208" y="305409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str</a:t>
            </a:r>
            <a:endParaRPr b="0" i="0" sz="800" u="none" cap="none" strike="noStrike">
              <a:solidFill>
                <a:srgbClr val="000000"/>
              </a:solidFill>
              <a:latin typeface="Calibri"/>
              <a:ea typeface="Calibri"/>
              <a:cs typeface="Calibri"/>
              <a:sym typeface="Calibri"/>
            </a:endParaRPr>
          </a:p>
        </p:txBody>
      </p:sp>
      <p:sp>
        <p:nvSpPr>
          <p:cNvPr id="209" name="Google Shape;209;p18"/>
          <p:cNvSpPr/>
          <p:nvPr/>
        </p:nvSpPr>
        <p:spPr>
          <a:xfrm>
            <a:off x="6748272" y="305409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Original source URL</a:t>
            </a:r>
            <a:endParaRPr b="0" i="0" sz="850" u="none" cap="none" strike="noStrike">
              <a:solidFill>
                <a:srgbClr val="000000"/>
              </a:solidFill>
              <a:latin typeface="Calibri"/>
              <a:ea typeface="Calibri"/>
              <a:cs typeface="Calibri"/>
              <a:sym typeface="Calibri"/>
            </a:endParaRPr>
          </a:p>
        </p:txBody>
      </p:sp>
      <p:sp>
        <p:nvSpPr>
          <p:cNvPr id="210" name="Google Shape;210;p18"/>
          <p:cNvSpPr/>
          <p:nvPr/>
        </p:nvSpPr>
        <p:spPr>
          <a:xfrm>
            <a:off x="4800600" y="337413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clean_text</a:t>
            </a:r>
            <a:endParaRPr b="0" i="0" sz="900" u="none" cap="none" strike="noStrike">
              <a:solidFill>
                <a:srgbClr val="000000"/>
              </a:solidFill>
              <a:latin typeface="Calibri"/>
              <a:ea typeface="Calibri"/>
              <a:cs typeface="Calibri"/>
              <a:sym typeface="Calibri"/>
            </a:endParaRPr>
          </a:p>
        </p:txBody>
      </p:sp>
      <p:sp>
        <p:nvSpPr>
          <p:cNvPr id="211" name="Google Shape;211;p18"/>
          <p:cNvSpPr/>
          <p:nvPr/>
        </p:nvSpPr>
        <p:spPr>
          <a:xfrm>
            <a:off x="6236208" y="337413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str</a:t>
            </a:r>
            <a:endParaRPr b="0" i="0" sz="800" u="none" cap="none" strike="noStrike">
              <a:solidFill>
                <a:srgbClr val="000000"/>
              </a:solidFill>
              <a:latin typeface="Calibri"/>
              <a:ea typeface="Calibri"/>
              <a:cs typeface="Calibri"/>
              <a:sym typeface="Calibri"/>
            </a:endParaRPr>
          </a:p>
        </p:txBody>
      </p:sp>
      <p:sp>
        <p:nvSpPr>
          <p:cNvPr id="212" name="Google Shape;212;p18"/>
          <p:cNvSpPr/>
          <p:nvPr/>
        </p:nvSpPr>
        <p:spPr>
          <a:xfrm>
            <a:off x="6748272" y="337413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Cleaned paragraph-level text</a:t>
            </a:r>
            <a:endParaRPr b="0" i="0" sz="850" u="none" cap="none" strike="noStrike">
              <a:solidFill>
                <a:srgbClr val="000000"/>
              </a:solidFill>
              <a:latin typeface="Calibri"/>
              <a:ea typeface="Calibri"/>
              <a:cs typeface="Calibri"/>
              <a:sym typeface="Calibri"/>
            </a:endParaRPr>
          </a:p>
        </p:txBody>
      </p:sp>
      <p:sp>
        <p:nvSpPr>
          <p:cNvPr id="213" name="Google Shape;213;p18"/>
          <p:cNvSpPr/>
          <p:nvPr/>
        </p:nvSpPr>
        <p:spPr>
          <a:xfrm>
            <a:off x="4800600" y="369417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vader_score</a:t>
            </a:r>
            <a:endParaRPr b="0" i="0" sz="900" u="none" cap="none" strike="noStrike">
              <a:solidFill>
                <a:srgbClr val="000000"/>
              </a:solidFill>
              <a:latin typeface="Calibri"/>
              <a:ea typeface="Calibri"/>
              <a:cs typeface="Calibri"/>
              <a:sym typeface="Calibri"/>
            </a:endParaRPr>
          </a:p>
        </p:txBody>
      </p:sp>
      <p:sp>
        <p:nvSpPr>
          <p:cNvPr id="214" name="Google Shape;214;p18"/>
          <p:cNvSpPr/>
          <p:nvPr/>
        </p:nvSpPr>
        <p:spPr>
          <a:xfrm>
            <a:off x="6236208" y="369417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float</a:t>
            </a:r>
            <a:endParaRPr b="0" i="0" sz="800" u="none" cap="none" strike="noStrike">
              <a:solidFill>
                <a:srgbClr val="000000"/>
              </a:solidFill>
              <a:latin typeface="Calibri"/>
              <a:ea typeface="Calibri"/>
              <a:cs typeface="Calibri"/>
              <a:sym typeface="Calibri"/>
            </a:endParaRPr>
          </a:p>
        </p:txBody>
      </p:sp>
      <p:sp>
        <p:nvSpPr>
          <p:cNvPr id="215" name="Google Shape;215;p18"/>
          <p:cNvSpPr/>
          <p:nvPr/>
        </p:nvSpPr>
        <p:spPr>
          <a:xfrm>
            <a:off x="6748272" y="369417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VADER compound score (−1 to +1)</a:t>
            </a:r>
            <a:endParaRPr b="0" i="0" sz="850" u="none" cap="none" strike="noStrike">
              <a:solidFill>
                <a:srgbClr val="000000"/>
              </a:solidFill>
              <a:latin typeface="Calibri"/>
              <a:ea typeface="Calibri"/>
              <a:cs typeface="Calibri"/>
              <a:sym typeface="Calibri"/>
            </a:endParaRPr>
          </a:p>
        </p:txBody>
      </p:sp>
      <p:sp>
        <p:nvSpPr>
          <p:cNvPr id="216" name="Google Shape;216;p18"/>
          <p:cNvSpPr/>
          <p:nvPr/>
        </p:nvSpPr>
        <p:spPr>
          <a:xfrm>
            <a:off x="4800600" y="4014216"/>
            <a:ext cx="13716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900"/>
              <a:buFont typeface="Consolas"/>
              <a:buNone/>
            </a:pPr>
            <a:r>
              <a:rPr b="1" i="0" lang="en-US" sz="900" u="none" cap="none" strike="noStrike">
                <a:solidFill>
                  <a:srgbClr val="00A896"/>
                </a:solidFill>
                <a:latin typeface="Consolas"/>
                <a:ea typeface="Consolas"/>
                <a:cs typeface="Consolas"/>
                <a:sym typeface="Consolas"/>
              </a:rPr>
              <a:t>sentiment_category</a:t>
            </a:r>
            <a:endParaRPr b="0" i="0" sz="900" u="none" cap="none" strike="noStrike">
              <a:solidFill>
                <a:srgbClr val="000000"/>
              </a:solidFill>
              <a:latin typeface="Calibri"/>
              <a:ea typeface="Calibri"/>
              <a:cs typeface="Calibri"/>
              <a:sym typeface="Calibri"/>
            </a:endParaRPr>
          </a:p>
        </p:txBody>
      </p:sp>
      <p:sp>
        <p:nvSpPr>
          <p:cNvPr id="217" name="Google Shape;217;p18"/>
          <p:cNvSpPr/>
          <p:nvPr/>
        </p:nvSpPr>
        <p:spPr>
          <a:xfrm>
            <a:off x="6236208" y="4014216"/>
            <a:ext cx="4572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4A3B8"/>
              </a:buClr>
              <a:buSzPts val="800"/>
              <a:buFont typeface="Consolas"/>
              <a:buNone/>
            </a:pPr>
            <a:r>
              <a:rPr b="0" i="0" lang="en-US" sz="800" u="none" cap="none" strike="noStrike">
                <a:solidFill>
                  <a:srgbClr val="94A3B8"/>
                </a:solidFill>
                <a:latin typeface="Consolas"/>
                <a:ea typeface="Consolas"/>
                <a:cs typeface="Consolas"/>
                <a:sym typeface="Consolas"/>
              </a:rPr>
              <a:t>str</a:t>
            </a:r>
            <a:endParaRPr b="0" i="0" sz="800" u="none" cap="none" strike="noStrike">
              <a:solidFill>
                <a:srgbClr val="000000"/>
              </a:solidFill>
              <a:latin typeface="Calibri"/>
              <a:ea typeface="Calibri"/>
              <a:cs typeface="Calibri"/>
              <a:sym typeface="Calibri"/>
            </a:endParaRPr>
          </a:p>
        </p:txBody>
      </p:sp>
      <p:sp>
        <p:nvSpPr>
          <p:cNvPr id="218" name="Google Shape;218;p18"/>
          <p:cNvSpPr/>
          <p:nvPr/>
        </p:nvSpPr>
        <p:spPr>
          <a:xfrm>
            <a:off x="6748272" y="4014216"/>
            <a:ext cx="19203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850"/>
              <a:buFont typeface="Calibri"/>
              <a:buNone/>
            </a:pPr>
            <a:r>
              <a:rPr b="0" i="0" lang="en-US" sz="850" u="none" cap="none" strike="noStrike">
                <a:solidFill>
                  <a:srgbClr val="CBD5E1"/>
                </a:solidFill>
                <a:latin typeface="Calibri"/>
                <a:ea typeface="Calibri"/>
                <a:cs typeface="Calibri"/>
                <a:sym typeface="Calibri"/>
              </a:rPr>
              <a:t>Positive / Neutral / Negative</a:t>
            </a:r>
            <a:endParaRPr b="0" i="0" sz="850" u="none" cap="none" strike="noStrike">
              <a:solidFill>
                <a:srgbClr val="000000"/>
              </a:solidFill>
              <a:latin typeface="Calibri"/>
              <a:ea typeface="Calibri"/>
              <a:cs typeface="Calibri"/>
              <a:sym typeface="Calibri"/>
            </a:endParaRPr>
          </a:p>
        </p:txBody>
      </p:sp>
      <p:sp>
        <p:nvSpPr>
          <p:cNvPr id="219" name="Google Shape;219;p18"/>
          <p:cNvSpPr/>
          <p:nvPr/>
        </p:nvSpPr>
        <p:spPr>
          <a:xfrm>
            <a:off x="365760" y="4626864"/>
            <a:ext cx="8412600" cy="292500"/>
          </a:xfrm>
          <a:prstGeom prst="rect">
            <a:avLst/>
          </a:prstGeom>
          <a:solidFill>
            <a:srgbClr val="EBF8F5"/>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8"/>
          <p:cNvSpPr/>
          <p:nvPr/>
        </p:nvSpPr>
        <p:spPr>
          <a:xfrm>
            <a:off x="502920" y="4654296"/>
            <a:ext cx="8138100" cy="237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900"/>
              <a:buFont typeface="Calibri"/>
              <a:buNone/>
            </a:pPr>
            <a:r>
              <a:rPr b="0" i="0" lang="en-US" sz="900" u="none" cap="none" strike="noStrike">
                <a:solidFill>
                  <a:srgbClr val="0F2044"/>
                </a:solidFill>
                <a:latin typeface="Calibri"/>
                <a:ea typeface="Calibri"/>
                <a:cs typeface="Calibri"/>
                <a:sym typeface="Calibri"/>
              </a:rPr>
              <a:t>Scraped using Python • BeautifulSoup • Playwright  |  Cleaned via Data_cleaning_script.ipynb  |  166 reviews retained after noise filtering</a:t>
            </a:r>
            <a:endParaRPr b="0" i="0" sz="9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25" name="Shape 225"/>
        <p:cNvGrpSpPr/>
        <p:nvPr/>
      </p:nvGrpSpPr>
      <p:grpSpPr>
        <a:xfrm>
          <a:off x="0" y="0"/>
          <a:ext cx="0" cy="0"/>
          <a:chOff x="0" y="0"/>
          <a:chExt cx="0" cy="0"/>
        </a:xfrm>
      </p:grpSpPr>
      <p:sp>
        <p:nvSpPr>
          <p:cNvPr id="226" name="Google Shape;226;p19"/>
          <p:cNvSpPr/>
          <p:nvPr/>
        </p:nvSpPr>
        <p:spPr>
          <a:xfrm>
            <a:off x="0" y="0"/>
            <a:ext cx="9144000" cy="658368"/>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9"/>
          <p:cNvSpPr/>
          <p:nvPr/>
        </p:nvSpPr>
        <p:spPr>
          <a:xfrm>
            <a:off x="365760" y="73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3</a:t>
            </a:r>
            <a:endParaRPr b="0" i="0" sz="800" u="none" cap="none" strike="noStrike">
              <a:solidFill>
                <a:schemeClr val="dk1"/>
              </a:solidFill>
              <a:latin typeface="Calibri"/>
              <a:ea typeface="Calibri"/>
              <a:cs typeface="Calibri"/>
              <a:sym typeface="Calibri"/>
            </a:endParaRPr>
          </a:p>
        </p:txBody>
      </p:sp>
      <p:sp>
        <p:nvSpPr>
          <p:cNvPr id="228" name="Google Shape;228;p19"/>
          <p:cNvSpPr/>
          <p:nvPr/>
        </p:nvSpPr>
        <p:spPr>
          <a:xfrm>
            <a:off x="365760" y="274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Data Scraping</a:t>
            </a:r>
            <a:endParaRPr b="0" i="0" sz="1800" u="none" cap="none" strike="noStrike">
              <a:solidFill>
                <a:schemeClr val="dk1"/>
              </a:solidFill>
              <a:latin typeface="Calibri"/>
              <a:ea typeface="Calibri"/>
              <a:cs typeface="Calibri"/>
              <a:sym typeface="Calibri"/>
            </a:endParaRPr>
          </a:p>
        </p:txBody>
      </p:sp>
      <p:sp>
        <p:nvSpPr>
          <p:cNvPr id="229" name="Google Shape;229;p19"/>
          <p:cNvSpPr/>
          <p:nvPr/>
        </p:nvSpPr>
        <p:spPr>
          <a:xfrm>
            <a:off x="8732520" y="164592"/>
            <a:ext cx="320040" cy="32004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9"/>
          <p:cNvSpPr/>
          <p:nvPr/>
        </p:nvSpPr>
        <p:spPr>
          <a:xfrm>
            <a:off x="365760" y="960120"/>
            <a:ext cx="3931920" cy="98755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9"/>
          <p:cNvSpPr/>
          <p:nvPr/>
        </p:nvSpPr>
        <p:spPr>
          <a:xfrm>
            <a:off x="365760" y="960120"/>
            <a:ext cx="54864" cy="98755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9"/>
          <p:cNvSpPr/>
          <p:nvPr/>
        </p:nvSpPr>
        <p:spPr>
          <a:xfrm>
            <a:off x="502920" y="1051560"/>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33" name="Google Shape;233;p19"/>
          <p:cNvSpPr/>
          <p:nvPr/>
        </p:nvSpPr>
        <p:spPr>
          <a:xfrm>
            <a:off x="502920" y="1371600"/>
            <a:ext cx="3703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Tools Used</a:t>
            </a:r>
            <a:endParaRPr b="0" i="0" sz="1200" u="none" cap="none" strike="noStrike">
              <a:solidFill>
                <a:schemeClr val="dk1"/>
              </a:solidFill>
              <a:latin typeface="Calibri"/>
              <a:ea typeface="Calibri"/>
              <a:cs typeface="Calibri"/>
              <a:sym typeface="Calibri"/>
            </a:endParaRPr>
          </a:p>
        </p:txBody>
      </p:sp>
      <p:sp>
        <p:nvSpPr>
          <p:cNvPr id="234" name="Google Shape;234;p19"/>
          <p:cNvSpPr/>
          <p:nvPr/>
        </p:nvSpPr>
        <p:spPr>
          <a:xfrm>
            <a:off x="502920" y="1664208"/>
            <a:ext cx="370332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Python • requests • BeautifulSoup • Playwright (for JS-heavy pages like DP Review forum)</a:t>
            </a:r>
            <a:endParaRPr b="0" i="0" sz="1000" u="none" cap="none" strike="noStrike">
              <a:solidFill>
                <a:schemeClr val="dk1"/>
              </a:solidFill>
              <a:latin typeface="Calibri"/>
              <a:ea typeface="Calibri"/>
              <a:cs typeface="Calibri"/>
              <a:sym typeface="Calibri"/>
            </a:endParaRPr>
          </a:p>
        </p:txBody>
      </p:sp>
      <p:sp>
        <p:nvSpPr>
          <p:cNvPr id="235" name="Google Shape;235;p19"/>
          <p:cNvSpPr/>
          <p:nvPr/>
        </p:nvSpPr>
        <p:spPr>
          <a:xfrm>
            <a:off x="365760" y="2029968"/>
            <a:ext cx="3931920" cy="98755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9"/>
          <p:cNvSpPr/>
          <p:nvPr/>
        </p:nvSpPr>
        <p:spPr>
          <a:xfrm>
            <a:off x="365760" y="2029968"/>
            <a:ext cx="54864" cy="98755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502920" y="2121408"/>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38" name="Google Shape;238;p19"/>
          <p:cNvSpPr/>
          <p:nvPr/>
        </p:nvSpPr>
        <p:spPr>
          <a:xfrm>
            <a:off x="502920" y="2441448"/>
            <a:ext cx="3703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Products Scraped</a:t>
            </a:r>
            <a:endParaRPr b="0" i="0" sz="1200" u="none" cap="none" strike="noStrike">
              <a:solidFill>
                <a:schemeClr val="dk1"/>
              </a:solidFill>
              <a:latin typeface="Calibri"/>
              <a:ea typeface="Calibri"/>
              <a:cs typeface="Calibri"/>
              <a:sym typeface="Calibri"/>
            </a:endParaRPr>
          </a:p>
        </p:txBody>
      </p:sp>
      <p:sp>
        <p:nvSpPr>
          <p:cNvPr id="239" name="Google Shape;239;p19"/>
          <p:cNvSpPr/>
          <p:nvPr/>
        </p:nvSpPr>
        <p:spPr>
          <a:xfrm>
            <a:off x="502920" y="2734056"/>
            <a:ext cx="370332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Sony VAIO  •  Sony PlayMemories Online  •  Sony PlayStation Vue</a:t>
            </a:r>
            <a:endParaRPr b="0" i="0" sz="1000" u="none" cap="none" strike="noStrike">
              <a:solidFill>
                <a:schemeClr val="dk1"/>
              </a:solidFill>
              <a:latin typeface="Calibri"/>
              <a:ea typeface="Calibri"/>
              <a:cs typeface="Calibri"/>
              <a:sym typeface="Calibri"/>
            </a:endParaRPr>
          </a:p>
        </p:txBody>
      </p:sp>
      <p:sp>
        <p:nvSpPr>
          <p:cNvPr id="240" name="Google Shape;240;p19"/>
          <p:cNvSpPr/>
          <p:nvPr/>
        </p:nvSpPr>
        <p:spPr>
          <a:xfrm>
            <a:off x="365760" y="3090672"/>
            <a:ext cx="3931920" cy="987552"/>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9"/>
          <p:cNvSpPr/>
          <p:nvPr/>
        </p:nvSpPr>
        <p:spPr>
          <a:xfrm>
            <a:off x="365760" y="3090672"/>
            <a:ext cx="54864" cy="987552"/>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9"/>
          <p:cNvSpPr/>
          <p:nvPr/>
        </p:nvSpPr>
        <p:spPr>
          <a:xfrm>
            <a:off x="502920" y="3182112"/>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43" name="Google Shape;243;p19"/>
          <p:cNvSpPr/>
          <p:nvPr/>
        </p:nvSpPr>
        <p:spPr>
          <a:xfrm>
            <a:off x="502920" y="3502152"/>
            <a:ext cx="3703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Output</a:t>
            </a:r>
            <a:endParaRPr b="0" i="0" sz="1200" u="none" cap="none" strike="noStrike">
              <a:solidFill>
                <a:schemeClr val="dk1"/>
              </a:solidFill>
              <a:latin typeface="Calibri"/>
              <a:ea typeface="Calibri"/>
              <a:cs typeface="Calibri"/>
              <a:sym typeface="Calibri"/>
            </a:endParaRPr>
          </a:p>
        </p:txBody>
      </p:sp>
      <p:sp>
        <p:nvSpPr>
          <p:cNvPr id="244" name="Google Shape;244;p19"/>
          <p:cNvSpPr/>
          <p:nvPr/>
        </p:nvSpPr>
        <p:spPr>
          <a:xfrm>
            <a:off x="502920" y="3794760"/>
            <a:ext cx="3703320" cy="28346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updated_sony_raw_data.csv — columns: product, source, url, text (paragraph-level)</a:t>
            </a:r>
            <a:endParaRPr b="0" i="0" sz="1000" u="none" cap="none" strike="noStrike">
              <a:solidFill>
                <a:schemeClr val="dk1"/>
              </a:solidFill>
              <a:latin typeface="Calibri"/>
              <a:ea typeface="Calibri"/>
              <a:cs typeface="Calibri"/>
              <a:sym typeface="Calibri"/>
            </a:endParaRPr>
          </a:p>
        </p:txBody>
      </p:sp>
      <p:sp>
        <p:nvSpPr>
          <p:cNvPr id="245" name="Google Shape;245;p19"/>
          <p:cNvSpPr/>
          <p:nvPr/>
        </p:nvSpPr>
        <p:spPr>
          <a:xfrm>
            <a:off x="4572000" y="960120"/>
            <a:ext cx="4206240" cy="312724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4709160" y="1051560"/>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300"/>
              <a:buFont typeface="Calibri"/>
              <a:buNone/>
            </a:pPr>
            <a:r>
              <a:rPr b="1" i="0" lang="en-US" sz="1300" u="none" cap="none" strike="noStrike">
                <a:solidFill>
                  <a:srgbClr val="0F2044"/>
                </a:solidFill>
                <a:latin typeface="Calibri"/>
                <a:ea typeface="Calibri"/>
                <a:cs typeface="Calibri"/>
                <a:sym typeface="Calibri"/>
              </a:rPr>
              <a:t>Scraping Statistics</a:t>
            </a:r>
            <a:endParaRPr b="0" i="0" sz="1300" u="none" cap="none" strike="noStrike">
              <a:solidFill>
                <a:schemeClr val="dk1"/>
              </a:solidFill>
              <a:latin typeface="Calibri"/>
              <a:ea typeface="Calibri"/>
              <a:cs typeface="Calibri"/>
              <a:sym typeface="Calibri"/>
            </a:endParaRPr>
          </a:p>
        </p:txBody>
      </p:sp>
      <p:sp>
        <p:nvSpPr>
          <p:cNvPr id="247" name="Google Shape;247;p19"/>
          <p:cNvSpPr/>
          <p:nvPr/>
        </p:nvSpPr>
        <p:spPr>
          <a:xfrm>
            <a:off x="4709160" y="1417320"/>
            <a:ext cx="3931920" cy="530352"/>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4800600" y="1453896"/>
            <a:ext cx="1371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2000"/>
              <a:buFont typeface="Calibri"/>
              <a:buNone/>
            </a:pPr>
            <a:r>
              <a:rPr b="1" i="0" lang="en-US" sz="2000" u="none" cap="none" strike="noStrike">
                <a:solidFill>
                  <a:srgbClr val="00A896"/>
                </a:solidFill>
                <a:latin typeface="Calibri"/>
                <a:ea typeface="Calibri"/>
                <a:cs typeface="Calibri"/>
                <a:sym typeface="Calibri"/>
              </a:rPr>
              <a:t>166</a:t>
            </a:r>
            <a:endParaRPr b="0" i="0" sz="2000" u="none" cap="none" strike="noStrike">
              <a:solidFill>
                <a:schemeClr val="dk1"/>
              </a:solidFill>
              <a:latin typeface="Calibri"/>
              <a:ea typeface="Calibri"/>
              <a:cs typeface="Calibri"/>
              <a:sym typeface="Calibri"/>
            </a:endParaRPr>
          </a:p>
        </p:txBody>
      </p:sp>
      <p:sp>
        <p:nvSpPr>
          <p:cNvPr id="249" name="Google Shape;249;p19"/>
          <p:cNvSpPr/>
          <p:nvPr/>
        </p:nvSpPr>
        <p:spPr>
          <a:xfrm>
            <a:off x="4800600" y="1728216"/>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Total Reviews Collected</a:t>
            </a:r>
            <a:endParaRPr b="0" i="0" sz="950" u="none" cap="none" strike="noStrike">
              <a:solidFill>
                <a:schemeClr val="dk1"/>
              </a:solidFill>
              <a:latin typeface="Calibri"/>
              <a:ea typeface="Calibri"/>
              <a:cs typeface="Calibri"/>
              <a:sym typeface="Calibri"/>
            </a:endParaRPr>
          </a:p>
        </p:txBody>
      </p:sp>
      <p:sp>
        <p:nvSpPr>
          <p:cNvPr id="250" name="Google Shape;250;p19"/>
          <p:cNvSpPr/>
          <p:nvPr/>
        </p:nvSpPr>
        <p:spPr>
          <a:xfrm>
            <a:off x="4709160" y="2075688"/>
            <a:ext cx="3931920" cy="530352"/>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4800600" y="2112264"/>
            <a:ext cx="1371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2000"/>
              <a:buFont typeface="Calibri"/>
              <a:buNone/>
            </a:pPr>
            <a:r>
              <a:rPr b="1" i="0" lang="en-US" sz="2000" u="none" cap="none" strike="noStrike">
                <a:solidFill>
                  <a:srgbClr val="00A896"/>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sp>
        <p:nvSpPr>
          <p:cNvPr id="252" name="Google Shape;252;p19"/>
          <p:cNvSpPr/>
          <p:nvPr/>
        </p:nvSpPr>
        <p:spPr>
          <a:xfrm>
            <a:off x="4800600" y="2386584"/>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Sony Products Analyzed</a:t>
            </a:r>
            <a:endParaRPr b="0" i="0" sz="950" u="none" cap="none" strike="noStrike">
              <a:solidFill>
                <a:schemeClr val="dk1"/>
              </a:solidFill>
              <a:latin typeface="Calibri"/>
              <a:ea typeface="Calibri"/>
              <a:cs typeface="Calibri"/>
              <a:sym typeface="Calibri"/>
            </a:endParaRPr>
          </a:p>
        </p:txBody>
      </p:sp>
      <p:sp>
        <p:nvSpPr>
          <p:cNvPr id="253" name="Google Shape;253;p19"/>
          <p:cNvSpPr/>
          <p:nvPr/>
        </p:nvSpPr>
        <p:spPr>
          <a:xfrm>
            <a:off x="4709160" y="2734056"/>
            <a:ext cx="3931920" cy="530352"/>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a:off x="4800600" y="2770632"/>
            <a:ext cx="1371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2000"/>
              <a:buFont typeface="Calibri"/>
              <a:buNone/>
            </a:pPr>
            <a:r>
              <a:rPr b="1" i="0" lang="en-US" sz="2000" u="none" cap="none" strike="noStrike">
                <a:solidFill>
                  <a:srgbClr val="00A896"/>
                </a:solidFill>
                <a:latin typeface="Calibri"/>
                <a:ea typeface="Calibri"/>
                <a:cs typeface="Calibri"/>
                <a:sym typeface="Calibri"/>
              </a:rPr>
              <a:t>10+</a:t>
            </a:r>
            <a:endParaRPr b="0" i="0" sz="2000" u="none" cap="none" strike="noStrike">
              <a:solidFill>
                <a:schemeClr val="dk1"/>
              </a:solidFill>
              <a:latin typeface="Calibri"/>
              <a:ea typeface="Calibri"/>
              <a:cs typeface="Calibri"/>
              <a:sym typeface="Calibri"/>
            </a:endParaRPr>
          </a:p>
        </p:txBody>
      </p:sp>
      <p:sp>
        <p:nvSpPr>
          <p:cNvPr id="255" name="Google Shape;255;p19"/>
          <p:cNvSpPr/>
          <p:nvPr/>
        </p:nvSpPr>
        <p:spPr>
          <a:xfrm>
            <a:off x="4800600" y="3044952"/>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Web Sources Scraped</a:t>
            </a:r>
            <a:endParaRPr b="0" i="0" sz="950" u="none" cap="none" strike="noStrike">
              <a:solidFill>
                <a:schemeClr val="dk1"/>
              </a:solidFill>
              <a:latin typeface="Calibri"/>
              <a:ea typeface="Calibri"/>
              <a:cs typeface="Calibri"/>
              <a:sym typeface="Calibri"/>
            </a:endParaRPr>
          </a:p>
        </p:txBody>
      </p:sp>
      <p:sp>
        <p:nvSpPr>
          <p:cNvPr id="256" name="Google Shape;256;p19"/>
          <p:cNvSpPr/>
          <p:nvPr/>
        </p:nvSpPr>
        <p:spPr>
          <a:xfrm>
            <a:off x="4709160" y="3392424"/>
            <a:ext cx="3931920" cy="530352"/>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9"/>
          <p:cNvSpPr/>
          <p:nvPr/>
        </p:nvSpPr>
        <p:spPr>
          <a:xfrm>
            <a:off x="4800600" y="3429000"/>
            <a:ext cx="1371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2000"/>
              <a:buFont typeface="Calibri"/>
              <a:buNone/>
            </a:pPr>
            <a:r>
              <a:rPr b="1" i="0" lang="en-US" sz="2000" u="none" cap="none" strike="noStrike">
                <a:solidFill>
                  <a:srgbClr val="00A896"/>
                </a:solidFill>
                <a:latin typeface="Calibri"/>
                <a:ea typeface="Calibri"/>
                <a:cs typeface="Calibri"/>
                <a:sym typeface="Calibri"/>
              </a:rPr>
              <a:t>1,411</a:t>
            </a:r>
            <a:endParaRPr b="0" i="0" sz="2000" u="none" cap="none" strike="noStrike">
              <a:solidFill>
                <a:schemeClr val="dk1"/>
              </a:solidFill>
              <a:latin typeface="Calibri"/>
              <a:ea typeface="Calibri"/>
              <a:cs typeface="Calibri"/>
              <a:sym typeface="Calibri"/>
            </a:endParaRPr>
          </a:p>
        </p:txBody>
      </p:sp>
      <p:sp>
        <p:nvSpPr>
          <p:cNvPr id="258" name="Google Shape;258;p19"/>
          <p:cNvSpPr/>
          <p:nvPr/>
        </p:nvSpPr>
        <p:spPr>
          <a:xfrm>
            <a:off x="4800600" y="3703320"/>
            <a:ext cx="374904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0" lang="en-US" sz="950" u="none" cap="none" strike="noStrike">
                <a:solidFill>
                  <a:srgbClr val="64748B"/>
                </a:solidFill>
                <a:latin typeface="Calibri"/>
                <a:ea typeface="Calibri"/>
                <a:cs typeface="Calibri"/>
                <a:sym typeface="Calibri"/>
              </a:rPr>
              <a:t>DP Review Forum Elements Found</a:t>
            </a:r>
            <a:endParaRPr b="0" i="0" sz="950" u="none" cap="none" strike="noStrike">
              <a:solidFill>
                <a:schemeClr val="dk1"/>
              </a:solidFill>
              <a:latin typeface="Calibri"/>
              <a:ea typeface="Calibri"/>
              <a:cs typeface="Calibri"/>
              <a:sym typeface="Calibri"/>
            </a:endParaRPr>
          </a:p>
        </p:txBody>
      </p:sp>
      <p:sp>
        <p:nvSpPr>
          <p:cNvPr id="259" name="Google Shape;259;p19"/>
          <p:cNvSpPr/>
          <p:nvPr/>
        </p:nvSpPr>
        <p:spPr>
          <a:xfrm>
            <a:off x="365760" y="4187952"/>
            <a:ext cx="8412480" cy="566928"/>
          </a:xfrm>
          <a:prstGeom prst="rect">
            <a:avLst/>
          </a:prstGeom>
          <a:solidFill>
            <a:srgbClr val="EBF8F5"/>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9"/>
          <p:cNvSpPr/>
          <p:nvPr/>
        </p:nvSpPr>
        <p:spPr>
          <a:xfrm>
            <a:off x="502920" y="4233672"/>
            <a:ext cx="8229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000"/>
              <a:buFont typeface="Calibri"/>
              <a:buNone/>
            </a:pPr>
            <a:r>
              <a:rPr b="0" i="0" lang="en-US" sz="1000" u="none" cap="none" strike="noStrike">
                <a:solidFill>
                  <a:srgbClr val="0F2044"/>
                </a:solidFill>
                <a:latin typeface="Calibri"/>
                <a:ea typeface="Calibri"/>
                <a:cs typeface="Calibri"/>
                <a:sym typeface="Calibri"/>
              </a:rPr>
              <a:t>Key Sources: Wikipedia (VAIO) • Sony Support • TechRadar (date-filtered pre-2014) • DP Review Forum • The Verge (PS Vue shutdown)</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65" name="Shape 265"/>
        <p:cNvGrpSpPr/>
        <p:nvPr/>
      </p:nvGrpSpPr>
      <p:grpSpPr>
        <a:xfrm>
          <a:off x="0" y="0"/>
          <a:ext cx="0" cy="0"/>
          <a:chOff x="0" y="0"/>
          <a:chExt cx="0" cy="0"/>
        </a:xfrm>
      </p:grpSpPr>
      <p:sp>
        <p:nvSpPr>
          <p:cNvPr id="266" name="Google Shape;266;p20"/>
          <p:cNvSpPr/>
          <p:nvPr/>
        </p:nvSpPr>
        <p:spPr>
          <a:xfrm>
            <a:off x="0" y="0"/>
            <a:ext cx="9144000" cy="658368"/>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365760" y="73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4</a:t>
            </a:r>
            <a:endParaRPr b="0" i="0" sz="800" u="none" cap="none" strike="noStrike">
              <a:solidFill>
                <a:schemeClr val="dk1"/>
              </a:solidFill>
              <a:latin typeface="Calibri"/>
              <a:ea typeface="Calibri"/>
              <a:cs typeface="Calibri"/>
              <a:sym typeface="Calibri"/>
            </a:endParaRPr>
          </a:p>
        </p:txBody>
      </p:sp>
      <p:sp>
        <p:nvSpPr>
          <p:cNvPr id="268" name="Google Shape;268;p20"/>
          <p:cNvSpPr/>
          <p:nvPr/>
        </p:nvSpPr>
        <p:spPr>
          <a:xfrm>
            <a:off x="365760" y="274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Data Cleaning</a:t>
            </a:r>
            <a:endParaRPr b="0" i="0" sz="1800" u="none" cap="none" strike="noStrike">
              <a:solidFill>
                <a:schemeClr val="dk1"/>
              </a:solidFill>
              <a:latin typeface="Calibri"/>
              <a:ea typeface="Calibri"/>
              <a:cs typeface="Calibri"/>
              <a:sym typeface="Calibri"/>
            </a:endParaRPr>
          </a:p>
        </p:txBody>
      </p:sp>
      <p:sp>
        <p:nvSpPr>
          <p:cNvPr id="269" name="Google Shape;269;p20"/>
          <p:cNvSpPr/>
          <p:nvPr/>
        </p:nvSpPr>
        <p:spPr>
          <a:xfrm>
            <a:off x="8732520" y="164592"/>
            <a:ext cx="320040" cy="32004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0"/>
          <p:cNvSpPr/>
          <p:nvPr/>
        </p:nvSpPr>
        <p:spPr>
          <a:xfrm>
            <a:off x="365760" y="960120"/>
            <a:ext cx="4069080" cy="146304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0"/>
          <p:cNvSpPr/>
          <p:nvPr/>
        </p:nvSpPr>
        <p:spPr>
          <a:xfrm>
            <a:off x="365760" y="960120"/>
            <a:ext cx="54864" cy="146304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20"/>
          <p:cNvSpPr/>
          <p:nvPr/>
        </p:nvSpPr>
        <p:spPr>
          <a:xfrm>
            <a:off x="502920" y="1051560"/>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73" name="Google Shape;273;p20"/>
          <p:cNvSpPr/>
          <p:nvPr/>
        </p:nvSpPr>
        <p:spPr>
          <a:xfrm>
            <a:off x="502920" y="137160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Noise Removal</a:t>
            </a:r>
            <a:endParaRPr b="0" i="0" sz="1200" u="none" cap="none" strike="noStrike">
              <a:solidFill>
                <a:schemeClr val="dk1"/>
              </a:solidFill>
              <a:latin typeface="Calibri"/>
              <a:ea typeface="Calibri"/>
              <a:cs typeface="Calibri"/>
              <a:sym typeface="Calibri"/>
            </a:endParaRPr>
          </a:p>
        </p:txBody>
      </p:sp>
      <p:sp>
        <p:nvSpPr>
          <p:cNvPr id="274" name="Google Shape;274;p20"/>
          <p:cNvSpPr/>
          <p:nvPr/>
        </p:nvSpPr>
        <p:spPr>
          <a:xfrm>
            <a:off x="502920" y="1664208"/>
            <a:ext cx="384048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Removed HTML tags, short paragraphs (≤50 chars), boilerplate navigation text and duplicates</a:t>
            </a:r>
            <a:endParaRPr b="0" i="0" sz="1000" u="none" cap="none" strike="noStrike">
              <a:solidFill>
                <a:schemeClr val="dk1"/>
              </a:solidFill>
              <a:latin typeface="Calibri"/>
              <a:ea typeface="Calibri"/>
              <a:cs typeface="Calibri"/>
              <a:sym typeface="Calibri"/>
            </a:endParaRPr>
          </a:p>
        </p:txBody>
      </p:sp>
      <p:sp>
        <p:nvSpPr>
          <p:cNvPr id="275" name="Google Shape;275;p20"/>
          <p:cNvSpPr/>
          <p:nvPr/>
        </p:nvSpPr>
        <p:spPr>
          <a:xfrm>
            <a:off x="365760" y="2606040"/>
            <a:ext cx="4069080" cy="146304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0"/>
          <p:cNvSpPr/>
          <p:nvPr/>
        </p:nvSpPr>
        <p:spPr>
          <a:xfrm>
            <a:off x="365760" y="2606040"/>
            <a:ext cx="54864" cy="146304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0"/>
          <p:cNvSpPr/>
          <p:nvPr/>
        </p:nvSpPr>
        <p:spPr>
          <a:xfrm>
            <a:off x="502920" y="2697480"/>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78" name="Google Shape;278;p20"/>
          <p:cNvSpPr/>
          <p:nvPr/>
        </p:nvSpPr>
        <p:spPr>
          <a:xfrm>
            <a:off x="502920" y="30175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Text Standardization</a:t>
            </a:r>
            <a:endParaRPr b="0" i="0" sz="1200" u="none" cap="none" strike="noStrike">
              <a:solidFill>
                <a:schemeClr val="dk1"/>
              </a:solidFill>
              <a:latin typeface="Calibri"/>
              <a:ea typeface="Calibri"/>
              <a:cs typeface="Calibri"/>
              <a:sym typeface="Calibri"/>
            </a:endParaRPr>
          </a:p>
        </p:txBody>
      </p:sp>
      <p:sp>
        <p:nvSpPr>
          <p:cNvPr id="279" name="Google Shape;279;p20"/>
          <p:cNvSpPr/>
          <p:nvPr/>
        </p:nvSpPr>
        <p:spPr>
          <a:xfrm>
            <a:off x="502920" y="3310128"/>
            <a:ext cx="384048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Lowercased text, removed special characters, Unicode normalization, whitespace cleanup</a:t>
            </a:r>
            <a:endParaRPr b="0" i="0" sz="1000" u="none" cap="none" strike="noStrike">
              <a:solidFill>
                <a:schemeClr val="dk1"/>
              </a:solidFill>
              <a:latin typeface="Calibri"/>
              <a:ea typeface="Calibri"/>
              <a:cs typeface="Calibri"/>
              <a:sym typeface="Calibri"/>
            </a:endParaRPr>
          </a:p>
        </p:txBody>
      </p:sp>
      <p:sp>
        <p:nvSpPr>
          <p:cNvPr id="280" name="Google Shape;280;p20"/>
          <p:cNvSpPr/>
          <p:nvPr/>
        </p:nvSpPr>
        <p:spPr>
          <a:xfrm>
            <a:off x="4709160" y="960120"/>
            <a:ext cx="4069080" cy="146304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0"/>
          <p:cNvSpPr/>
          <p:nvPr/>
        </p:nvSpPr>
        <p:spPr>
          <a:xfrm>
            <a:off x="4709160" y="960120"/>
            <a:ext cx="54864" cy="146304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0"/>
          <p:cNvSpPr/>
          <p:nvPr/>
        </p:nvSpPr>
        <p:spPr>
          <a:xfrm>
            <a:off x="4846320" y="1051560"/>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83" name="Google Shape;283;p20"/>
          <p:cNvSpPr/>
          <p:nvPr/>
        </p:nvSpPr>
        <p:spPr>
          <a:xfrm>
            <a:off x="4846320" y="137160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Column Schema</a:t>
            </a:r>
            <a:endParaRPr b="0" i="0" sz="1200" u="none" cap="none" strike="noStrike">
              <a:solidFill>
                <a:schemeClr val="dk1"/>
              </a:solidFill>
              <a:latin typeface="Calibri"/>
              <a:ea typeface="Calibri"/>
              <a:cs typeface="Calibri"/>
              <a:sym typeface="Calibri"/>
            </a:endParaRPr>
          </a:p>
        </p:txBody>
      </p:sp>
      <p:sp>
        <p:nvSpPr>
          <p:cNvPr id="284" name="Google Shape;284;p20"/>
          <p:cNvSpPr/>
          <p:nvPr/>
        </p:nvSpPr>
        <p:spPr>
          <a:xfrm>
            <a:off x="4846320" y="1664208"/>
            <a:ext cx="384048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Standardized columns: product, source, url, clean_text — ready for sentiment pipeline</a:t>
            </a:r>
            <a:endParaRPr b="0" i="0" sz="1000" u="none" cap="none" strike="noStrike">
              <a:solidFill>
                <a:schemeClr val="dk1"/>
              </a:solidFill>
              <a:latin typeface="Calibri"/>
              <a:ea typeface="Calibri"/>
              <a:cs typeface="Calibri"/>
              <a:sym typeface="Calibri"/>
            </a:endParaRPr>
          </a:p>
        </p:txBody>
      </p:sp>
      <p:sp>
        <p:nvSpPr>
          <p:cNvPr id="285" name="Google Shape;285;p20"/>
          <p:cNvSpPr/>
          <p:nvPr/>
        </p:nvSpPr>
        <p:spPr>
          <a:xfrm>
            <a:off x="4709160" y="2606040"/>
            <a:ext cx="4069080" cy="146304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0"/>
          <p:cNvSpPr/>
          <p:nvPr/>
        </p:nvSpPr>
        <p:spPr>
          <a:xfrm>
            <a:off x="4709160" y="2606040"/>
            <a:ext cx="54864" cy="146304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0"/>
          <p:cNvSpPr/>
          <p:nvPr/>
        </p:nvSpPr>
        <p:spPr>
          <a:xfrm>
            <a:off x="4846320" y="2697480"/>
            <a:ext cx="411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288" name="Google Shape;288;p20"/>
          <p:cNvSpPr/>
          <p:nvPr/>
        </p:nvSpPr>
        <p:spPr>
          <a:xfrm>
            <a:off x="4846320" y="3017520"/>
            <a:ext cx="38404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Output File</a:t>
            </a:r>
            <a:endParaRPr b="0" i="0" sz="1200" u="none" cap="none" strike="noStrike">
              <a:solidFill>
                <a:schemeClr val="dk1"/>
              </a:solidFill>
              <a:latin typeface="Calibri"/>
              <a:ea typeface="Calibri"/>
              <a:cs typeface="Calibri"/>
              <a:sym typeface="Calibri"/>
            </a:endParaRPr>
          </a:p>
        </p:txBody>
      </p:sp>
      <p:sp>
        <p:nvSpPr>
          <p:cNvPr id="289" name="Google Shape;289;p20"/>
          <p:cNvSpPr/>
          <p:nvPr/>
        </p:nvSpPr>
        <p:spPr>
          <a:xfrm>
            <a:off x="4846320" y="3310128"/>
            <a:ext cx="3840480" cy="7589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updated_sony_cleaned_data.csv — used by both sentiment_analysis.ipynb and app.py</a:t>
            </a:r>
            <a:endParaRPr b="0" i="0" sz="1000" u="none" cap="none" strike="noStrike">
              <a:solidFill>
                <a:schemeClr val="dk1"/>
              </a:solidFill>
              <a:latin typeface="Calibri"/>
              <a:ea typeface="Calibri"/>
              <a:cs typeface="Calibri"/>
              <a:sym typeface="Calibri"/>
            </a:endParaRPr>
          </a:p>
        </p:txBody>
      </p:sp>
      <p:sp>
        <p:nvSpPr>
          <p:cNvPr id="290" name="Google Shape;290;p20"/>
          <p:cNvSpPr/>
          <p:nvPr/>
        </p:nvSpPr>
        <p:spPr>
          <a:xfrm>
            <a:off x="365760" y="4206240"/>
            <a:ext cx="8412480" cy="502920"/>
          </a:xfrm>
          <a:prstGeom prst="rect">
            <a:avLst/>
          </a:prstGeom>
          <a:solidFill>
            <a:srgbClr val="EBF8F5"/>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0"/>
          <p:cNvSpPr/>
          <p:nvPr/>
        </p:nvSpPr>
        <p:spPr>
          <a:xfrm>
            <a:off x="457200" y="425196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2044"/>
              </a:buClr>
              <a:buSzPts val="1100"/>
              <a:buFont typeface="Calibri"/>
              <a:buNone/>
            </a:pPr>
            <a:r>
              <a:rPr b="1" i="0" lang="en-US" sz="1100" u="none" cap="none" strike="noStrike">
                <a:solidFill>
                  <a:srgbClr val="0F2044"/>
                </a:solidFill>
                <a:latin typeface="Calibri"/>
                <a:ea typeface="Calibri"/>
                <a:cs typeface="Calibri"/>
                <a:sym typeface="Calibri"/>
              </a:rPr>
              <a:t>Input: updated_sony_raw_data.csv  →  Output: updated_sony_cleaned_data.csv  |  166 reviews retained across 3 products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296" name="Shape 296"/>
        <p:cNvGrpSpPr/>
        <p:nvPr/>
      </p:nvGrpSpPr>
      <p:grpSpPr>
        <a:xfrm>
          <a:off x="0" y="0"/>
          <a:ext cx="0" cy="0"/>
          <a:chOff x="0" y="0"/>
          <a:chExt cx="0" cy="0"/>
        </a:xfrm>
      </p:grpSpPr>
      <p:sp>
        <p:nvSpPr>
          <p:cNvPr id="297" name="Google Shape;297;p21"/>
          <p:cNvSpPr/>
          <p:nvPr/>
        </p:nvSpPr>
        <p:spPr>
          <a:xfrm>
            <a:off x="0" y="0"/>
            <a:ext cx="9144000" cy="658368"/>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1"/>
          <p:cNvSpPr/>
          <p:nvPr/>
        </p:nvSpPr>
        <p:spPr>
          <a:xfrm>
            <a:off x="365760" y="73152"/>
            <a:ext cx="1097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5</a:t>
            </a:r>
            <a:endParaRPr b="0" i="0" sz="800" u="none" cap="none" strike="noStrike">
              <a:solidFill>
                <a:schemeClr val="dk1"/>
              </a:solidFill>
              <a:latin typeface="Calibri"/>
              <a:ea typeface="Calibri"/>
              <a:cs typeface="Calibri"/>
              <a:sym typeface="Calibri"/>
            </a:endParaRPr>
          </a:p>
        </p:txBody>
      </p:sp>
      <p:sp>
        <p:nvSpPr>
          <p:cNvPr id="299" name="Google Shape;299;p21"/>
          <p:cNvSpPr/>
          <p:nvPr/>
        </p:nvSpPr>
        <p:spPr>
          <a:xfrm>
            <a:off x="365760" y="27432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Sentiment Analysis</a:t>
            </a:r>
            <a:endParaRPr b="0" i="0" sz="1800" u="none" cap="none" strike="noStrike">
              <a:solidFill>
                <a:schemeClr val="dk1"/>
              </a:solidFill>
              <a:latin typeface="Calibri"/>
              <a:ea typeface="Calibri"/>
              <a:cs typeface="Calibri"/>
              <a:sym typeface="Calibri"/>
            </a:endParaRPr>
          </a:p>
        </p:txBody>
      </p:sp>
      <p:sp>
        <p:nvSpPr>
          <p:cNvPr id="300" name="Google Shape;300;p21"/>
          <p:cNvSpPr/>
          <p:nvPr/>
        </p:nvSpPr>
        <p:spPr>
          <a:xfrm>
            <a:off x="8732520" y="164592"/>
            <a:ext cx="320040" cy="32004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1"/>
          <p:cNvSpPr/>
          <p:nvPr/>
        </p:nvSpPr>
        <p:spPr>
          <a:xfrm>
            <a:off x="365760" y="960120"/>
            <a:ext cx="393192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1"/>
          <p:cNvSpPr/>
          <p:nvPr/>
        </p:nvSpPr>
        <p:spPr>
          <a:xfrm>
            <a:off x="365760" y="960120"/>
            <a:ext cx="54864"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1"/>
          <p:cNvSpPr/>
          <p:nvPr/>
        </p:nvSpPr>
        <p:spPr>
          <a:xfrm>
            <a:off x="502920" y="938176"/>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04" name="Google Shape;304;p21"/>
          <p:cNvSpPr/>
          <p:nvPr/>
        </p:nvSpPr>
        <p:spPr>
          <a:xfrm>
            <a:off x="502920" y="1206678"/>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Models Used</a:t>
            </a:r>
            <a:endParaRPr b="0" i="0" sz="1200" u="none" cap="none" strike="noStrike">
              <a:solidFill>
                <a:schemeClr val="dk1"/>
              </a:solidFill>
              <a:latin typeface="Calibri"/>
              <a:ea typeface="Calibri"/>
              <a:cs typeface="Calibri"/>
              <a:sym typeface="Calibri"/>
            </a:endParaRPr>
          </a:p>
        </p:txBody>
      </p:sp>
      <p:sp>
        <p:nvSpPr>
          <p:cNvPr id="305" name="Google Shape;305;p21"/>
          <p:cNvSpPr/>
          <p:nvPr/>
        </p:nvSpPr>
        <p:spPr>
          <a:xfrm>
            <a:off x="502920" y="1488979"/>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VADER (compound score) + TextBlob (polarity) — dual-model validation for accuracy</a:t>
            </a:r>
            <a:endParaRPr b="0" i="0" sz="1000" u="none" cap="none" strike="noStrike">
              <a:solidFill>
                <a:schemeClr val="dk1"/>
              </a:solidFill>
              <a:latin typeface="Calibri"/>
              <a:ea typeface="Calibri"/>
              <a:cs typeface="Calibri"/>
              <a:sym typeface="Calibri"/>
            </a:endParaRPr>
          </a:p>
        </p:txBody>
      </p:sp>
      <p:sp>
        <p:nvSpPr>
          <p:cNvPr id="306" name="Google Shape;306;p21"/>
          <p:cNvSpPr/>
          <p:nvPr/>
        </p:nvSpPr>
        <p:spPr>
          <a:xfrm>
            <a:off x="365760" y="1965960"/>
            <a:ext cx="393192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1"/>
          <p:cNvSpPr/>
          <p:nvPr/>
        </p:nvSpPr>
        <p:spPr>
          <a:xfrm>
            <a:off x="365760" y="1965960"/>
            <a:ext cx="54864"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1"/>
          <p:cNvSpPr/>
          <p:nvPr/>
        </p:nvSpPr>
        <p:spPr>
          <a:xfrm>
            <a:off x="502920" y="1933709"/>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09" name="Google Shape;309;p21"/>
          <p:cNvSpPr/>
          <p:nvPr/>
        </p:nvSpPr>
        <p:spPr>
          <a:xfrm>
            <a:off x="502920" y="2160980"/>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Classification Rules</a:t>
            </a:r>
            <a:endParaRPr b="0" i="0" sz="1200" u="none" cap="none" strike="noStrike">
              <a:solidFill>
                <a:schemeClr val="dk1"/>
              </a:solidFill>
              <a:latin typeface="Calibri"/>
              <a:ea typeface="Calibri"/>
              <a:cs typeface="Calibri"/>
              <a:sym typeface="Calibri"/>
            </a:endParaRPr>
          </a:p>
        </p:txBody>
      </p:sp>
      <p:sp>
        <p:nvSpPr>
          <p:cNvPr id="310" name="Google Shape;310;p21"/>
          <p:cNvSpPr/>
          <p:nvPr/>
        </p:nvSpPr>
        <p:spPr>
          <a:xfrm>
            <a:off x="502920" y="2463896"/>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Score ≥ 0.05 → Positive  |  Score ≤ −0.05 → Negative  |  Between → Neutral</a:t>
            </a:r>
            <a:endParaRPr b="0" i="0" sz="1000" u="none" cap="none" strike="noStrike">
              <a:solidFill>
                <a:schemeClr val="dk1"/>
              </a:solidFill>
              <a:latin typeface="Calibri"/>
              <a:ea typeface="Calibri"/>
              <a:cs typeface="Calibri"/>
              <a:sym typeface="Calibri"/>
            </a:endParaRPr>
          </a:p>
        </p:txBody>
      </p:sp>
      <p:sp>
        <p:nvSpPr>
          <p:cNvPr id="311" name="Google Shape;311;p21"/>
          <p:cNvSpPr/>
          <p:nvPr/>
        </p:nvSpPr>
        <p:spPr>
          <a:xfrm>
            <a:off x="365760" y="2971800"/>
            <a:ext cx="393192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1"/>
          <p:cNvSpPr/>
          <p:nvPr/>
        </p:nvSpPr>
        <p:spPr>
          <a:xfrm>
            <a:off x="365760" y="2971800"/>
            <a:ext cx="54864"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1"/>
          <p:cNvSpPr/>
          <p:nvPr/>
        </p:nvSpPr>
        <p:spPr>
          <a:xfrm>
            <a:off x="502920" y="2949856"/>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14" name="Google Shape;314;p21"/>
          <p:cNvSpPr/>
          <p:nvPr/>
        </p:nvSpPr>
        <p:spPr>
          <a:xfrm>
            <a:off x="502920" y="3197743"/>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Source Comparison</a:t>
            </a:r>
            <a:endParaRPr b="0" i="0" sz="1200" u="none" cap="none" strike="noStrike">
              <a:solidFill>
                <a:schemeClr val="dk1"/>
              </a:solidFill>
              <a:latin typeface="Calibri"/>
              <a:ea typeface="Calibri"/>
              <a:cs typeface="Calibri"/>
              <a:sym typeface="Calibri"/>
            </a:endParaRPr>
          </a:p>
        </p:txBody>
      </p:sp>
      <p:sp>
        <p:nvSpPr>
          <p:cNvPr id="315" name="Google Shape;315;p21"/>
          <p:cNvSpPr/>
          <p:nvPr/>
        </p:nvSpPr>
        <p:spPr>
          <a:xfrm>
            <a:off x="502920" y="3500659"/>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Third-Party avg VADER: ~0.37  |  Official Sony avg VADER: ~0.10–0.15</a:t>
            </a:r>
            <a:endParaRPr b="0" i="0" sz="1000" u="none" cap="none" strike="noStrike">
              <a:solidFill>
                <a:schemeClr val="dk1"/>
              </a:solidFill>
              <a:latin typeface="Calibri"/>
              <a:ea typeface="Calibri"/>
              <a:cs typeface="Calibri"/>
              <a:sym typeface="Calibri"/>
            </a:endParaRPr>
          </a:p>
        </p:txBody>
      </p:sp>
      <p:sp>
        <p:nvSpPr>
          <p:cNvPr id="316" name="Google Shape;316;p21"/>
          <p:cNvSpPr/>
          <p:nvPr/>
        </p:nvSpPr>
        <p:spPr>
          <a:xfrm>
            <a:off x="4572000" y="960120"/>
            <a:ext cx="4206240" cy="2944368"/>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1"/>
          <p:cNvSpPr/>
          <p:nvPr/>
        </p:nvSpPr>
        <p:spPr>
          <a:xfrm>
            <a:off x="4709160" y="1024128"/>
            <a:ext cx="3931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Sentiment Distribution — 166 Reviews</a:t>
            </a:r>
            <a:endParaRPr b="0" i="0" sz="1200" u="none" cap="none" strike="noStrike">
              <a:solidFill>
                <a:schemeClr val="dk1"/>
              </a:solidFill>
              <a:latin typeface="Calibri"/>
              <a:ea typeface="Calibri"/>
              <a:cs typeface="Calibri"/>
              <a:sym typeface="Calibri"/>
            </a:endParaRPr>
          </a:p>
        </p:txBody>
      </p:sp>
      <p:sp>
        <p:nvSpPr>
          <p:cNvPr id="318" name="Google Shape;318;p21"/>
          <p:cNvSpPr/>
          <p:nvPr/>
        </p:nvSpPr>
        <p:spPr>
          <a:xfrm>
            <a:off x="4709160" y="1389888"/>
            <a:ext cx="3931920" cy="59436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1"/>
          <p:cNvSpPr/>
          <p:nvPr/>
        </p:nvSpPr>
        <p:spPr>
          <a:xfrm>
            <a:off x="4709160" y="1389888"/>
            <a:ext cx="2488905" cy="594360"/>
          </a:xfrm>
          <a:prstGeom prst="rect">
            <a:avLst/>
          </a:prstGeom>
          <a:solidFill>
            <a:srgbClr val="00A896">
              <a:alpha val="30196"/>
            </a:srgbClr>
          </a:solidFill>
          <a:ln cap="flat" cmpd="sng" w="12700">
            <a:solidFill>
              <a:srgbClr val="00A89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1"/>
          <p:cNvSpPr/>
          <p:nvPr/>
        </p:nvSpPr>
        <p:spPr>
          <a:xfrm>
            <a:off x="4709160" y="1389888"/>
            <a:ext cx="54864" cy="59436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1"/>
          <p:cNvSpPr/>
          <p:nvPr/>
        </p:nvSpPr>
        <p:spPr>
          <a:xfrm>
            <a:off x="4846320" y="1444752"/>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Positive</a:t>
            </a:r>
            <a:endParaRPr b="0" i="0" sz="1200" u="none" cap="none" strike="noStrike">
              <a:solidFill>
                <a:schemeClr val="dk1"/>
              </a:solidFill>
              <a:latin typeface="Calibri"/>
              <a:ea typeface="Calibri"/>
              <a:cs typeface="Calibri"/>
              <a:sym typeface="Calibri"/>
            </a:endParaRPr>
          </a:p>
        </p:txBody>
      </p:sp>
      <p:sp>
        <p:nvSpPr>
          <p:cNvPr id="322" name="Google Shape;322;p21"/>
          <p:cNvSpPr/>
          <p:nvPr/>
        </p:nvSpPr>
        <p:spPr>
          <a:xfrm>
            <a:off x="7818120" y="1426464"/>
            <a:ext cx="7772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800"/>
              <a:buFont typeface="Calibri"/>
              <a:buNone/>
            </a:pPr>
            <a:r>
              <a:rPr b="1" i="0" lang="en-US" sz="1800" u="none" cap="none" strike="noStrike">
                <a:solidFill>
                  <a:srgbClr val="00A896"/>
                </a:solidFill>
                <a:latin typeface="Calibri"/>
                <a:ea typeface="Calibri"/>
                <a:cs typeface="Calibri"/>
                <a:sym typeface="Calibri"/>
              </a:rPr>
              <a:t>63.3%</a:t>
            </a:r>
            <a:endParaRPr b="0" i="0" sz="1800" u="none" cap="none" strike="noStrike">
              <a:solidFill>
                <a:schemeClr val="dk1"/>
              </a:solidFill>
              <a:latin typeface="Calibri"/>
              <a:ea typeface="Calibri"/>
              <a:cs typeface="Calibri"/>
              <a:sym typeface="Calibri"/>
            </a:endParaRPr>
          </a:p>
        </p:txBody>
      </p:sp>
      <p:sp>
        <p:nvSpPr>
          <p:cNvPr id="323" name="Google Shape;323;p21"/>
          <p:cNvSpPr/>
          <p:nvPr/>
        </p:nvSpPr>
        <p:spPr>
          <a:xfrm>
            <a:off x="4846320" y="1728216"/>
            <a:ext cx="3657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24" name="Google Shape;324;p21"/>
          <p:cNvSpPr/>
          <p:nvPr/>
        </p:nvSpPr>
        <p:spPr>
          <a:xfrm>
            <a:off x="4709160" y="2139696"/>
            <a:ext cx="3931920" cy="59436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1"/>
          <p:cNvSpPr/>
          <p:nvPr/>
        </p:nvSpPr>
        <p:spPr>
          <a:xfrm>
            <a:off x="4709160" y="2139696"/>
            <a:ext cx="1018367" cy="594360"/>
          </a:xfrm>
          <a:prstGeom prst="rect">
            <a:avLst/>
          </a:prstGeom>
          <a:solidFill>
            <a:srgbClr val="94A3B8">
              <a:alpha val="30196"/>
            </a:srgbClr>
          </a:solidFill>
          <a:ln cap="flat" cmpd="sng" w="12700">
            <a:solidFill>
              <a:srgbClr val="94A3B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1"/>
          <p:cNvSpPr/>
          <p:nvPr/>
        </p:nvSpPr>
        <p:spPr>
          <a:xfrm>
            <a:off x="4709160" y="2139696"/>
            <a:ext cx="54864" cy="594360"/>
          </a:xfrm>
          <a:prstGeom prst="rect">
            <a:avLst/>
          </a:prstGeom>
          <a:solidFill>
            <a:srgbClr val="94A3B8"/>
          </a:solidFill>
          <a:ln cap="flat" cmpd="sng" w="12700">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1"/>
          <p:cNvSpPr/>
          <p:nvPr/>
        </p:nvSpPr>
        <p:spPr>
          <a:xfrm>
            <a:off x="4846320" y="2194560"/>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Neutral</a:t>
            </a:r>
            <a:endParaRPr b="0" i="0" sz="1200" u="none" cap="none" strike="noStrike">
              <a:solidFill>
                <a:schemeClr val="dk1"/>
              </a:solidFill>
              <a:latin typeface="Calibri"/>
              <a:ea typeface="Calibri"/>
              <a:cs typeface="Calibri"/>
              <a:sym typeface="Calibri"/>
            </a:endParaRPr>
          </a:p>
        </p:txBody>
      </p:sp>
      <p:sp>
        <p:nvSpPr>
          <p:cNvPr id="328" name="Google Shape;328;p21"/>
          <p:cNvSpPr/>
          <p:nvPr/>
        </p:nvSpPr>
        <p:spPr>
          <a:xfrm>
            <a:off x="7818120" y="2176272"/>
            <a:ext cx="7772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800"/>
              <a:buFont typeface="Calibri"/>
              <a:buNone/>
            </a:pPr>
            <a:r>
              <a:rPr b="1" i="0" lang="en-US" sz="1800" u="none" cap="none" strike="noStrike">
                <a:solidFill>
                  <a:srgbClr val="94A3B8"/>
                </a:solidFill>
                <a:latin typeface="Calibri"/>
                <a:ea typeface="Calibri"/>
                <a:cs typeface="Calibri"/>
                <a:sym typeface="Calibri"/>
              </a:rPr>
              <a:t>25.9%</a:t>
            </a:r>
            <a:endParaRPr b="0" i="0" sz="1800" u="none" cap="none" strike="noStrike">
              <a:solidFill>
                <a:schemeClr val="dk1"/>
              </a:solidFill>
              <a:latin typeface="Calibri"/>
              <a:ea typeface="Calibri"/>
              <a:cs typeface="Calibri"/>
              <a:sym typeface="Calibri"/>
            </a:endParaRPr>
          </a:p>
        </p:txBody>
      </p:sp>
      <p:sp>
        <p:nvSpPr>
          <p:cNvPr id="329" name="Google Shape;329;p21"/>
          <p:cNvSpPr/>
          <p:nvPr/>
        </p:nvSpPr>
        <p:spPr>
          <a:xfrm>
            <a:off x="4846320" y="2478024"/>
            <a:ext cx="3657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30" name="Google Shape;330;p21"/>
          <p:cNvSpPr/>
          <p:nvPr/>
        </p:nvSpPr>
        <p:spPr>
          <a:xfrm>
            <a:off x="4709160" y="2889504"/>
            <a:ext cx="3931920" cy="59436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1"/>
          <p:cNvSpPr/>
          <p:nvPr/>
        </p:nvSpPr>
        <p:spPr>
          <a:xfrm>
            <a:off x="4709160" y="2889504"/>
            <a:ext cx="424647" cy="594360"/>
          </a:xfrm>
          <a:prstGeom prst="rect">
            <a:avLst/>
          </a:prstGeom>
          <a:solidFill>
            <a:srgbClr val="EF4444">
              <a:alpha val="30196"/>
            </a:srgbClr>
          </a:solidFill>
          <a:ln cap="flat" cmpd="sng" w="12700">
            <a:solidFill>
              <a:srgbClr val="EF4444">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1"/>
          <p:cNvSpPr/>
          <p:nvPr/>
        </p:nvSpPr>
        <p:spPr>
          <a:xfrm>
            <a:off x="4709160" y="2889504"/>
            <a:ext cx="54864" cy="59436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1"/>
          <p:cNvSpPr/>
          <p:nvPr/>
        </p:nvSpPr>
        <p:spPr>
          <a:xfrm>
            <a:off x="4846320" y="2944368"/>
            <a:ext cx="18288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Negative</a:t>
            </a:r>
            <a:endParaRPr b="0" i="0" sz="1200" u="none" cap="none" strike="noStrike">
              <a:solidFill>
                <a:schemeClr val="dk1"/>
              </a:solidFill>
              <a:latin typeface="Calibri"/>
              <a:ea typeface="Calibri"/>
              <a:cs typeface="Calibri"/>
              <a:sym typeface="Calibri"/>
            </a:endParaRPr>
          </a:p>
        </p:txBody>
      </p:sp>
      <p:sp>
        <p:nvSpPr>
          <p:cNvPr id="334" name="Google Shape;334;p21"/>
          <p:cNvSpPr/>
          <p:nvPr/>
        </p:nvSpPr>
        <p:spPr>
          <a:xfrm>
            <a:off x="7818120" y="2926080"/>
            <a:ext cx="777240" cy="29260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F4444"/>
              </a:buClr>
              <a:buSzPts val="1800"/>
              <a:buFont typeface="Calibri"/>
              <a:buNone/>
            </a:pPr>
            <a:r>
              <a:rPr b="1" i="0" lang="en-US" sz="1800" u="none" cap="none" strike="noStrike">
                <a:solidFill>
                  <a:srgbClr val="EF4444"/>
                </a:solidFill>
                <a:latin typeface="Calibri"/>
                <a:ea typeface="Calibri"/>
                <a:cs typeface="Calibri"/>
                <a:sym typeface="Calibri"/>
              </a:rPr>
              <a:t>10.8%</a:t>
            </a:r>
            <a:endParaRPr b="0" i="0" sz="1800" u="none" cap="none" strike="noStrike">
              <a:solidFill>
                <a:schemeClr val="dk1"/>
              </a:solidFill>
              <a:latin typeface="Calibri"/>
              <a:ea typeface="Calibri"/>
              <a:cs typeface="Calibri"/>
              <a:sym typeface="Calibri"/>
            </a:endParaRPr>
          </a:p>
        </p:txBody>
      </p:sp>
      <p:sp>
        <p:nvSpPr>
          <p:cNvPr id="335" name="Google Shape;335;p21"/>
          <p:cNvSpPr/>
          <p:nvPr/>
        </p:nvSpPr>
        <p:spPr>
          <a:xfrm>
            <a:off x="4846320" y="3227832"/>
            <a:ext cx="36576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36" name="Google Shape;336;p21"/>
          <p:cNvSpPr/>
          <p:nvPr/>
        </p:nvSpPr>
        <p:spPr>
          <a:xfrm>
            <a:off x="365760" y="4005072"/>
            <a:ext cx="8412480" cy="50292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1"/>
          <p:cNvSpPr/>
          <p:nvPr/>
        </p:nvSpPr>
        <p:spPr>
          <a:xfrm>
            <a:off x="406980" y="4000455"/>
            <a:ext cx="8504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lang="en-US" sz="1000">
                <a:solidFill>
                  <a:srgbClr val="02C39A"/>
                </a:solidFill>
                <a:latin typeface="Calibri"/>
                <a:ea typeface="Calibri"/>
                <a:cs typeface="Calibri"/>
                <a:sym typeface="Calibri"/>
              </a:rPr>
              <a:t>⚠  Key Findings:  </a:t>
            </a:r>
            <a:endParaRPr b="1" sz="1000">
              <a:solidFill>
                <a:srgbClr val="02C39A"/>
              </a:solidFill>
              <a:latin typeface="Calibri"/>
              <a:ea typeface="Calibri"/>
              <a:cs typeface="Calibri"/>
              <a:sym typeface="Calibri"/>
            </a:endParaRPr>
          </a:p>
          <a:p>
            <a:pPr indent="-292100" lvl="0" marL="457200" marR="0" rtl="0" algn="l">
              <a:spcBef>
                <a:spcPts val="0"/>
              </a:spcBef>
              <a:spcAft>
                <a:spcPts val="0"/>
              </a:spcAft>
              <a:buClr>
                <a:srgbClr val="02C39A"/>
              </a:buClr>
              <a:buSzPts val="1000"/>
              <a:buFont typeface="Calibri"/>
              <a:buChar char="-"/>
            </a:pPr>
            <a:r>
              <a:rPr b="1" i="0" lang="en-US" sz="1000" u="none" cap="none" strike="noStrike">
                <a:solidFill>
                  <a:srgbClr val="02C39A"/>
                </a:solidFill>
                <a:latin typeface="Calibri"/>
                <a:ea typeface="Calibri"/>
                <a:cs typeface="Calibri"/>
                <a:sym typeface="Calibri"/>
              </a:rPr>
              <a:t>Sony PlayMemories Online = lowest sentiment score → Critical Remediation Target</a:t>
            </a:r>
            <a:endParaRPr b="1" sz="1000">
              <a:solidFill>
                <a:srgbClr val="02C39A"/>
              </a:solidFill>
              <a:latin typeface="Calibri"/>
              <a:ea typeface="Calibri"/>
              <a:cs typeface="Calibri"/>
              <a:sym typeface="Calibri"/>
            </a:endParaRPr>
          </a:p>
          <a:p>
            <a:pPr indent="-292100" lvl="0" marL="457200" marR="0" rtl="0" algn="l">
              <a:spcBef>
                <a:spcPts val="0"/>
              </a:spcBef>
              <a:spcAft>
                <a:spcPts val="0"/>
              </a:spcAft>
              <a:buClr>
                <a:srgbClr val="02C39A"/>
              </a:buClr>
              <a:buSzPts val="1000"/>
              <a:buFont typeface="Calibri"/>
              <a:buChar char="-"/>
            </a:pPr>
            <a:r>
              <a:rPr b="1" lang="en-US" sz="1000">
                <a:solidFill>
                  <a:srgbClr val="02C39A"/>
                </a:solidFill>
                <a:latin typeface="Calibri"/>
                <a:ea typeface="Calibri"/>
                <a:cs typeface="Calibri"/>
                <a:sym typeface="Calibri"/>
              </a:rPr>
              <a:t>PlayMemories avg VADER 0.21 (lowest) — automated model underestimated negativity; manual inspection confirmed Critical Remediation Target</a:t>
            </a:r>
            <a:endParaRPr b="1" sz="1000">
              <a:solidFill>
                <a:srgbClr val="02C39A"/>
              </a:solidFill>
              <a:latin typeface="Calibri"/>
              <a:ea typeface="Calibri"/>
              <a:cs typeface="Calibri"/>
              <a:sym typeface="Calibri"/>
            </a:endParaRPr>
          </a:p>
          <a:p>
            <a:pPr indent="0" lvl="0" marL="0" marR="0" rtl="0" algn="ctr">
              <a:spcBef>
                <a:spcPts val="0"/>
              </a:spcBef>
              <a:spcAft>
                <a:spcPts val="0"/>
              </a:spcAft>
              <a:buClr>
                <a:srgbClr val="02C39A"/>
              </a:buClr>
              <a:buSzPts val="1100"/>
              <a:buFont typeface="Calibri"/>
              <a:buNone/>
            </a:pPr>
            <a:r>
              <a:t/>
            </a:r>
            <a:endParaRPr b="1" sz="1100">
              <a:solidFill>
                <a:srgbClr val="02C39A"/>
              </a:solidFill>
              <a:latin typeface="Calibri"/>
              <a:ea typeface="Calibri"/>
              <a:cs typeface="Calibri"/>
              <a:sym typeface="Calibri"/>
            </a:endParaRPr>
          </a:p>
        </p:txBody>
      </p:sp>
      <p:pic>
        <p:nvPicPr>
          <p:cNvPr id="338" name="Google Shape;338;p21" title="Screenshot 2026-04-27 at 11.37.01 PM.png"/>
          <p:cNvPicPr preferRelativeResize="0"/>
          <p:nvPr/>
        </p:nvPicPr>
        <p:blipFill>
          <a:blip r:embed="rId3">
            <a:alphaModFix/>
          </a:blip>
          <a:stretch>
            <a:fillRect/>
          </a:stretch>
        </p:blipFill>
        <p:spPr>
          <a:xfrm>
            <a:off x="4572000" y="984050"/>
            <a:ext cx="4206249" cy="29443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43" name="Shape 343"/>
        <p:cNvGrpSpPr/>
        <p:nvPr/>
      </p:nvGrpSpPr>
      <p:grpSpPr>
        <a:xfrm>
          <a:off x="0" y="0"/>
          <a:ext cx="0" cy="0"/>
          <a:chOff x="0" y="0"/>
          <a:chExt cx="0" cy="0"/>
        </a:xfrm>
      </p:grpSpPr>
      <p:sp>
        <p:nvSpPr>
          <p:cNvPr id="344" name="Google Shape;344;p22"/>
          <p:cNvSpPr/>
          <p:nvPr/>
        </p:nvSpPr>
        <p:spPr>
          <a:xfrm>
            <a:off x="0" y="0"/>
            <a:ext cx="9144000" cy="6585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22"/>
          <p:cNvSpPr/>
          <p:nvPr/>
        </p:nvSpPr>
        <p:spPr>
          <a:xfrm>
            <a:off x="365760" y="73152"/>
            <a:ext cx="1097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5</a:t>
            </a:r>
            <a:endParaRPr b="0" i="0" sz="800" u="none" cap="none" strike="noStrike">
              <a:solidFill>
                <a:schemeClr val="dk1"/>
              </a:solidFill>
              <a:latin typeface="Calibri"/>
              <a:ea typeface="Calibri"/>
              <a:cs typeface="Calibri"/>
              <a:sym typeface="Calibri"/>
            </a:endParaRPr>
          </a:p>
        </p:txBody>
      </p:sp>
      <p:sp>
        <p:nvSpPr>
          <p:cNvPr id="346" name="Google Shape;346;p22"/>
          <p:cNvSpPr/>
          <p:nvPr/>
        </p:nvSpPr>
        <p:spPr>
          <a:xfrm>
            <a:off x="365760" y="27432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Sentiment Analysis - </a:t>
            </a:r>
            <a:r>
              <a:rPr b="1" lang="en-US" sz="1800">
                <a:solidFill>
                  <a:srgbClr val="FFFFFF"/>
                </a:solidFill>
                <a:latin typeface="Calibri"/>
                <a:ea typeface="Calibri"/>
                <a:cs typeface="Calibri"/>
                <a:sym typeface="Calibri"/>
              </a:rPr>
              <a:t>Visualizations</a:t>
            </a:r>
            <a:endParaRPr b="0" i="0" sz="1800" u="none" cap="none" strike="noStrike">
              <a:solidFill>
                <a:schemeClr val="dk1"/>
              </a:solidFill>
              <a:latin typeface="Calibri"/>
              <a:ea typeface="Calibri"/>
              <a:cs typeface="Calibri"/>
              <a:sym typeface="Calibri"/>
            </a:endParaRPr>
          </a:p>
        </p:txBody>
      </p:sp>
      <p:sp>
        <p:nvSpPr>
          <p:cNvPr id="347" name="Google Shape;347;p22"/>
          <p:cNvSpPr/>
          <p:nvPr/>
        </p:nvSpPr>
        <p:spPr>
          <a:xfrm>
            <a:off x="8732520" y="164592"/>
            <a:ext cx="320100" cy="32010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2"/>
          <p:cNvSpPr/>
          <p:nvPr/>
        </p:nvSpPr>
        <p:spPr>
          <a:xfrm>
            <a:off x="365760" y="960120"/>
            <a:ext cx="39318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22"/>
          <p:cNvSpPr/>
          <p:nvPr/>
        </p:nvSpPr>
        <p:spPr>
          <a:xfrm>
            <a:off x="365760" y="960120"/>
            <a:ext cx="54900"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22"/>
          <p:cNvSpPr/>
          <p:nvPr/>
        </p:nvSpPr>
        <p:spPr>
          <a:xfrm>
            <a:off x="502920" y="938176"/>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51" name="Google Shape;351;p22"/>
          <p:cNvSpPr/>
          <p:nvPr/>
        </p:nvSpPr>
        <p:spPr>
          <a:xfrm>
            <a:off x="502920" y="1206678"/>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Models Used</a:t>
            </a:r>
            <a:endParaRPr b="0" i="0" sz="1200" u="none" cap="none" strike="noStrike">
              <a:solidFill>
                <a:schemeClr val="dk1"/>
              </a:solidFill>
              <a:latin typeface="Calibri"/>
              <a:ea typeface="Calibri"/>
              <a:cs typeface="Calibri"/>
              <a:sym typeface="Calibri"/>
            </a:endParaRPr>
          </a:p>
        </p:txBody>
      </p:sp>
      <p:sp>
        <p:nvSpPr>
          <p:cNvPr id="352" name="Google Shape;352;p22"/>
          <p:cNvSpPr/>
          <p:nvPr/>
        </p:nvSpPr>
        <p:spPr>
          <a:xfrm>
            <a:off x="502920" y="1488979"/>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VADER (compound score) + TextBlob (polarity) — dual-model validation for accuracy</a:t>
            </a:r>
            <a:endParaRPr b="0" i="0" sz="1000" u="none" cap="none" strike="noStrike">
              <a:solidFill>
                <a:schemeClr val="dk1"/>
              </a:solidFill>
              <a:latin typeface="Calibri"/>
              <a:ea typeface="Calibri"/>
              <a:cs typeface="Calibri"/>
              <a:sym typeface="Calibri"/>
            </a:endParaRPr>
          </a:p>
        </p:txBody>
      </p:sp>
      <p:sp>
        <p:nvSpPr>
          <p:cNvPr id="353" name="Google Shape;353;p22"/>
          <p:cNvSpPr/>
          <p:nvPr/>
        </p:nvSpPr>
        <p:spPr>
          <a:xfrm>
            <a:off x="365760" y="1965960"/>
            <a:ext cx="39318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2"/>
          <p:cNvSpPr/>
          <p:nvPr/>
        </p:nvSpPr>
        <p:spPr>
          <a:xfrm>
            <a:off x="365760" y="1965960"/>
            <a:ext cx="54900"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2"/>
          <p:cNvSpPr/>
          <p:nvPr/>
        </p:nvSpPr>
        <p:spPr>
          <a:xfrm>
            <a:off x="502920" y="1933709"/>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56" name="Google Shape;356;p22"/>
          <p:cNvSpPr/>
          <p:nvPr/>
        </p:nvSpPr>
        <p:spPr>
          <a:xfrm>
            <a:off x="502920" y="2160980"/>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Classification Rules</a:t>
            </a:r>
            <a:endParaRPr b="0" i="0" sz="1200" u="none" cap="none" strike="noStrike">
              <a:solidFill>
                <a:schemeClr val="dk1"/>
              </a:solidFill>
              <a:latin typeface="Calibri"/>
              <a:ea typeface="Calibri"/>
              <a:cs typeface="Calibri"/>
              <a:sym typeface="Calibri"/>
            </a:endParaRPr>
          </a:p>
        </p:txBody>
      </p:sp>
      <p:sp>
        <p:nvSpPr>
          <p:cNvPr id="357" name="Google Shape;357;p22"/>
          <p:cNvSpPr/>
          <p:nvPr/>
        </p:nvSpPr>
        <p:spPr>
          <a:xfrm>
            <a:off x="502920" y="2463896"/>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Score ≥ 0.05 → Positive  |  Score ≤ −0.05 → Negative  |  Between → Neutral</a:t>
            </a:r>
            <a:endParaRPr b="0" i="0" sz="1000" u="none" cap="none" strike="noStrike">
              <a:solidFill>
                <a:schemeClr val="dk1"/>
              </a:solidFill>
              <a:latin typeface="Calibri"/>
              <a:ea typeface="Calibri"/>
              <a:cs typeface="Calibri"/>
              <a:sym typeface="Calibri"/>
            </a:endParaRPr>
          </a:p>
        </p:txBody>
      </p:sp>
      <p:sp>
        <p:nvSpPr>
          <p:cNvPr id="358" name="Google Shape;358;p22"/>
          <p:cNvSpPr/>
          <p:nvPr/>
        </p:nvSpPr>
        <p:spPr>
          <a:xfrm>
            <a:off x="365760" y="2971800"/>
            <a:ext cx="3931800" cy="9144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22"/>
          <p:cNvSpPr/>
          <p:nvPr/>
        </p:nvSpPr>
        <p:spPr>
          <a:xfrm>
            <a:off x="365760" y="2971800"/>
            <a:ext cx="54900" cy="9144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22"/>
          <p:cNvSpPr/>
          <p:nvPr/>
        </p:nvSpPr>
        <p:spPr>
          <a:xfrm>
            <a:off x="502920" y="2949856"/>
            <a:ext cx="4116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A896"/>
              </a:buClr>
              <a:buSzPts val="1600"/>
              <a:buFont typeface="Quattrocento Sans"/>
              <a:buNone/>
            </a:pPr>
            <a:r>
              <a:rPr b="0" i="0" lang="en-US" sz="1600" u="none" cap="none" strike="noStrike">
                <a:solidFill>
                  <a:srgbClr val="00A896"/>
                </a:solidFill>
                <a:latin typeface="Quattrocento Sans"/>
                <a:ea typeface="Quattrocento Sans"/>
                <a:cs typeface="Quattrocento Sans"/>
                <a:sym typeface="Quattrocento Sans"/>
              </a:rPr>
              <a:t>🔎</a:t>
            </a:r>
            <a:endParaRPr b="0" i="0" sz="1600" u="none" cap="none" strike="noStrike">
              <a:solidFill>
                <a:schemeClr val="dk1"/>
              </a:solidFill>
              <a:latin typeface="Calibri"/>
              <a:ea typeface="Calibri"/>
              <a:cs typeface="Calibri"/>
              <a:sym typeface="Calibri"/>
            </a:endParaRPr>
          </a:p>
        </p:txBody>
      </p:sp>
      <p:sp>
        <p:nvSpPr>
          <p:cNvPr id="361" name="Google Shape;361;p22"/>
          <p:cNvSpPr/>
          <p:nvPr/>
        </p:nvSpPr>
        <p:spPr>
          <a:xfrm>
            <a:off x="502920" y="3197743"/>
            <a:ext cx="3703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Source Comparison</a:t>
            </a:r>
            <a:endParaRPr b="0" i="0" sz="1200" u="none" cap="none" strike="noStrike">
              <a:solidFill>
                <a:schemeClr val="dk1"/>
              </a:solidFill>
              <a:latin typeface="Calibri"/>
              <a:ea typeface="Calibri"/>
              <a:cs typeface="Calibri"/>
              <a:sym typeface="Calibri"/>
            </a:endParaRPr>
          </a:p>
        </p:txBody>
      </p:sp>
      <p:sp>
        <p:nvSpPr>
          <p:cNvPr id="362" name="Google Shape;362;p22"/>
          <p:cNvSpPr/>
          <p:nvPr/>
        </p:nvSpPr>
        <p:spPr>
          <a:xfrm>
            <a:off x="502920" y="3500659"/>
            <a:ext cx="3703200" cy="210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Third-Party avg VADER: ~0.37  |  Official Sony avg VADER: ~0.10–0.15</a:t>
            </a:r>
            <a:endParaRPr b="0" i="0" sz="1000" u="none" cap="none" strike="noStrike">
              <a:solidFill>
                <a:schemeClr val="dk1"/>
              </a:solidFill>
              <a:latin typeface="Calibri"/>
              <a:ea typeface="Calibri"/>
              <a:cs typeface="Calibri"/>
              <a:sym typeface="Calibri"/>
            </a:endParaRPr>
          </a:p>
        </p:txBody>
      </p:sp>
      <p:sp>
        <p:nvSpPr>
          <p:cNvPr id="363" name="Google Shape;363;p22"/>
          <p:cNvSpPr/>
          <p:nvPr/>
        </p:nvSpPr>
        <p:spPr>
          <a:xfrm>
            <a:off x="4572000" y="960120"/>
            <a:ext cx="4206300" cy="2944500"/>
          </a:xfrm>
          <a:prstGeom prst="rect">
            <a:avLst/>
          </a:prstGeom>
          <a:solidFill>
            <a:srgbClr val="FFFFFF"/>
          </a:solidFill>
          <a:ln cap="flat" cmpd="sng" w="12700">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22"/>
          <p:cNvSpPr/>
          <p:nvPr/>
        </p:nvSpPr>
        <p:spPr>
          <a:xfrm>
            <a:off x="4709160" y="1024128"/>
            <a:ext cx="39318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Sentiment Distribution — 166 Reviews</a:t>
            </a:r>
            <a:endParaRPr b="0" i="0" sz="1200" u="none" cap="none" strike="noStrike">
              <a:solidFill>
                <a:schemeClr val="dk1"/>
              </a:solidFill>
              <a:latin typeface="Calibri"/>
              <a:ea typeface="Calibri"/>
              <a:cs typeface="Calibri"/>
              <a:sym typeface="Calibri"/>
            </a:endParaRPr>
          </a:p>
        </p:txBody>
      </p:sp>
      <p:sp>
        <p:nvSpPr>
          <p:cNvPr id="365" name="Google Shape;365;p22"/>
          <p:cNvSpPr/>
          <p:nvPr/>
        </p:nvSpPr>
        <p:spPr>
          <a:xfrm>
            <a:off x="4709160" y="1389888"/>
            <a:ext cx="3931800" cy="59430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2"/>
          <p:cNvSpPr/>
          <p:nvPr/>
        </p:nvSpPr>
        <p:spPr>
          <a:xfrm>
            <a:off x="4709160" y="1389888"/>
            <a:ext cx="2488800" cy="594300"/>
          </a:xfrm>
          <a:prstGeom prst="rect">
            <a:avLst/>
          </a:prstGeom>
          <a:solidFill>
            <a:srgbClr val="00A896">
              <a:alpha val="30199"/>
            </a:srgbClr>
          </a:solidFill>
          <a:ln cap="flat" cmpd="sng" w="12700">
            <a:solidFill>
              <a:srgbClr val="00A896">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22"/>
          <p:cNvSpPr/>
          <p:nvPr/>
        </p:nvSpPr>
        <p:spPr>
          <a:xfrm>
            <a:off x="4709160" y="1389888"/>
            <a:ext cx="54900" cy="59430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2"/>
          <p:cNvSpPr/>
          <p:nvPr/>
        </p:nvSpPr>
        <p:spPr>
          <a:xfrm>
            <a:off x="4846320" y="1444752"/>
            <a:ext cx="1828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Positive</a:t>
            </a:r>
            <a:endParaRPr b="0" i="0" sz="1200" u="none" cap="none" strike="noStrike">
              <a:solidFill>
                <a:schemeClr val="dk1"/>
              </a:solidFill>
              <a:latin typeface="Calibri"/>
              <a:ea typeface="Calibri"/>
              <a:cs typeface="Calibri"/>
              <a:sym typeface="Calibri"/>
            </a:endParaRPr>
          </a:p>
        </p:txBody>
      </p:sp>
      <p:sp>
        <p:nvSpPr>
          <p:cNvPr id="369" name="Google Shape;369;p22"/>
          <p:cNvSpPr/>
          <p:nvPr/>
        </p:nvSpPr>
        <p:spPr>
          <a:xfrm>
            <a:off x="7818120" y="1426464"/>
            <a:ext cx="777300" cy="29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00A896"/>
              </a:buClr>
              <a:buSzPts val="1800"/>
              <a:buFont typeface="Calibri"/>
              <a:buNone/>
            </a:pPr>
            <a:r>
              <a:rPr b="1" i="0" lang="en-US" sz="1800" u="none" cap="none" strike="noStrike">
                <a:solidFill>
                  <a:srgbClr val="00A896"/>
                </a:solidFill>
                <a:latin typeface="Calibri"/>
                <a:ea typeface="Calibri"/>
                <a:cs typeface="Calibri"/>
                <a:sym typeface="Calibri"/>
              </a:rPr>
              <a:t>63.3%</a:t>
            </a:r>
            <a:endParaRPr b="0" i="0" sz="1800" u="none" cap="none" strike="noStrike">
              <a:solidFill>
                <a:schemeClr val="dk1"/>
              </a:solidFill>
              <a:latin typeface="Calibri"/>
              <a:ea typeface="Calibri"/>
              <a:cs typeface="Calibri"/>
              <a:sym typeface="Calibri"/>
            </a:endParaRPr>
          </a:p>
        </p:txBody>
      </p:sp>
      <p:sp>
        <p:nvSpPr>
          <p:cNvPr id="370" name="Google Shape;370;p22"/>
          <p:cNvSpPr/>
          <p:nvPr/>
        </p:nvSpPr>
        <p:spPr>
          <a:xfrm>
            <a:off x="4846320" y="1728216"/>
            <a:ext cx="3657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71" name="Google Shape;371;p22"/>
          <p:cNvSpPr/>
          <p:nvPr/>
        </p:nvSpPr>
        <p:spPr>
          <a:xfrm>
            <a:off x="4709160" y="2139696"/>
            <a:ext cx="3931800" cy="59430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22"/>
          <p:cNvSpPr/>
          <p:nvPr/>
        </p:nvSpPr>
        <p:spPr>
          <a:xfrm>
            <a:off x="4709160" y="2139696"/>
            <a:ext cx="1018500" cy="594300"/>
          </a:xfrm>
          <a:prstGeom prst="rect">
            <a:avLst/>
          </a:prstGeom>
          <a:solidFill>
            <a:srgbClr val="94A3B8">
              <a:alpha val="30199"/>
            </a:srgbClr>
          </a:solidFill>
          <a:ln cap="flat" cmpd="sng" w="12700">
            <a:solidFill>
              <a:srgbClr val="94A3B8">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22"/>
          <p:cNvSpPr/>
          <p:nvPr/>
        </p:nvSpPr>
        <p:spPr>
          <a:xfrm>
            <a:off x="4709160" y="2139696"/>
            <a:ext cx="54900" cy="594300"/>
          </a:xfrm>
          <a:prstGeom prst="rect">
            <a:avLst/>
          </a:prstGeom>
          <a:solidFill>
            <a:srgbClr val="94A3B8"/>
          </a:solidFill>
          <a:ln cap="flat" cmpd="sng" w="12700">
            <a:solidFill>
              <a:srgbClr val="94A3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2"/>
          <p:cNvSpPr/>
          <p:nvPr/>
        </p:nvSpPr>
        <p:spPr>
          <a:xfrm>
            <a:off x="4846320" y="2194560"/>
            <a:ext cx="1828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Neutral</a:t>
            </a:r>
            <a:endParaRPr b="0" i="0" sz="1200" u="none" cap="none" strike="noStrike">
              <a:solidFill>
                <a:schemeClr val="dk1"/>
              </a:solidFill>
              <a:latin typeface="Calibri"/>
              <a:ea typeface="Calibri"/>
              <a:cs typeface="Calibri"/>
              <a:sym typeface="Calibri"/>
            </a:endParaRPr>
          </a:p>
        </p:txBody>
      </p:sp>
      <p:sp>
        <p:nvSpPr>
          <p:cNvPr id="375" name="Google Shape;375;p22"/>
          <p:cNvSpPr/>
          <p:nvPr/>
        </p:nvSpPr>
        <p:spPr>
          <a:xfrm>
            <a:off x="7818120" y="2176272"/>
            <a:ext cx="777300" cy="29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94A3B8"/>
              </a:buClr>
              <a:buSzPts val="1800"/>
              <a:buFont typeface="Calibri"/>
              <a:buNone/>
            </a:pPr>
            <a:r>
              <a:rPr b="1" i="0" lang="en-US" sz="1800" u="none" cap="none" strike="noStrike">
                <a:solidFill>
                  <a:srgbClr val="94A3B8"/>
                </a:solidFill>
                <a:latin typeface="Calibri"/>
                <a:ea typeface="Calibri"/>
                <a:cs typeface="Calibri"/>
                <a:sym typeface="Calibri"/>
              </a:rPr>
              <a:t>25.9%</a:t>
            </a:r>
            <a:endParaRPr b="0" i="0" sz="1800" u="none" cap="none" strike="noStrike">
              <a:solidFill>
                <a:schemeClr val="dk1"/>
              </a:solidFill>
              <a:latin typeface="Calibri"/>
              <a:ea typeface="Calibri"/>
              <a:cs typeface="Calibri"/>
              <a:sym typeface="Calibri"/>
            </a:endParaRPr>
          </a:p>
        </p:txBody>
      </p:sp>
      <p:sp>
        <p:nvSpPr>
          <p:cNvPr id="376" name="Google Shape;376;p22"/>
          <p:cNvSpPr/>
          <p:nvPr/>
        </p:nvSpPr>
        <p:spPr>
          <a:xfrm>
            <a:off x="4846320" y="2478024"/>
            <a:ext cx="3657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77" name="Google Shape;377;p22"/>
          <p:cNvSpPr/>
          <p:nvPr/>
        </p:nvSpPr>
        <p:spPr>
          <a:xfrm>
            <a:off x="4709160" y="2889504"/>
            <a:ext cx="3931800" cy="594300"/>
          </a:xfrm>
          <a:prstGeom prst="rect">
            <a:avLst/>
          </a:prstGeom>
          <a:solidFill>
            <a:srgbClr val="F0F4F8"/>
          </a:solidFill>
          <a:ln cap="flat" cmpd="sng" w="12700">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22"/>
          <p:cNvSpPr/>
          <p:nvPr/>
        </p:nvSpPr>
        <p:spPr>
          <a:xfrm>
            <a:off x="4709160" y="2889504"/>
            <a:ext cx="424500" cy="594300"/>
          </a:xfrm>
          <a:prstGeom prst="rect">
            <a:avLst/>
          </a:prstGeom>
          <a:solidFill>
            <a:srgbClr val="EF4444">
              <a:alpha val="30199"/>
            </a:srgbClr>
          </a:solidFill>
          <a:ln cap="flat" cmpd="sng" w="12700">
            <a:solidFill>
              <a:srgbClr val="EF4444">
                <a:alpha val="3019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22"/>
          <p:cNvSpPr/>
          <p:nvPr/>
        </p:nvSpPr>
        <p:spPr>
          <a:xfrm>
            <a:off x="4709160" y="2889504"/>
            <a:ext cx="54900" cy="594300"/>
          </a:xfrm>
          <a:prstGeom prst="rect">
            <a:avLst/>
          </a:prstGeom>
          <a:solidFill>
            <a:srgbClr val="EF4444"/>
          </a:solidFill>
          <a:ln cap="flat" cmpd="sng" w="1270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22"/>
          <p:cNvSpPr/>
          <p:nvPr/>
        </p:nvSpPr>
        <p:spPr>
          <a:xfrm>
            <a:off x="4846320" y="2944368"/>
            <a:ext cx="1828800" cy="237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044"/>
              </a:buClr>
              <a:buSzPts val="1200"/>
              <a:buFont typeface="Calibri"/>
              <a:buNone/>
            </a:pPr>
            <a:r>
              <a:rPr b="1" i="0" lang="en-US" sz="1200" u="none" cap="none" strike="noStrike">
                <a:solidFill>
                  <a:srgbClr val="0F2044"/>
                </a:solidFill>
                <a:latin typeface="Calibri"/>
                <a:ea typeface="Calibri"/>
                <a:cs typeface="Calibri"/>
                <a:sym typeface="Calibri"/>
              </a:rPr>
              <a:t>Negative</a:t>
            </a:r>
            <a:endParaRPr b="0" i="0" sz="1200" u="none" cap="none" strike="noStrike">
              <a:solidFill>
                <a:schemeClr val="dk1"/>
              </a:solidFill>
              <a:latin typeface="Calibri"/>
              <a:ea typeface="Calibri"/>
              <a:cs typeface="Calibri"/>
              <a:sym typeface="Calibri"/>
            </a:endParaRPr>
          </a:p>
        </p:txBody>
      </p:sp>
      <p:sp>
        <p:nvSpPr>
          <p:cNvPr id="381" name="Google Shape;381;p22"/>
          <p:cNvSpPr/>
          <p:nvPr/>
        </p:nvSpPr>
        <p:spPr>
          <a:xfrm>
            <a:off x="7818120" y="2926080"/>
            <a:ext cx="777300" cy="2925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EF4444"/>
              </a:buClr>
              <a:buSzPts val="1800"/>
              <a:buFont typeface="Calibri"/>
              <a:buNone/>
            </a:pPr>
            <a:r>
              <a:rPr b="1" i="0" lang="en-US" sz="1800" u="none" cap="none" strike="noStrike">
                <a:solidFill>
                  <a:srgbClr val="EF4444"/>
                </a:solidFill>
                <a:latin typeface="Calibri"/>
                <a:ea typeface="Calibri"/>
                <a:cs typeface="Calibri"/>
                <a:sym typeface="Calibri"/>
              </a:rPr>
              <a:t>10.8%</a:t>
            </a:r>
            <a:endParaRPr b="0" i="0" sz="1800" u="none" cap="none" strike="noStrike">
              <a:solidFill>
                <a:schemeClr val="dk1"/>
              </a:solidFill>
              <a:latin typeface="Calibri"/>
              <a:ea typeface="Calibri"/>
              <a:cs typeface="Calibri"/>
              <a:sym typeface="Calibri"/>
            </a:endParaRPr>
          </a:p>
        </p:txBody>
      </p:sp>
      <p:sp>
        <p:nvSpPr>
          <p:cNvPr id="382" name="Google Shape;382;p22"/>
          <p:cNvSpPr/>
          <p:nvPr/>
        </p:nvSpPr>
        <p:spPr>
          <a:xfrm>
            <a:off x="4846320" y="3227832"/>
            <a:ext cx="3657600" cy="183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850"/>
              <a:buFont typeface="Calibri"/>
              <a:buNone/>
            </a:pPr>
            <a:r>
              <a:rPr b="0" i="0" lang="en-US" sz="850" u="none" cap="none" strike="noStrike">
                <a:solidFill>
                  <a:srgbClr val="64748B"/>
                </a:solidFill>
                <a:latin typeface="Calibri"/>
                <a:ea typeface="Calibri"/>
                <a:cs typeface="Calibri"/>
                <a:sym typeface="Calibri"/>
              </a:rPr>
              <a:t>Global Sentiment Index: 67/100</a:t>
            </a:r>
            <a:endParaRPr b="0" i="0" sz="850" u="none" cap="none" strike="noStrike">
              <a:solidFill>
                <a:schemeClr val="dk1"/>
              </a:solidFill>
              <a:latin typeface="Calibri"/>
              <a:ea typeface="Calibri"/>
              <a:cs typeface="Calibri"/>
              <a:sym typeface="Calibri"/>
            </a:endParaRPr>
          </a:p>
        </p:txBody>
      </p:sp>
      <p:sp>
        <p:nvSpPr>
          <p:cNvPr id="383" name="Google Shape;383;p22"/>
          <p:cNvSpPr/>
          <p:nvPr/>
        </p:nvSpPr>
        <p:spPr>
          <a:xfrm>
            <a:off x="365760" y="4005072"/>
            <a:ext cx="8412600" cy="5028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2"/>
          <p:cNvSpPr/>
          <p:nvPr/>
        </p:nvSpPr>
        <p:spPr>
          <a:xfrm>
            <a:off x="406980" y="4000455"/>
            <a:ext cx="8504100" cy="658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1100"/>
              <a:buFont typeface="Calibri"/>
              <a:buNone/>
            </a:pPr>
            <a:r>
              <a:rPr b="1" lang="en-US" sz="1000">
                <a:solidFill>
                  <a:srgbClr val="02C39A"/>
                </a:solidFill>
                <a:latin typeface="Calibri"/>
                <a:ea typeface="Calibri"/>
                <a:cs typeface="Calibri"/>
                <a:sym typeface="Calibri"/>
              </a:rPr>
              <a:t>⚠  Key Findings:  </a:t>
            </a:r>
            <a:endParaRPr b="1" sz="1000">
              <a:solidFill>
                <a:srgbClr val="02C39A"/>
              </a:solidFill>
              <a:latin typeface="Calibri"/>
              <a:ea typeface="Calibri"/>
              <a:cs typeface="Calibri"/>
              <a:sym typeface="Calibri"/>
            </a:endParaRPr>
          </a:p>
          <a:p>
            <a:pPr indent="-292100" lvl="0" marL="457200" marR="0" rtl="0" algn="l">
              <a:spcBef>
                <a:spcPts val="0"/>
              </a:spcBef>
              <a:spcAft>
                <a:spcPts val="0"/>
              </a:spcAft>
              <a:buClr>
                <a:srgbClr val="02C39A"/>
              </a:buClr>
              <a:buSzPts val="1000"/>
              <a:buFont typeface="Calibri"/>
              <a:buChar char="-"/>
            </a:pPr>
            <a:r>
              <a:rPr b="1" i="0" lang="en-US" sz="1000" u="none" cap="none" strike="noStrike">
                <a:solidFill>
                  <a:srgbClr val="02C39A"/>
                </a:solidFill>
                <a:latin typeface="Calibri"/>
                <a:ea typeface="Calibri"/>
                <a:cs typeface="Calibri"/>
                <a:sym typeface="Calibri"/>
              </a:rPr>
              <a:t>Sony PlayMemories Online = lowest sentiment score → Critical Remediation Target</a:t>
            </a:r>
            <a:endParaRPr b="1" sz="1000">
              <a:solidFill>
                <a:srgbClr val="02C39A"/>
              </a:solidFill>
              <a:latin typeface="Calibri"/>
              <a:ea typeface="Calibri"/>
              <a:cs typeface="Calibri"/>
              <a:sym typeface="Calibri"/>
            </a:endParaRPr>
          </a:p>
          <a:p>
            <a:pPr indent="-292100" lvl="0" marL="457200" marR="0" rtl="0" algn="l">
              <a:spcBef>
                <a:spcPts val="0"/>
              </a:spcBef>
              <a:spcAft>
                <a:spcPts val="0"/>
              </a:spcAft>
              <a:buClr>
                <a:srgbClr val="02C39A"/>
              </a:buClr>
              <a:buSzPts val="1000"/>
              <a:buFont typeface="Calibri"/>
              <a:buChar char="-"/>
            </a:pPr>
            <a:r>
              <a:rPr b="1" lang="en-US" sz="1000">
                <a:solidFill>
                  <a:srgbClr val="02C39A"/>
                </a:solidFill>
                <a:latin typeface="Calibri"/>
                <a:ea typeface="Calibri"/>
                <a:cs typeface="Calibri"/>
                <a:sym typeface="Calibri"/>
              </a:rPr>
              <a:t>PlayMemories avg VADER 0.21 (lowest) — automated model underestimated negativity; manual inspection confirmed Critical Remediation Target</a:t>
            </a:r>
            <a:endParaRPr b="1" sz="1000">
              <a:solidFill>
                <a:srgbClr val="02C39A"/>
              </a:solidFill>
              <a:latin typeface="Calibri"/>
              <a:ea typeface="Calibri"/>
              <a:cs typeface="Calibri"/>
              <a:sym typeface="Calibri"/>
            </a:endParaRPr>
          </a:p>
          <a:p>
            <a:pPr indent="0" lvl="0" marL="0" marR="0" rtl="0" algn="ctr">
              <a:spcBef>
                <a:spcPts val="0"/>
              </a:spcBef>
              <a:spcAft>
                <a:spcPts val="0"/>
              </a:spcAft>
              <a:buClr>
                <a:srgbClr val="02C39A"/>
              </a:buClr>
              <a:buSzPts val="1100"/>
              <a:buFont typeface="Calibri"/>
              <a:buNone/>
            </a:pPr>
            <a:r>
              <a:t/>
            </a:r>
            <a:endParaRPr b="1" sz="1100">
              <a:solidFill>
                <a:srgbClr val="02C39A"/>
              </a:solidFill>
              <a:latin typeface="Calibri"/>
              <a:ea typeface="Calibri"/>
              <a:cs typeface="Calibri"/>
              <a:sym typeface="Calibri"/>
            </a:endParaRPr>
          </a:p>
        </p:txBody>
      </p:sp>
      <p:pic>
        <p:nvPicPr>
          <p:cNvPr id="385" name="Google Shape;385;p22" title="Screenshot 2026-04-27 at 11.37.01 PM.png"/>
          <p:cNvPicPr preferRelativeResize="0"/>
          <p:nvPr/>
        </p:nvPicPr>
        <p:blipFill>
          <a:blip r:embed="rId3">
            <a:alphaModFix/>
          </a:blip>
          <a:stretch>
            <a:fillRect/>
          </a:stretch>
        </p:blipFill>
        <p:spPr>
          <a:xfrm>
            <a:off x="4572000" y="984050"/>
            <a:ext cx="4206249" cy="2944375"/>
          </a:xfrm>
          <a:prstGeom prst="rect">
            <a:avLst/>
          </a:prstGeom>
          <a:noFill/>
          <a:ln>
            <a:noFill/>
          </a:ln>
        </p:spPr>
      </p:pic>
      <p:pic>
        <p:nvPicPr>
          <p:cNvPr id="386" name="Google Shape;386;p22" title="Screenshot 2026-04-27 at 11.45.50 PM.png"/>
          <p:cNvPicPr preferRelativeResize="0"/>
          <p:nvPr/>
        </p:nvPicPr>
        <p:blipFill>
          <a:blip r:embed="rId4">
            <a:alphaModFix/>
          </a:blip>
          <a:stretch>
            <a:fillRect/>
          </a:stretch>
        </p:blipFill>
        <p:spPr>
          <a:xfrm>
            <a:off x="50" y="658500"/>
            <a:ext cx="9144003" cy="4485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391" name="Shape 391"/>
        <p:cNvGrpSpPr/>
        <p:nvPr/>
      </p:nvGrpSpPr>
      <p:grpSpPr>
        <a:xfrm>
          <a:off x="0" y="0"/>
          <a:ext cx="0" cy="0"/>
          <a:chOff x="0" y="0"/>
          <a:chExt cx="0" cy="0"/>
        </a:xfrm>
      </p:grpSpPr>
      <p:sp>
        <p:nvSpPr>
          <p:cNvPr id="392" name="Google Shape;392;p23"/>
          <p:cNvSpPr/>
          <p:nvPr/>
        </p:nvSpPr>
        <p:spPr>
          <a:xfrm>
            <a:off x="0" y="0"/>
            <a:ext cx="9144000" cy="6585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3"/>
          <p:cNvSpPr/>
          <p:nvPr/>
        </p:nvSpPr>
        <p:spPr>
          <a:xfrm>
            <a:off x="365760" y="73152"/>
            <a:ext cx="1097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5</a:t>
            </a:r>
            <a:endParaRPr b="0" i="0" sz="800" u="none" cap="none" strike="noStrike">
              <a:solidFill>
                <a:schemeClr val="dk1"/>
              </a:solidFill>
              <a:latin typeface="Calibri"/>
              <a:ea typeface="Calibri"/>
              <a:cs typeface="Calibri"/>
              <a:sym typeface="Calibri"/>
            </a:endParaRPr>
          </a:p>
        </p:txBody>
      </p:sp>
      <p:sp>
        <p:nvSpPr>
          <p:cNvPr id="394" name="Google Shape;394;p23"/>
          <p:cNvSpPr/>
          <p:nvPr/>
        </p:nvSpPr>
        <p:spPr>
          <a:xfrm>
            <a:off x="365760" y="27432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Sentiment Analysis - </a:t>
            </a:r>
            <a:r>
              <a:rPr b="1" lang="en-US" sz="1800">
                <a:solidFill>
                  <a:srgbClr val="FFFFFF"/>
                </a:solidFill>
                <a:latin typeface="Calibri"/>
                <a:ea typeface="Calibri"/>
                <a:cs typeface="Calibri"/>
                <a:sym typeface="Calibri"/>
              </a:rPr>
              <a:t>Word Clouds by Product</a:t>
            </a:r>
            <a:endParaRPr b="0" i="0" sz="1800" u="none" cap="none" strike="noStrike">
              <a:solidFill>
                <a:schemeClr val="dk1"/>
              </a:solidFill>
              <a:latin typeface="Calibri"/>
              <a:ea typeface="Calibri"/>
              <a:cs typeface="Calibri"/>
              <a:sym typeface="Calibri"/>
            </a:endParaRPr>
          </a:p>
        </p:txBody>
      </p:sp>
      <p:sp>
        <p:nvSpPr>
          <p:cNvPr id="395" name="Google Shape;395;p23"/>
          <p:cNvSpPr/>
          <p:nvPr/>
        </p:nvSpPr>
        <p:spPr>
          <a:xfrm>
            <a:off x="8732520" y="164592"/>
            <a:ext cx="320100" cy="32010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96" name="Google Shape;396;p23" title="Screenshot 2026-04-27 at 11.47.54 PM.png"/>
          <p:cNvPicPr preferRelativeResize="0"/>
          <p:nvPr/>
        </p:nvPicPr>
        <p:blipFill>
          <a:blip r:embed="rId3">
            <a:alphaModFix/>
          </a:blip>
          <a:stretch>
            <a:fillRect/>
          </a:stretch>
        </p:blipFill>
        <p:spPr>
          <a:xfrm>
            <a:off x="0" y="658500"/>
            <a:ext cx="9144003" cy="4485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8"/>
        </a:solidFill>
      </p:bgPr>
    </p:bg>
    <p:spTree>
      <p:nvGrpSpPr>
        <p:cNvPr id="401" name="Shape 401"/>
        <p:cNvGrpSpPr/>
        <p:nvPr/>
      </p:nvGrpSpPr>
      <p:grpSpPr>
        <a:xfrm>
          <a:off x="0" y="0"/>
          <a:ext cx="0" cy="0"/>
          <a:chOff x="0" y="0"/>
          <a:chExt cx="0" cy="0"/>
        </a:xfrm>
      </p:grpSpPr>
      <p:sp>
        <p:nvSpPr>
          <p:cNvPr id="402" name="Google Shape;402;p24"/>
          <p:cNvSpPr/>
          <p:nvPr/>
        </p:nvSpPr>
        <p:spPr>
          <a:xfrm>
            <a:off x="0" y="0"/>
            <a:ext cx="9144000" cy="658500"/>
          </a:xfrm>
          <a:prstGeom prst="rect">
            <a:avLst/>
          </a:prstGeom>
          <a:solidFill>
            <a:srgbClr val="0F2044"/>
          </a:solidFill>
          <a:ln cap="flat" cmpd="sng" w="12700">
            <a:solidFill>
              <a:srgbClr val="0F20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4"/>
          <p:cNvSpPr/>
          <p:nvPr/>
        </p:nvSpPr>
        <p:spPr>
          <a:xfrm>
            <a:off x="365760" y="73152"/>
            <a:ext cx="10974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2C39A"/>
              </a:buClr>
              <a:buSzPts val="800"/>
              <a:buFont typeface="Calibri"/>
              <a:buNone/>
            </a:pPr>
            <a:r>
              <a:rPr b="1" i="0" lang="en-US" sz="800" u="none" cap="none" strike="noStrike">
                <a:solidFill>
                  <a:srgbClr val="02C39A"/>
                </a:solidFill>
                <a:latin typeface="Calibri"/>
                <a:ea typeface="Calibri"/>
                <a:cs typeface="Calibri"/>
                <a:sym typeface="Calibri"/>
              </a:rPr>
              <a:t>PART 6</a:t>
            </a:r>
            <a:endParaRPr b="0" i="0" sz="800" u="none" cap="none" strike="noStrike">
              <a:solidFill>
                <a:schemeClr val="dk1"/>
              </a:solidFill>
              <a:latin typeface="Calibri"/>
              <a:ea typeface="Calibri"/>
              <a:cs typeface="Calibri"/>
              <a:sym typeface="Calibri"/>
            </a:endParaRPr>
          </a:p>
        </p:txBody>
      </p:sp>
      <p:sp>
        <p:nvSpPr>
          <p:cNvPr id="404" name="Google Shape;404;p24"/>
          <p:cNvSpPr/>
          <p:nvPr/>
        </p:nvSpPr>
        <p:spPr>
          <a:xfrm>
            <a:off x="365760" y="274320"/>
            <a:ext cx="73152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Dashboard &amp; Decision Recommendation - Based on Sentiment Analysis</a:t>
            </a:r>
            <a:endParaRPr b="0" i="0" sz="1800" u="none" cap="none" strike="noStrike">
              <a:solidFill>
                <a:schemeClr val="dk1"/>
              </a:solidFill>
              <a:latin typeface="Calibri"/>
              <a:ea typeface="Calibri"/>
              <a:cs typeface="Calibri"/>
              <a:sym typeface="Calibri"/>
            </a:endParaRPr>
          </a:p>
        </p:txBody>
      </p:sp>
      <p:sp>
        <p:nvSpPr>
          <p:cNvPr id="405" name="Google Shape;405;p24"/>
          <p:cNvSpPr/>
          <p:nvPr/>
        </p:nvSpPr>
        <p:spPr>
          <a:xfrm>
            <a:off x="8732520" y="164592"/>
            <a:ext cx="320100" cy="320100"/>
          </a:xfrm>
          <a:prstGeom prst="ellipse">
            <a:avLst/>
          </a:prstGeom>
          <a:solidFill>
            <a:srgbClr val="02C39A"/>
          </a:solidFill>
          <a:ln cap="flat" cmpd="sng" w="12700">
            <a:solidFill>
              <a:srgbClr val="02C39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4"/>
          <p:cNvSpPr/>
          <p:nvPr/>
        </p:nvSpPr>
        <p:spPr>
          <a:xfrm>
            <a:off x="238125" y="960120"/>
            <a:ext cx="2667000" cy="3095700"/>
          </a:xfrm>
          <a:prstGeom prst="rect">
            <a:avLst/>
          </a:prstGeom>
          <a:solidFill>
            <a:srgbClr val="FFFFFF"/>
          </a:solidFill>
          <a:ln cap="flat" cmpd="sng" w="12675">
            <a:solidFill>
              <a:srgbClr val="E2E8F0"/>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24"/>
          <p:cNvSpPr/>
          <p:nvPr/>
        </p:nvSpPr>
        <p:spPr>
          <a:xfrm>
            <a:off x="333375" y="1143000"/>
            <a:ext cx="2476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A896"/>
                </a:solidFill>
                <a:latin typeface="Calibri"/>
                <a:ea typeface="Calibri"/>
                <a:cs typeface="Calibri"/>
                <a:sym typeface="Calibri"/>
              </a:rPr>
              <a:t>✅ Recommended: Maintain</a:t>
            </a:r>
            <a:endParaRPr b="1" sz="1400">
              <a:solidFill>
                <a:srgbClr val="00A896"/>
              </a:solidFill>
              <a:latin typeface="Calibri"/>
              <a:ea typeface="Calibri"/>
              <a:cs typeface="Calibri"/>
              <a:sym typeface="Calibri"/>
            </a:endParaRPr>
          </a:p>
        </p:txBody>
      </p:sp>
      <p:sp>
        <p:nvSpPr>
          <p:cNvPr id="408" name="Google Shape;408;p24"/>
          <p:cNvSpPr/>
          <p:nvPr/>
        </p:nvSpPr>
        <p:spPr>
          <a:xfrm>
            <a:off x="333375" y="1524000"/>
            <a:ext cx="2476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F2044"/>
                </a:solidFill>
                <a:latin typeface="Calibri"/>
                <a:ea typeface="Calibri"/>
                <a:cs typeface="Calibri"/>
                <a:sym typeface="Calibri"/>
              </a:rPr>
              <a:t>Sony VAIO</a:t>
            </a:r>
            <a:endParaRPr b="1" sz="1800">
              <a:solidFill>
                <a:srgbClr val="0F2044"/>
              </a:solidFill>
              <a:latin typeface="Calibri"/>
              <a:ea typeface="Calibri"/>
              <a:cs typeface="Calibri"/>
              <a:sym typeface="Calibri"/>
            </a:endParaRPr>
          </a:p>
        </p:txBody>
      </p:sp>
      <p:sp>
        <p:nvSpPr>
          <p:cNvPr id="409" name="Google Shape;409;p24"/>
          <p:cNvSpPr/>
          <p:nvPr/>
        </p:nvSpPr>
        <p:spPr>
          <a:xfrm>
            <a:off x="333375" y="2095500"/>
            <a:ext cx="2476500" cy="16191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F2044"/>
                </a:solidFill>
                <a:latin typeface="Calibri"/>
                <a:ea typeface="Calibri"/>
                <a:cs typeface="Calibri"/>
                <a:sym typeface="Calibri"/>
              </a:rPr>
              <a:t>Sentiment Logic:</a:t>
            </a:r>
            <a:endParaRPr b="1" sz="1000">
              <a:solidFill>
                <a:srgbClr val="0F2044"/>
              </a:solidFill>
              <a:latin typeface="Calibri"/>
              <a:ea typeface="Calibri"/>
              <a:cs typeface="Calibri"/>
              <a:sym typeface="Calibri"/>
            </a:endParaRPr>
          </a:p>
          <a:p>
            <a:pPr indent="-292100" lvl="0" marL="457200" rtl="0" algn="l">
              <a:spcBef>
                <a:spcPts val="6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Highest VADER sentiment scores</a:t>
            </a:r>
            <a:endParaRPr b="1" sz="1000">
              <a:solidFill>
                <a:srgbClr val="0F2044"/>
              </a:solidFill>
              <a:latin typeface="Calibri"/>
              <a:ea typeface="Calibri"/>
              <a:cs typeface="Calibri"/>
              <a:sym typeface="Calibri"/>
            </a:endParaRPr>
          </a:p>
          <a:p>
            <a:pPr indent="-292100" lvl="0" marL="457200" rtl="0" algn="l">
              <a:spcBef>
                <a:spcPts val="4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Strongest brand loyalty</a:t>
            </a:r>
            <a:endParaRPr b="1" sz="1000">
              <a:solidFill>
                <a:srgbClr val="0F2044"/>
              </a:solidFill>
              <a:latin typeface="Calibri"/>
              <a:ea typeface="Calibri"/>
              <a:cs typeface="Calibri"/>
              <a:sym typeface="Calibri"/>
            </a:endParaRPr>
          </a:p>
          <a:p>
            <a:pPr indent="-292100" lvl="0" marL="457200" rtl="0" algn="l">
              <a:spcBef>
                <a:spcPts val="4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High hardware reliability</a:t>
            </a:r>
            <a:endParaRPr b="1" sz="1000">
              <a:solidFill>
                <a:srgbClr val="0F2044"/>
              </a:solidFill>
              <a:latin typeface="Calibri"/>
              <a:ea typeface="Calibri"/>
              <a:cs typeface="Calibri"/>
              <a:sym typeface="Calibri"/>
            </a:endParaRPr>
          </a:p>
        </p:txBody>
      </p:sp>
      <p:sp>
        <p:nvSpPr>
          <p:cNvPr id="410" name="Google Shape;410;p24"/>
          <p:cNvSpPr/>
          <p:nvPr/>
        </p:nvSpPr>
        <p:spPr>
          <a:xfrm>
            <a:off x="6238875" y="960120"/>
            <a:ext cx="2667000" cy="3095700"/>
          </a:xfrm>
          <a:prstGeom prst="rect">
            <a:avLst/>
          </a:prstGeom>
          <a:solidFill>
            <a:srgbClr val="0F2044"/>
          </a:solidFill>
          <a:ln cap="flat" cmpd="sng" w="12675">
            <a:solidFill>
              <a:srgbClr val="0F2044"/>
            </a:solidFill>
            <a:prstDash val="solid"/>
            <a:round/>
            <a:headEnd len="sm" w="sm" type="none"/>
            <a:tailEnd len="sm" w="sm" type="none"/>
          </a:ln>
          <a:effectLst>
            <a:outerShdw blurRad="101600" rotWithShape="0" algn="bl" dir="8100000" dist="38100">
              <a:srgbClr val="000000">
                <a:alpha val="12160"/>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24"/>
          <p:cNvSpPr/>
          <p:nvPr/>
        </p:nvSpPr>
        <p:spPr>
          <a:xfrm>
            <a:off x="6334125" y="1143000"/>
            <a:ext cx="24765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EF4444"/>
                </a:solidFill>
                <a:latin typeface="Calibri"/>
                <a:ea typeface="Calibri"/>
                <a:cs typeface="Calibri"/>
                <a:sym typeface="Calibri"/>
              </a:rPr>
              <a:t>⚠️ Recommended: Sunset</a:t>
            </a:r>
            <a:endParaRPr b="1" sz="1400">
              <a:solidFill>
                <a:srgbClr val="EF4444"/>
              </a:solidFill>
              <a:latin typeface="Calibri"/>
              <a:ea typeface="Calibri"/>
              <a:cs typeface="Calibri"/>
              <a:sym typeface="Calibri"/>
            </a:endParaRPr>
          </a:p>
        </p:txBody>
      </p:sp>
      <p:sp>
        <p:nvSpPr>
          <p:cNvPr id="412" name="Google Shape;412;p24"/>
          <p:cNvSpPr/>
          <p:nvPr/>
        </p:nvSpPr>
        <p:spPr>
          <a:xfrm>
            <a:off x="6334125" y="1524000"/>
            <a:ext cx="24765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FFFFFF"/>
                </a:solidFill>
                <a:latin typeface="Calibri"/>
                <a:ea typeface="Calibri"/>
                <a:cs typeface="Calibri"/>
                <a:sym typeface="Calibri"/>
              </a:rPr>
              <a:t>PlayMemories</a:t>
            </a:r>
            <a:endParaRPr b="1" sz="1800">
              <a:solidFill>
                <a:srgbClr val="FFFFFF"/>
              </a:solidFill>
              <a:latin typeface="Calibri"/>
              <a:ea typeface="Calibri"/>
              <a:cs typeface="Calibri"/>
              <a:sym typeface="Calibri"/>
            </a:endParaRPr>
          </a:p>
        </p:txBody>
      </p:sp>
      <p:sp>
        <p:nvSpPr>
          <p:cNvPr id="413" name="Google Shape;413;p24"/>
          <p:cNvSpPr/>
          <p:nvPr/>
        </p:nvSpPr>
        <p:spPr>
          <a:xfrm>
            <a:off x="6334125" y="2095500"/>
            <a:ext cx="2476500" cy="1905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FFFFFF"/>
                </a:solidFill>
                <a:latin typeface="Calibri"/>
                <a:ea typeface="Calibri"/>
                <a:cs typeface="Calibri"/>
                <a:sym typeface="Calibri"/>
              </a:rPr>
              <a:t>Sentiment Logic:</a:t>
            </a:r>
            <a:endParaRPr b="1" sz="1000">
              <a:solidFill>
                <a:srgbClr val="FFFFFF"/>
              </a:solidFill>
              <a:latin typeface="Calibri"/>
              <a:ea typeface="Calibri"/>
              <a:cs typeface="Calibri"/>
              <a:sym typeface="Calibri"/>
            </a:endParaRPr>
          </a:p>
          <a:p>
            <a:pPr indent="-292100" lvl="0" marL="457200" rtl="0" algn="l">
              <a:spcBef>
                <a:spcPts val="600"/>
              </a:spcBef>
              <a:spcAft>
                <a:spcPts val="0"/>
              </a:spcAft>
              <a:buClr>
                <a:srgbClr val="FFFFFF"/>
              </a:buClr>
              <a:buSzPts val="1000"/>
              <a:buFont typeface="Calibri"/>
              <a:buChar char="●"/>
            </a:pPr>
            <a:r>
              <a:rPr b="0" lang="en-US" sz="1000">
                <a:solidFill>
                  <a:srgbClr val="CADCFC"/>
                </a:solidFill>
                <a:latin typeface="Calibri"/>
                <a:ea typeface="Calibri"/>
                <a:cs typeface="Calibri"/>
                <a:sym typeface="Calibri"/>
              </a:rPr>
              <a:t>Lowest score in ecosystem</a:t>
            </a:r>
            <a:endParaRPr b="1" sz="1000">
              <a:solidFill>
                <a:srgbClr val="FFFFFF"/>
              </a:solidFill>
              <a:latin typeface="Calibri"/>
              <a:ea typeface="Calibri"/>
              <a:cs typeface="Calibri"/>
              <a:sym typeface="Calibri"/>
            </a:endParaRPr>
          </a:p>
          <a:p>
            <a:pPr indent="-292100" lvl="0" marL="457200" rtl="0" algn="l">
              <a:spcBef>
                <a:spcPts val="400"/>
              </a:spcBef>
              <a:spcAft>
                <a:spcPts val="0"/>
              </a:spcAft>
              <a:buClr>
                <a:srgbClr val="FFFFFF"/>
              </a:buClr>
              <a:buSzPts val="1000"/>
              <a:buFont typeface="Calibri"/>
              <a:buChar char="●"/>
            </a:pPr>
            <a:r>
              <a:rPr b="0" lang="en-US" sz="1000">
                <a:solidFill>
                  <a:srgbClr val="CADCFC"/>
                </a:solidFill>
                <a:latin typeface="Calibri"/>
                <a:ea typeface="Calibri"/>
                <a:cs typeface="Calibri"/>
                <a:sym typeface="Calibri"/>
              </a:rPr>
              <a:t>Highest negative reviews</a:t>
            </a:r>
            <a:endParaRPr b="1" sz="1000">
              <a:solidFill>
                <a:srgbClr val="FFFFFF"/>
              </a:solidFill>
              <a:latin typeface="Calibri"/>
              <a:ea typeface="Calibri"/>
              <a:cs typeface="Calibri"/>
              <a:sym typeface="Calibri"/>
            </a:endParaRPr>
          </a:p>
          <a:p>
            <a:pPr indent="-292100" lvl="0" marL="457200" rtl="0" algn="l">
              <a:spcBef>
                <a:spcPts val="400"/>
              </a:spcBef>
              <a:spcAft>
                <a:spcPts val="0"/>
              </a:spcAft>
              <a:buClr>
                <a:srgbClr val="FFFFFF"/>
              </a:buClr>
              <a:buSzPts val="1000"/>
              <a:buFont typeface="Calibri"/>
              <a:buChar char="●"/>
            </a:pPr>
            <a:r>
              <a:rPr b="0" lang="en-US" sz="1000">
                <a:solidFill>
                  <a:srgbClr val="CADCFC"/>
                </a:solidFill>
                <a:latin typeface="Calibri"/>
                <a:ea typeface="Calibri"/>
                <a:cs typeface="Calibri"/>
                <a:sym typeface="Calibri"/>
              </a:rPr>
              <a:t>Critical remediation target</a:t>
            </a:r>
            <a:endParaRPr b="1" sz="1000">
              <a:solidFill>
                <a:srgbClr val="FFFFFF"/>
              </a:solidFill>
              <a:latin typeface="Calibri"/>
              <a:ea typeface="Calibri"/>
              <a:cs typeface="Calibri"/>
              <a:sym typeface="Calibri"/>
            </a:endParaRPr>
          </a:p>
          <a:p>
            <a:pPr indent="-292100" lvl="0" marL="457200" rtl="0" algn="l">
              <a:spcBef>
                <a:spcPts val="400"/>
              </a:spcBef>
              <a:spcAft>
                <a:spcPts val="0"/>
              </a:spcAft>
              <a:buClr>
                <a:srgbClr val="FFFFFF"/>
              </a:buClr>
              <a:buSzPts val="1000"/>
              <a:buFont typeface="Calibri"/>
              <a:buChar char="●"/>
            </a:pPr>
            <a:r>
              <a:rPr b="0" lang="en-US" sz="1000">
                <a:solidFill>
                  <a:srgbClr val="CADCFC"/>
                </a:solidFill>
                <a:latin typeface="Calibri"/>
                <a:ea typeface="Calibri"/>
                <a:cs typeface="Calibri"/>
                <a:sym typeface="Calibri"/>
              </a:rPr>
              <a:t>Lack of intervention success</a:t>
            </a:r>
            <a:endParaRPr b="1" sz="1000">
              <a:solidFill>
                <a:srgbClr val="FFFFFF"/>
              </a:solidFill>
              <a:latin typeface="Calibri"/>
              <a:ea typeface="Calibri"/>
              <a:cs typeface="Calibri"/>
              <a:sym typeface="Calibri"/>
            </a:endParaRPr>
          </a:p>
        </p:txBody>
      </p:sp>
      <p:sp>
        <p:nvSpPr>
          <p:cNvPr id="414" name="Google Shape;414;p24"/>
          <p:cNvSpPr/>
          <p:nvPr/>
        </p:nvSpPr>
        <p:spPr>
          <a:xfrm>
            <a:off x="457200" y="4286250"/>
            <a:ext cx="8229600" cy="571500"/>
          </a:xfrm>
          <a:prstGeom prst="roundRect">
            <a:avLst>
              <a:gd fmla="val 6666" name="adj"/>
            </a:avLst>
          </a:prstGeom>
          <a:solidFill>
            <a:srgbClr val="FFFFFF"/>
          </a:solidFill>
          <a:ln cap="flat" cmpd="sng" w="9525">
            <a:solidFill>
              <a:srgbClr val="00A89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4"/>
          <p:cNvSpPr txBox="1"/>
          <p:nvPr/>
        </p:nvSpPr>
        <p:spPr>
          <a:xfrm>
            <a:off x="552450" y="4333875"/>
            <a:ext cx="8039100" cy="476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000">
                <a:solidFill>
                  <a:srgbClr val="00A896"/>
                </a:solidFill>
                <a:latin typeface="Calibri"/>
                <a:ea typeface="Calibri"/>
                <a:cs typeface="Calibri"/>
                <a:sym typeface="Calibri"/>
              </a:rPr>
              <a:t>Post-Analysis Reflection &amp; Historical Context</a:t>
            </a:r>
            <a:endParaRPr b="1" sz="1000">
              <a:solidFill>
                <a:srgbClr val="00A896"/>
              </a:solidFill>
              <a:latin typeface="Calibri"/>
              <a:ea typeface="Calibri"/>
              <a:cs typeface="Calibri"/>
              <a:sym typeface="Calibri"/>
            </a:endParaRPr>
          </a:p>
          <a:p>
            <a:pPr indent="0" lvl="0" marL="0" rtl="0" algn="l">
              <a:spcBef>
                <a:spcPts val="150"/>
              </a:spcBef>
              <a:spcAft>
                <a:spcPts val="0"/>
              </a:spcAft>
              <a:buNone/>
            </a:pPr>
            <a:r>
              <a:rPr b="0" lang="en-US" sz="1000">
                <a:solidFill>
                  <a:srgbClr val="475569"/>
                </a:solidFill>
                <a:latin typeface="Calibri"/>
                <a:ea typeface="Calibri"/>
                <a:cs typeface="Calibri"/>
                <a:sym typeface="Calibri"/>
              </a:rPr>
              <a:t>Recommendations above are based strictly on sentiment analysis. Note: Despite these sentiment-based findings, Sony has already discontinued all three products (VAIO, PlayMemories, PlayStation Vue) due to market shifts, declining sales, or pricing gaps.</a:t>
            </a:r>
            <a:endParaRPr b="1" sz="1000">
              <a:solidFill>
                <a:srgbClr val="00A896"/>
              </a:solidFill>
              <a:latin typeface="Calibri"/>
              <a:ea typeface="Calibri"/>
              <a:cs typeface="Calibri"/>
              <a:sym typeface="Calibri"/>
            </a:endParaRPr>
          </a:p>
        </p:txBody>
      </p:sp>
      <p:grpSp>
        <p:nvGrpSpPr>
          <p:cNvPr id="416" name="Google Shape;416;p24"/>
          <p:cNvGrpSpPr/>
          <p:nvPr/>
        </p:nvGrpSpPr>
        <p:grpSpPr>
          <a:xfrm>
            <a:off x="3238500" y="960120"/>
            <a:ext cx="2667000" cy="3095700"/>
            <a:chOff x="3238500" y="960120"/>
            <a:chExt cx="2667000" cy="3095700"/>
          </a:xfrm>
        </p:grpSpPr>
        <p:sp>
          <p:nvSpPr>
            <p:cNvPr id="417" name="Google Shape;417;p24"/>
            <p:cNvSpPr/>
            <p:nvPr/>
          </p:nvSpPr>
          <p:spPr>
            <a:xfrm>
              <a:off x="3238500" y="960120"/>
              <a:ext cx="2667000" cy="3095700"/>
            </a:xfrm>
            <a:prstGeom prst="rect">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4"/>
            <p:cNvSpPr txBox="1"/>
            <p:nvPr/>
          </p:nvSpPr>
          <p:spPr>
            <a:xfrm>
              <a:off x="3333750" y="1143000"/>
              <a:ext cx="2476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400">
                  <a:solidFill>
                    <a:srgbClr val="00A896"/>
                  </a:solidFill>
                  <a:latin typeface="Calibri"/>
                  <a:ea typeface="Calibri"/>
                  <a:cs typeface="Calibri"/>
                  <a:sym typeface="Calibri"/>
                </a:rPr>
                <a:t>✅ Recommended: Maintain</a:t>
              </a:r>
              <a:endParaRPr b="1" sz="1400">
                <a:solidFill>
                  <a:srgbClr val="00A896"/>
                </a:solidFill>
                <a:latin typeface="Calibri"/>
                <a:ea typeface="Calibri"/>
                <a:cs typeface="Calibri"/>
                <a:sym typeface="Calibri"/>
              </a:endParaRPr>
            </a:p>
          </p:txBody>
        </p:sp>
        <p:sp>
          <p:nvSpPr>
            <p:cNvPr id="419" name="Google Shape;419;p24"/>
            <p:cNvSpPr txBox="1"/>
            <p:nvPr/>
          </p:nvSpPr>
          <p:spPr>
            <a:xfrm>
              <a:off x="3333750" y="1524000"/>
              <a:ext cx="24765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F2044"/>
                  </a:solidFill>
                  <a:latin typeface="Calibri"/>
                  <a:ea typeface="Calibri"/>
                  <a:cs typeface="Calibri"/>
                  <a:sym typeface="Calibri"/>
                </a:rPr>
                <a:t>PlayStation Vue</a:t>
              </a:r>
              <a:endParaRPr b="1" sz="1800">
                <a:solidFill>
                  <a:srgbClr val="0F2044"/>
                </a:solidFill>
                <a:latin typeface="Calibri"/>
                <a:ea typeface="Calibri"/>
                <a:cs typeface="Calibri"/>
                <a:sym typeface="Calibri"/>
              </a:endParaRPr>
            </a:p>
          </p:txBody>
        </p:sp>
        <p:sp>
          <p:nvSpPr>
            <p:cNvPr id="420" name="Google Shape;420;p24"/>
            <p:cNvSpPr txBox="1"/>
            <p:nvPr/>
          </p:nvSpPr>
          <p:spPr>
            <a:xfrm>
              <a:off x="3333750" y="2095500"/>
              <a:ext cx="24765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F2044"/>
                  </a:solidFill>
                  <a:latin typeface="Calibri"/>
                  <a:ea typeface="Calibri"/>
                  <a:cs typeface="Calibri"/>
                  <a:sym typeface="Calibri"/>
                </a:rPr>
                <a:t>Sentiment Logic:</a:t>
              </a:r>
              <a:endParaRPr b="1" sz="1000">
                <a:solidFill>
                  <a:srgbClr val="0F2044"/>
                </a:solidFill>
                <a:latin typeface="Calibri"/>
                <a:ea typeface="Calibri"/>
                <a:cs typeface="Calibri"/>
                <a:sym typeface="Calibri"/>
              </a:endParaRPr>
            </a:p>
            <a:p>
              <a:pPr indent="-292100" lvl="0" marL="457200" rtl="0" algn="l">
                <a:spcBef>
                  <a:spcPts val="6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Highest sentiment score of 73</a:t>
              </a:r>
              <a:endParaRPr b="1" sz="1000">
                <a:solidFill>
                  <a:srgbClr val="0F2044"/>
                </a:solidFill>
                <a:latin typeface="Calibri"/>
                <a:ea typeface="Calibri"/>
                <a:cs typeface="Calibri"/>
                <a:sym typeface="Calibri"/>
              </a:endParaRPr>
            </a:p>
            <a:p>
              <a:pPr indent="-292100" lvl="0" marL="457200" rtl="0" algn="l">
                <a:spcBef>
                  <a:spcPts val="4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Premium high-quality service</a:t>
              </a:r>
              <a:endParaRPr b="1" sz="1000">
                <a:solidFill>
                  <a:srgbClr val="0F2044"/>
                </a:solidFill>
                <a:latin typeface="Calibri"/>
                <a:ea typeface="Calibri"/>
                <a:cs typeface="Calibri"/>
                <a:sym typeface="Calibri"/>
              </a:endParaRPr>
            </a:p>
            <a:p>
              <a:pPr indent="-292100" lvl="0" marL="457200" rtl="0" algn="l">
                <a:spcBef>
                  <a:spcPts val="400"/>
                </a:spcBef>
                <a:spcAft>
                  <a:spcPts val="0"/>
                </a:spcAft>
                <a:buClr>
                  <a:srgbClr val="0F2044"/>
                </a:buClr>
                <a:buSzPts val="1000"/>
                <a:buFont typeface="Calibri"/>
                <a:buChar char="●"/>
              </a:pPr>
              <a:r>
                <a:rPr b="0" lang="en-US" sz="1000">
                  <a:solidFill>
                    <a:srgbClr val="64748B"/>
                  </a:solidFill>
                  <a:latin typeface="Calibri"/>
                  <a:ea typeface="Calibri"/>
                  <a:cs typeface="Calibri"/>
                  <a:sym typeface="Calibri"/>
                </a:rPr>
                <a:t>Strong positive user recognition</a:t>
              </a:r>
              <a:endParaRPr b="1" sz="1000">
                <a:solidFill>
                  <a:srgbClr val="0F2044"/>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4" name="Shape 424"/>
        <p:cNvGrpSpPr/>
        <p:nvPr/>
      </p:nvGrpSpPr>
      <p:grpSpPr>
        <a:xfrm>
          <a:off x="0" y="0"/>
          <a:ext cx="0" cy="0"/>
          <a:chOff x="0" y="0"/>
          <a:chExt cx="0" cy="0"/>
        </a:xfrm>
      </p:grpSpPr>
      <p:grpSp>
        <p:nvGrpSpPr>
          <p:cNvPr id="425" name="Google Shape;425;p25"/>
          <p:cNvGrpSpPr/>
          <p:nvPr/>
        </p:nvGrpSpPr>
        <p:grpSpPr>
          <a:xfrm>
            <a:off x="0" y="0"/>
            <a:ext cx="9144000" cy="762000"/>
            <a:chOff x="0" y="0"/>
            <a:chExt cx="9144000" cy="762000"/>
          </a:xfrm>
        </p:grpSpPr>
        <p:sp>
          <p:nvSpPr>
            <p:cNvPr id="426" name="Google Shape;426;p25"/>
            <p:cNvSpPr/>
            <p:nvPr/>
          </p:nvSpPr>
          <p:spPr>
            <a:xfrm>
              <a:off x="0" y="0"/>
              <a:ext cx="9144000" cy="7620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25"/>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Reflection &amp; Strategic Insights</a:t>
              </a:r>
              <a:endParaRPr b="1" sz="2400">
                <a:solidFill>
                  <a:srgbClr val="FFFFFF"/>
                </a:solidFill>
                <a:latin typeface="Inter"/>
                <a:ea typeface="Inter"/>
                <a:cs typeface="Inter"/>
                <a:sym typeface="Inter"/>
              </a:endParaRPr>
            </a:p>
          </p:txBody>
        </p:sp>
      </p:grpSp>
      <p:grpSp>
        <p:nvGrpSpPr>
          <p:cNvPr id="428" name="Google Shape;428;p25"/>
          <p:cNvGrpSpPr/>
          <p:nvPr/>
        </p:nvGrpSpPr>
        <p:grpSpPr>
          <a:xfrm>
            <a:off x="381000" y="1047750"/>
            <a:ext cx="4095900" cy="1714500"/>
            <a:chOff x="381000" y="1047750"/>
            <a:chExt cx="4095900" cy="1714500"/>
          </a:xfrm>
        </p:grpSpPr>
        <p:sp>
          <p:nvSpPr>
            <p:cNvPr id="429" name="Google Shape;429;p25"/>
            <p:cNvSpPr/>
            <p:nvPr/>
          </p:nvSpPr>
          <p:spPr>
            <a:xfrm>
              <a:off x="381000" y="1047750"/>
              <a:ext cx="4095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0" name="Google Shape;430;p25"/>
            <p:cNvSpPr txBox="1"/>
            <p:nvPr/>
          </p:nvSpPr>
          <p:spPr>
            <a:xfrm>
              <a:off x="571500" y="1279144"/>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380">
                  <a:solidFill>
                    <a:srgbClr val="3B82F6"/>
                  </a:solidFill>
                  <a:latin typeface="Material Icons"/>
                  <a:ea typeface="Material Icons"/>
                  <a:cs typeface="Material Icons"/>
                  <a:sym typeface="Material Icons"/>
                </a:rPr>
                <a:t>insights</a:t>
              </a:r>
              <a:endParaRPr sz="2380">
                <a:solidFill>
                  <a:srgbClr val="3B82F6"/>
                </a:solidFill>
                <a:latin typeface="Material Icons"/>
                <a:ea typeface="Material Icons"/>
                <a:cs typeface="Material Icons"/>
                <a:sym typeface="Material Icons"/>
              </a:endParaRPr>
            </a:p>
          </p:txBody>
        </p:sp>
        <p:sp>
          <p:nvSpPr>
            <p:cNvPr id="431" name="Google Shape;431;p25"/>
            <p:cNvSpPr txBox="1"/>
            <p:nvPr/>
          </p:nvSpPr>
          <p:spPr>
            <a:xfrm>
              <a:off x="571500" y="1571625"/>
              <a:ext cx="37149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293B"/>
                  </a:solidFill>
                  <a:latin typeface="Inter"/>
                  <a:ea typeface="Inter"/>
                  <a:cs typeface="Inter"/>
                  <a:sym typeface="Inter"/>
                </a:rPr>
                <a:t>Consumer Experience</a:t>
              </a:r>
              <a:endParaRPr b="1" sz="1600">
                <a:solidFill>
                  <a:srgbClr val="1E293B"/>
                </a:solidFill>
                <a:latin typeface="Inter"/>
                <a:ea typeface="Inter"/>
                <a:cs typeface="Inter"/>
                <a:sym typeface="Inter"/>
              </a:endParaRPr>
            </a:p>
            <a:p>
              <a:pPr indent="0" lvl="0" marL="0" rtl="0" algn="l">
                <a:spcBef>
                  <a:spcPts val="600"/>
                </a:spcBef>
                <a:spcAft>
                  <a:spcPts val="0"/>
                </a:spcAft>
                <a:buNone/>
              </a:pPr>
              <a:r>
                <a:rPr b="0" lang="en-US" sz="1300">
                  <a:solidFill>
                    <a:srgbClr val="64748B"/>
                  </a:solidFill>
                  <a:latin typeface="Inter"/>
                  <a:ea typeface="Inter"/>
                  <a:cs typeface="Inter"/>
                  <a:sym typeface="Inter"/>
                </a:rPr>
                <a:t>Sentiment analysis provides meaningful insights into the consumer experience of each specific product.</a:t>
              </a:r>
              <a:endParaRPr b="0" sz="1300">
                <a:solidFill>
                  <a:srgbClr val="64748B"/>
                </a:solidFill>
                <a:latin typeface="Inter"/>
                <a:ea typeface="Inter"/>
                <a:cs typeface="Inter"/>
                <a:sym typeface="Inter"/>
              </a:endParaRPr>
            </a:p>
          </p:txBody>
        </p:sp>
      </p:grpSp>
      <p:grpSp>
        <p:nvGrpSpPr>
          <p:cNvPr id="432" name="Google Shape;432;p25"/>
          <p:cNvGrpSpPr/>
          <p:nvPr/>
        </p:nvGrpSpPr>
        <p:grpSpPr>
          <a:xfrm>
            <a:off x="4667250" y="1047750"/>
            <a:ext cx="4095900" cy="1714500"/>
            <a:chOff x="4667250" y="1047750"/>
            <a:chExt cx="4095900" cy="1714500"/>
          </a:xfrm>
        </p:grpSpPr>
        <p:sp>
          <p:nvSpPr>
            <p:cNvPr id="433" name="Google Shape;433;p25"/>
            <p:cNvSpPr/>
            <p:nvPr/>
          </p:nvSpPr>
          <p:spPr>
            <a:xfrm>
              <a:off x="4667250" y="1047750"/>
              <a:ext cx="4095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5"/>
            <p:cNvSpPr txBox="1"/>
            <p:nvPr/>
          </p:nvSpPr>
          <p:spPr>
            <a:xfrm>
              <a:off x="4857750" y="1279144"/>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380">
                  <a:solidFill>
                    <a:srgbClr val="F59E0B"/>
                  </a:solidFill>
                  <a:latin typeface="Material Icons"/>
                  <a:ea typeface="Material Icons"/>
                  <a:cs typeface="Material Icons"/>
                  <a:sym typeface="Material Icons"/>
                </a:rPr>
                <a:t>warning</a:t>
              </a:r>
              <a:endParaRPr sz="2380">
                <a:solidFill>
                  <a:srgbClr val="F59E0B"/>
                </a:solidFill>
                <a:latin typeface="Material Icons"/>
                <a:ea typeface="Material Icons"/>
                <a:cs typeface="Material Icons"/>
                <a:sym typeface="Material Icons"/>
              </a:endParaRPr>
            </a:p>
          </p:txBody>
        </p:sp>
        <p:sp>
          <p:nvSpPr>
            <p:cNvPr id="435" name="Google Shape;435;p25"/>
            <p:cNvSpPr txBox="1"/>
            <p:nvPr/>
          </p:nvSpPr>
          <p:spPr>
            <a:xfrm>
              <a:off x="4857750" y="1571625"/>
              <a:ext cx="37149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293B"/>
                  </a:solidFill>
                  <a:latin typeface="Inter"/>
                  <a:ea typeface="Inter"/>
                  <a:cs typeface="Inter"/>
                  <a:sym typeface="Inter"/>
                </a:rPr>
                <a:t>Strategic Limitations</a:t>
              </a:r>
              <a:endParaRPr b="1" sz="1600">
                <a:solidFill>
                  <a:srgbClr val="1E293B"/>
                </a:solidFill>
                <a:latin typeface="Inter"/>
                <a:ea typeface="Inter"/>
                <a:cs typeface="Inter"/>
                <a:sym typeface="Inter"/>
              </a:endParaRPr>
            </a:p>
            <a:p>
              <a:pPr indent="0" lvl="0" marL="0" rtl="0" algn="l">
                <a:spcBef>
                  <a:spcPts val="600"/>
                </a:spcBef>
                <a:spcAft>
                  <a:spcPts val="0"/>
                </a:spcAft>
                <a:buNone/>
              </a:pPr>
              <a:r>
                <a:rPr b="0" lang="en-US" sz="1300">
                  <a:solidFill>
                    <a:srgbClr val="64748B"/>
                  </a:solidFill>
                  <a:latin typeface="Inter"/>
                  <a:ea typeface="Inter"/>
                  <a:cs typeface="Inter"/>
                  <a:sym typeface="Inter"/>
                </a:rPr>
                <a:t>Sentiment analysis alone cannot be the only basis of strategic product decisions.</a:t>
              </a:r>
              <a:endParaRPr b="0" sz="1300">
                <a:solidFill>
                  <a:srgbClr val="64748B"/>
                </a:solidFill>
                <a:latin typeface="Inter"/>
                <a:ea typeface="Inter"/>
                <a:cs typeface="Inter"/>
                <a:sym typeface="Inter"/>
              </a:endParaRPr>
            </a:p>
          </p:txBody>
        </p:sp>
      </p:grpSp>
      <p:grpSp>
        <p:nvGrpSpPr>
          <p:cNvPr id="436" name="Google Shape;436;p25"/>
          <p:cNvGrpSpPr/>
          <p:nvPr/>
        </p:nvGrpSpPr>
        <p:grpSpPr>
          <a:xfrm>
            <a:off x="381000" y="2952750"/>
            <a:ext cx="4095900" cy="1714500"/>
            <a:chOff x="381000" y="2952750"/>
            <a:chExt cx="4095900" cy="1714500"/>
          </a:xfrm>
        </p:grpSpPr>
        <p:sp>
          <p:nvSpPr>
            <p:cNvPr id="437" name="Google Shape;437;p25"/>
            <p:cNvSpPr/>
            <p:nvPr/>
          </p:nvSpPr>
          <p:spPr>
            <a:xfrm>
              <a:off x="381000" y="2952750"/>
              <a:ext cx="4095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5"/>
            <p:cNvSpPr txBox="1"/>
            <p:nvPr/>
          </p:nvSpPr>
          <p:spPr>
            <a:xfrm>
              <a:off x="571500" y="3184144"/>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380">
                  <a:solidFill>
                    <a:srgbClr val="10B981"/>
                  </a:solidFill>
                  <a:latin typeface="Material Icons"/>
                  <a:ea typeface="Material Icons"/>
                  <a:cs typeface="Material Icons"/>
                  <a:sym typeface="Material Icons"/>
                </a:rPr>
                <a:t>assessment</a:t>
              </a:r>
              <a:endParaRPr sz="2380">
                <a:solidFill>
                  <a:srgbClr val="10B981"/>
                </a:solidFill>
                <a:latin typeface="Material Icons"/>
                <a:ea typeface="Material Icons"/>
                <a:cs typeface="Material Icons"/>
                <a:sym typeface="Material Icons"/>
              </a:endParaRPr>
            </a:p>
          </p:txBody>
        </p:sp>
        <p:sp>
          <p:nvSpPr>
            <p:cNvPr id="439" name="Google Shape;439;p25"/>
            <p:cNvSpPr txBox="1"/>
            <p:nvPr/>
          </p:nvSpPr>
          <p:spPr>
            <a:xfrm>
              <a:off x="571500" y="3476625"/>
              <a:ext cx="37149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600">
                  <a:solidFill>
                    <a:srgbClr val="1E293B"/>
                  </a:solidFill>
                  <a:latin typeface="Inter"/>
                  <a:ea typeface="Inter"/>
                  <a:cs typeface="Inter"/>
                  <a:sym typeface="Inter"/>
                </a:rPr>
                <a:t>Holistic Decision Making</a:t>
              </a:r>
              <a:endParaRPr b="1" sz="1600">
                <a:solidFill>
                  <a:srgbClr val="1E293B"/>
                </a:solidFill>
                <a:latin typeface="Inter"/>
                <a:ea typeface="Inter"/>
                <a:cs typeface="Inter"/>
                <a:sym typeface="Inter"/>
              </a:endParaRPr>
            </a:p>
            <a:p>
              <a:pPr indent="0" lvl="0" marL="0" rtl="0" algn="l">
                <a:spcBef>
                  <a:spcPts val="600"/>
                </a:spcBef>
                <a:spcAft>
                  <a:spcPts val="0"/>
                </a:spcAft>
                <a:buNone/>
              </a:pPr>
              <a:r>
                <a:rPr lang="en-US" sz="1300">
                  <a:solidFill>
                    <a:srgbClr val="64748B"/>
                  </a:solidFill>
                  <a:latin typeface="Inter"/>
                  <a:ea typeface="Inter"/>
                  <a:cs typeface="Inter"/>
                  <a:sym typeface="Inter"/>
                </a:rPr>
                <a:t>Sales performance</a:t>
              </a:r>
              <a:r>
                <a:rPr b="0" lang="en-US" sz="1300">
                  <a:solidFill>
                    <a:srgbClr val="64748B"/>
                  </a:solidFill>
                  <a:latin typeface="Inter"/>
                  <a:ea typeface="Inter"/>
                  <a:cs typeface="Inter"/>
                  <a:sym typeface="Inter"/>
                </a:rPr>
                <a:t>, demand, and competit</a:t>
              </a:r>
              <a:r>
                <a:rPr lang="en-US" sz="1300">
                  <a:solidFill>
                    <a:srgbClr val="64748B"/>
                  </a:solidFill>
                  <a:latin typeface="Inter"/>
                  <a:ea typeface="Inter"/>
                  <a:cs typeface="Inter"/>
                  <a:sym typeface="Inter"/>
                </a:rPr>
                <a:t>ion</a:t>
              </a:r>
              <a:r>
                <a:rPr b="0" lang="en-US" sz="1300">
                  <a:solidFill>
                    <a:srgbClr val="64748B"/>
                  </a:solidFill>
                  <a:latin typeface="Inter"/>
                  <a:ea typeface="Inter"/>
                  <a:cs typeface="Inter"/>
                  <a:sym typeface="Inter"/>
                </a:rPr>
                <a:t> all factor into strategic decisions like product discontinuation.</a:t>
              </a:r>
              <a:endParaRPr b="0" sz="1300">
                <a:solidFill>
                  <a:srgbClr val="64748B"/>
                </a:solidFill>
                <a:latin typeface="Inter"/>
                <a:ea typeface="Inter"/>
                <a:cs typeface="Inter"/>
                <a:sym typeface="Inter"/>
              </a:endParaRPr>
            </a:p>
          </p:txBody>
        </p:sp>
      </p:grpSp>
      <p:grpSp>
        <p:nvGrpSpPr>
          <p:cNvPr id="440" name="Google Shape;440;p25"/>
          <p:cNvGrpSpPr/>
          <p:nvPr/>
        </p:nvGrpSpPr>
        <p:grpSpPr>
          <a:xfrm>
            <a:off x="4667250" y="2952750"/>
            <a:ext cx="4095900" cy="1714500"/>
            <a:chOff x="4667250" y="2952750"/>
            <a:chExt cx="4095900" cy="1714500"/>
          </a:xfrm>
        </p:grpSpPr>
        <p:sp>
          <p:nvSpPr>
            <p:cNvPr id="441" name="Google Shape;441;p25"/>
            <p:cNvSpPr/>
            <p:nvPr/>
          </p:nvSpPr>
          <p:spPr>
            <a:xfrm>
              <a:off x="4667250" y="2952750"/>
              <a:ext cx="4095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2" name="Google Shape;442;p25"/>
            <p:cNvSpPr txBox="1"/>
            <p:nvPr/>
          </p:nvSpPr>
          <p:spPr>
            <a:xfrm>
              <a:off x="4857750" y="3184144"/>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2380">
                  <a:solidFill>
                    <a:srgbClr val="EF4444"/>
                  </a:solidFill>
                  <a:latin typeface="Material Icons"/>
                  <a:ea typeface="Material Icons"/>
                  <a:cs typeface="Material Icons"/>
                  <a:sym typeface="Material Icons"/>
                </a:rPr>
                <a:t>search_off</a:t>
              </a:r>
              <a:endParaRPr sz="2380">
                <a:solidFill>
                  <a:srgbClr val="EF4444"/>
                </a:solidFill>
                <a:latin typeface="Material Icons"/>
                <a:ea typeface="Material Icons"/>
                <a:cs typeface="Material Icons"/>
                <a:sym typeface="Material Icons"/>
              </a:endParaRPr>
            </a:p>
          </p:txBody>
        </p:sp>
        <p:sp>
          <p:nvSpPr>
            <p:cNvPr id="443" name="Google Shape;443;p25"/>
            <p:cNvSpPr txBox="1"/>
            <p:nvPr/>
          </p:nvSpPr>
          <p:spPr>
            <a:xfrm>
              <a:off x="4857750" y="3476625"/>
              <a:ext cx="37149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360">
                  <a:solidFill>
                    <a:srgbClr val="1E293B"/>
                  </a:solidFill>
                  <a:latin typeface="Inter"/>
                  <a:ea typeface="Inter"/>
                  <a:cs typeface="Inter"/>
                  <a:sym typeface="Inter"/>
                </a:rPr>
                <a:t>Data Nuance Risks</a:t>
              </a:r>
              <a:endParaRPr b="1" sz="1360">
                <a:solidFill>
                  <a:srgbClr val="1E293B"/>
                </a:solidFill>
                <a:latin typeface="Inter"/>
                <a:ea typeface="Inter"/>
                <a:cs typeface="Inter"/>
                <a:sym typeface="Inter"/>
              </a:endParaRPr>
            </a:p>
            <a:p>
              <a:pPr indent="0" lvl="0" marL="0" rtl="0" algn="l">
                <a:spcBef>
                  <a:spcPts val="600"/>
                </a:spcBef>
                <a:spcAft>
                  <a:spcPts val="0"/>
                </a:spcAft>
                <a:buNone/>
              </a:pPr>
              <a:r>
                <a:rPr b="0" lang="en-US" sz="1105">
                  <a:solidFill>
                    <a:srgbClr val="64748B"/>
                  </a:solidFill>
                  <a:latin typeface="Inter"/>
                  <a:ea typeface="Inter"/>
                  <a:cs typeface="Inter"/>
                  <a:sym typeface="Inter"/>
                </a:rPr>
                <a:t>Sentiment analysis can overlook nuances in reviews, causing incorrect sentiment classification. Also can have difficulty distinguishing between user product reviews and general information regarding the product.</a:t>
              </a:r>
              <a:endParaRPr b="0" sz="1105">
                <a:solidFill>
                  <a:srgbClr val="64748B"/>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7" name="Shape 447"/>
        <p:cNvGrpSpPr/>
        <p:nvPr/>
      </p:nvGrpSpPr>
      <p:grpSpPr>
        <a:xfrm>
          <a:off x="0" y="0"/>
          <a:ext cx="0" cy="0"/>
          <a:chOff x="0" y="0"/>
          <a:chExt cx="0" cy="0"/>
        </a:xfrm>
      </p:grpSpPr>
      <p:grpSp>
        <p:nvGrpSpPr>
          <p:cNvPr id="448" name="Google Shape;448;p26"/>
          <p:cNvGrpSpPr/>
          <p:nvPr/>
        </p:nvGrpSpPr>
        <p:grpSpPr>
          <a:xfrm>
            <a:off x="0" y="0"/>
            <a:ext cx="9144000" cy="762000"/>
            <a:chOff x="0" y="0"/>
            <a:chExt cx="9144000" cy="762000"/>
          </a:xfrm>
        </p:grpSpPr>
        <p:sp>
          <p:nvSpPr>
            <p:cNvPr id="449" name="Google Shape;449;p26"/>
            <p:cNvSpPr/>
            <p:nvPr/>
          </p:nvSpPr>
          <p:spPr>
            <a:xfrm>
              <a:off x="0" y="0"/>
              <a:ext cx="9144000" cy="7620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6"/>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Reflections and Insights continued</a:t>
              </a:r>
              <a:endParaRPr b="1" sz="2400">
                <a:solidFill>
                  <a:srgbClr val="FFFFFF"/>
                </a:solidFill>
                <a:latin typeface="Inter"/>
                <a:ea typeface="Inter"/>
                <a:cs typeface="Inter"/>
                <a:sym typeface="Inter"/>
              </a:endParaRPr>
            </a:p>
          </p:txBody>
        </p:sp>
      </p:grpSp>
      <p:grpSp>
        <p:nvGrpSpPr>
          <p:cNvPr id="451" name="Google Shape;451;p26"/>
          <p:cNvGrpSpPr/>
          <p:nvPr/>
        </p:nvGrpSpPr>
        <p:grpSpPr>
          <a:xfrm>
            <a:off x="381000" y="1047750"/>
            <a:ext cx="4476900" cy="1714500"/>
            <a:chOff x="381000" y="1047750"/>
            <a:chExt cx="4476900" cy="1714500"/>
          </a:xfrm>
        </p:grpSpPr>
        <p:sp>
          <p:nvSpPr>
            <p:cNvPr id="452" name="Google Shape;452;p26"/>
            <p:cNvSpPr/>
            <p:nvPr/>
          </p:nvSpPr>
          <p:spPr>
            <a:xfrm>
              <a:off x="381000" y="1047750"/>
              <a:ext cx="4476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6"/>
            <p:cNvSpPr txBox="1"/>
            <p:nvPr/>
          </p:nvSpPr>
          <p:spPr>
            <a:xfrm>
              <a:off x="571500" y="1134949"/>
              <a:ext cx="381000" cy="398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3B82F6"/>
                  </a:solidFill>
                  <a:latin typeface="Material Icons"/>
                  <a:ea typeface="Material Icons"/>
                  <a:cs typeface="Material Icons"/>
                  <a:sym typeface="Material Icons"/>
                </a:rPr>
                <a:t>search</a:t>
              </a:r>
              <a:endParaRPr b="0" sz="2400">
                <a:solidFill>
                  <a:srgbClr val="3B82F6"/>
                </a:solidFill>
                <a:latin typeface="Material Icons"/>
                <a:ea typeface="Material Icons"/>
                <a:cs typeface="Material Icons"/>
                <a:sym typeface="Material Icons"/>
              </a:endParaRPr>
            </a:p>
          </p:txBody>
        </p:sp>
        <p:sp>
          <p:nvSpPr>
            <p:cNvPr id="454" name="Google Shape;454;p26"/>
            <p:cNvSpPr txBox="1"/>
            <p:nvPr/>
          </p:nvSpPr>
          <p:spPr>
            <a:xfrm>
              <a:off x="571500" y="1424725"/>
              <a:ext cx="4095900" cy="1194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190">
                  <a:solidFill>
                    <a:srgbClr val="1E293B"/>
                  </a:solidFill>
                  <a:latin typeface="Inter"/>
                  <a:ea typeface="Inter"/>
                  <a:cs typeface="Inter"/>
                  <a:sym typeface="Inter"/>
                </a:rPr>
                <a:t>Successful </a:t>
              </a:r>
              <a:r>
                <a:rPr b="1" lang="en-US" sz="1190">
                  <a:solidFill>
                    <a:srgbClr val="1E293B"/>
                  </a:solidFill>
                  <a:latin typeface="Inter"/>
                  <a:ea typeface="Inter"/>
                  <a:cs typeface="Inter"/>
                  <a:sym typeface="Inter"/>
                </a:rPr>
                <a:t>Sentiment Analysis Findings</a:t>
              </a:r>
              <a:endParaRPr b="1" sz="1190">
                <a:solidFill>
                  <a:srgbClr val="1E293B"/>
                </a:solidFill>
                <a:latin typeface="Inter"/>
                <a:ea typeface="Inter"/>
                <a:cs typeface="Inter"/>
                <a:sym typeface="Inter"/>
              </a:endParaRPr>
            </a:p>
            <a:p>
              <a:pPr indent="0" lvl="0" marL="0" rtl="0" algn="l">
                <a:spcBef>
                  <a:spcPts val="450"/>
                </a:spcBef>
                <a:spcAft>
                  <a:spcPts val="0"/>
                </a:spcAft>
                <a:buNone/>
              </a:pPr>
              <a:r>
                <a:rPr b="0" lang="en-US" sz="1200">
                  <a:solidFill>
                    <a:srgbClr val="64748B"/>
                  </a:solidFill>
                  <a:latin typeface="Inter"/>
                  <a:ea typeface="Inter"/>
                  <a:cs typeface="Inter"/>
                  <a:sym typeface="Inter"/>
                </a:rPr>
                <a:t>Identified possible reasons for Sony PlayMemories discontinuation:</a:t>
              </a:r>
              <a:endParaRPr b="0" sz="1200">
                <a:solidFill>
                  <a:srgbClr val="64748B"/>
                </a:solidFill>
                <a:latin typeface="Inter"/>
                <a:ea typeface="Inter"/>
                <a:cs typeface="Inter"/>
                <a:sym typeface="Inter"/>
              </a:endParaRPr>
            </a:p>
            <a:p>
              <a:pPr indent="-304800" lvl="0" marL="457200" rtl="0" algn="l">
                <a:spcBef>
                  <a:spcPts val="450"/>
                </a:spcBef>
                <a:spcAft>
                  <a:spcPts val="0"/>
                </a:spcAft>
                <a:buClr>
                  <a:srgbClr val="64748B"/>
                </a:buClr>
                <a:buSzPts val="1200"/>
                <a:buFont typeface="Inter"/>
                <a:buChar char="●"/>
              </a:pPr>
              <a:r>
                <a:rPr b="0" lang="en-US" sz="1200">
                  <a:solidFill>
                    <a:srgbClr val="64748B"/>
                  </a:solidFill>
                  <a:latin typeface="Inter"/>
                  <a:ea typeface="Inter"/>
                  <a:cs typeface="Inter"/>
                  <a:sym typeface="Inter"/>
                </a:rPr>
                <a:t>Poor product quality</a:t>
              </a:r>
              <a:endParaRPr b="0" sz="1200">
                <a:solidFill>
                  <a:srgbClr val="64748B"/>
                </a:solidFill>
                <a:latin typeface="Inter"/>
                <a:ea typeface="Inter"/>
                <a:cs typeface="Inter"/>
                <a:sym typeface="Inter"/>
              </a:endParaRPr>
            </a:p>
            <a:p>
              <a:pPr indent="-304800" lvl="0" marL="457200" rtl="0" algn="l">
                <a:spcBef>
                  <a:spcPts val="150"/>
                </a:spcBef>
                <a:spcAft>
                  <a:spcPts val="0"/>
                </a:spcAft>
                <a:buClr>
                  <a:srgbClr val="64748B"/>
                </a:buClr>
                <a:buSzPts val="1200"/>
                <a:buFont typeface="Inter"/>
                <a:buChar char="●"/>
              </a:pPr>
              <a:r>
                <a:rPr b="0" lang="en-US" sz="1200">
                  <a:solidFill>
                    <a:srgbClr val="64748B"/>
                  </a:solidFill>
                  <a:latin typeface="Inter"/>
                  <a:ea typeface="Inter"/>
                  <a:cs typeface="Inter"/>
                  <a:sym typeface="Inter"/>
                </a:rPr>
                <a:t>Adoption barriers: iOS incompatibility, payment difficulties outside US</a:t>
              </a:r>
              <a:endParaRPr b="0" sz="1200">
                <a:solidFill>
                  <a:srgbClr val="64748B"/>
                </a:solidFill>
                <a:latin typeface="Inter"/>
                <a:ea typeface="Inter"/>
                <a:cs typeface="Inter"/>
                <a:sym typeface="Inter"/>
              </a:endParaRPr>
            </a:p>
          </p:txBody>
        </p:sp>
      </p:grpSp>
      <p:grpSp>
        <p:nvGrpSpPr>
          <p:cNvPr id="455" name="Google Shape;455;p26"/>
          <p:cNvGrpSpPr/>
          <p:nvPr/>
        </p:nvGrpSpPr>
        <p:grpSpPr>
          <a:xfrm>
            <a:off x="381000" y="2952750"/>
            <a:ext cx="4476900" cy="1714500"/>
            <a:chOff x="381000" y="2952750"/>
            <a:chExt cx="4476900" cy="1714500"/>
          </a:xfrm>
        </p:grpSpPr>
        <p:sp>
          <p:nvSpPr>
            <p:cNvPr id="456" name="Google Shape;456;p26"/>
            <p:cNvSpPr/>
            <p:nvPr/>
          </p:nvSpPr>
          <p:spPr>
            <a:xfrm>
              <a:off x="381000" y="2952750"/>
              <a:ext cx="44769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6"/>
            <p:cNvSpPr txBox="1"/>
            <p:nvPr/>
          </p:nvSpPr>
          <p:spPr>
            <a:xfrm>
              <a:off x="571500" y="3213354"/>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EF4444"/>
                  </a:solidFill>
                  <a:latin typeface="Material Icons"/>
                  <a:ea typeface="Material Icons"/>
                  <a:cs typeface="Material Icons"/>
                  <a:sym typeface="Material Icons"/>
                </a:rPr>
                <a:t>visibility_off</a:t>
              </a:r>
              <a:endParaRPr b="0" sz="2400">
                <a:solidFill>
                  <a:srgbClr val="EF4444"/>
                </a:solidFill>
                <a:latin typeface="Material Icons"/>
                <a:ea typeface="Material Icons"/>
                <a:cs typeface="Material Icons"/>
                <a:sym typeface="Material Icons"/>
              </a:endParaRPr>
            </a:p>
          </p:txBody>
        </p:sp>
        <p:sp>
          <p:nvSpPr>
            <p:cNvPr id="458" name="Google Shape;458;p26"/>
            <p:cNvSpPr txBox="1"/>
            <p:nvPr/>
          </p:nvSpPr>
          <p:spPr>
            <a:xfrm>
              <a:off x="571500" y="3571875"/>
              <a:ext cx="4095900" cy="952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93B"/>
                  </a:solidFill>
                  <a:latin typeface="Inter"/>
                  <a:ea typeface="Inter"/>
                  <a:cs typeface="Inter"/>
                  <a:sym typeface="Inter"/>
                </a:rPr>
                <a:t>Manual Data Inspection Gap</a:t>
              </a:r>
              <a:endParaRPr b="1" sz="1400">
                <a:solidFill>
                  <a:srgbClr val="1E293B"/>
                </a:solidFill>
                <a:latin typeface="Inter"/>
                <a:ea typeface="Inter"/>
                <a:cs typeface="Inter"/>
                <a:sym typeface="Inter"/>
              </a:endParaRPr>
            </a:p>
            <a:p>
              <a:pPr indent="0" lvl="0" marL="0" rtl="0" algn="l">
                <a:spcBef>
                  <a:spcPts val="450"/>
                </a:spcBef>
                <a:spcAft>
                  <a:spcPts val="450"/>
                </a:spcAft>
                <a:buNone/>
              </a:pPr>
              <a:r>
                <a:rPr b="0" lang="en-US" sz="1200">
                  <a:solidFill>
                    <a:srgbClr val="64748B"/>
                  </a:solidFill>
                  <a:latin typeface="Inter"/>
                  <a:ea typeface="Inter"/>
                  <a:cs typeface="Inter"/>
                  <a:sym typeface="Inter"/>
                </a:rPr>
                <a:t>While overall sentiment results indicate mostly positive reviews, manual inspection reveals conflicting insights that automated analysis missed.</a:t>
              </a:r>
              <a:endParaRPr b="0" sz="1200">
                <a:solidFill>
                  <a:srgbClr val="64748B"/>
                </a:solidFill>
                <a:latin typeface="Inter"/>
                <a:ea typeface="Inter"/>
                <a:cs typeface="Inter"/>
                <a:sym typeface="Inter"/>
              </a:endParaRPr>
            </a:p>
          </p:txBody>
        </p:sp>
      </p:grpSp>
      <p:grpSp>
        <p:nvGrpSpPr>
          <p:cNvPr id="459" name="Google Shape;459;p26"/>
          <p:cNvGrpSpPr/>
          <p:nvPr/>
        </p:nvGrpSpPr>
        <p:grpSpPr>
          <a:xfrm>
            <a:off x="5048250" y="1047750"/>
            <a:ext cx="3714900" cy="3619500"/>
            <a:chOff x="5048250" y="1047750"/>
            <a:chExt cx="3714900" cy="3619500"/>
          </a:xfrm>
        </p:grpSpPr>
        <p:sp>
          <p:nvSpPr>
            <p:cNvPr id="460" name="Google Shape;460;p26"/>
            <p:cNvSpPr/>
            <p:nvPr/>
          </p:nvSpPr>
          <p:spPr>
            <a:xfrm>
              <a:off x="5048250" y="1047750"/>
              <a:ext cx="37149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61" name="Google Shape;461;p26"/>
            <p:cNvPicPr preferRelativeResize="0"/>
            <p:nvPr/>
          </p:nvPicPr>
          <p:blipFill rotWithShape="1">
            <a:blip r:embed="rId4">
              <a:alphaModFix/>
            </a:blip>
            <a:srcRect b="0" l="50" r="50" t="0"/>
            <a:stretch/>
          </p:blipFill>
          <p:spPr>
            <a:xfrm>
              <a:off x="5238750" y="1714500"/>
              <a:ext cx="3333900" cy="2694600"/>
            </a:xfrm>
            <a:prstGeom prst="roundRect">
              <a:avLst>
                <a:gd fmla="val 2827" name="adj"/>
              </a:avLst>
            </a:prstGeom>
            <a:noFill/>
            <a:ln>
              <a:noFill/>
            </a:ln>
          </p:spPr>
        </p:pic>
        <p:sp>
          <p:nvSpPr>
            <p:cNvPr id="462" name="Google Shape;462;p26"/>
            <p:cNvSpPr txBox="1"/>
            <p:nvPr/>
          </p:nvSpPr>
          <p:spPr>
            <a:xfrm>
              <a:off x="5238750" y="1238250"/>
              <a:ext cx="33339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1E293B"/>
                  </a:solidFill>
                  <a:latin typeface="Inter"/>
                  <a:ea typeface="Inter"/>
                  <a:cs typeface="Inter"/>
                  <a:sym typeface="Inter"/>
                </a:rPr>
                <a:t>Sentiment Distribution</a:t>
              </a:r>
              <a:endParaRPr b="1" sz="1600">
                <a:solidFill>
                  <a:srgbClr val="1E293B"/>
                </a:solidFill>
                <a:latin typeface="Inter"/>
                <a:ea typeface="Inter"/>
                <a:cs typeface="Inter"/>
                <a:sym typeface="Inte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67" name="Shape 467"/>
        <p:cNvGrpSpPr/>
        <p:nvPr/>
      </p:nvGrpSpPr>
      <p:grpSpPr>
        <a:xfrm>
          <a:off x="0" y="0"/>
          <a:ext cx="0" cy="0"/>
          <a:chOff x="0" y="0"/>
          <a:chExt cx="0" cy="0"/>
        </a:xfrm>
      </p:grpSpPr>
      <p:grpSp>
        <p:nvGrpSpPr>
          <p:cNvPr id="468" name="Google Shape;468;p27"/>
          <p:cNvGrpSpPr/>
          <p:nvPr/>
        </p:nvGrpSpPr>
        <p:grpSpPr>
          <a:xfrm>
            <a:off x="0" y="0"/>
            <a:ext cx="9144000" cy="762000"/>
            <a:chOff x="0" y="0"/>
            <a:chExt cx="9144000" cy="762000"/>
          </a:xfrm>
        </p:grpSpPr>
        <p:sp>
          <p:nvSpPr>
            <p:cNvPr id="469" name="Google Shape;469;p27"/>
            <p:cNvSpPr/>
            <p:nvPr/>
          </p:nvSpPr>
          <p:spPr>
            <a:xfrm>
              <a:off x="0" y="0"/>
              <a:ext cx="9144000" cy="7620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7"/>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Analysis Gap Case: PlayMemories</a:t>
              </a:r>
              <a:endParaRPr b="1" sz="2400">
                <a:solidFill>
                  <a:srgbClr val="FFFFFF"/>
                </a:solidFill>
                <a:latin typeface="Inter"/>
                <a:ea typeface="Inter"/>
                <a:cs typeface="Inter"/>
                <a:sym typeface="Inter"/>
              </a:endParaRPr>
            </a:p>
          </p:txBody>
        </p:sp>
      </p:grpSp>
      <p:grpSp>
        <p:nvGrpSpPr>
          <p:cNvPr id="471" name="Google Shape;471;p27"/>
          <p:cNvGrpSpPr/>
          <p:nvPr/>
        </p:nvGrpSpPr>
        <p:grpSpPr>
          <a:xfrm>
            <a:off x="381000" y="2952750"/>
            <a:ext cx="3619500" cy="1714500"/>
            <a:chOff x="381000" y="2952750"/>
            <a:chExt cx="3619500" cy="1714500"/>
          </a:xfrm>
        </p:grpSpPr>
        <p:sp>
          <p:nvSpPr>
            <p:cNvPr id="472" name="Google Shape;472;p27"/>
            <p:cNvSpPr/>
            <p:nvPr/>
          </p:nvSpPr>
          <p:spPr>
            <a:xfrm>
              <a:off x="381000" y="2952750"/>
              <a:ext cx="36195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3" name="Google Shape;473;p27"/>
            <p:cNvSpPr txBox="1"/>
            <p:nvPr/>
          </p:nvSpPr>
          <p:spPr>
            <a:xfrm>
              <a:off x="571500" y="3165729"/>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EF4444"/>
                  </a:solidFill>
                  <a:latin typeface="Material Icons"/>
                  <a:ea typeface="Material Icons"/>
                  <a:cs typeface="Material Icons"/>
                  <a:sym typeface="Material Icons"/>
                </a:rPr>
                <a:t>visibility_off</a:t>
              </a:r>
              <a:endParaRPr b="0" sz="2400">
                <a:solidFill>
                  <a:srgbClr val="EF4444"/>
                </a:solidFill>
                <a:latin typeface="Material Icons"/>
                <a:ea typeface="Material Icons"/>
                <a:cs typeface="Material Icons"/>
                <a:sym typeface="Material Icons"/>
              </a:endParaRPr>
            </a:p>
          </p:txBody>
        </p:sp>
        <p:sp>
          <p:nvSpPr>
            <p:cNvPr id="474" name="Google Shape;474;p27"/>
            <p:cNvSpPr txBox="1"/>
            <p:nvPr/>
          </p:nvSpPr>
          <p:spPr>
            <a:xfrm>
              <a:off x="571500" y="3476625"/>
              <a:ext cx="32385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93B"/>
                  </a:solidFill>
                  <a:latin typeface="Inter"/>
                  <a:ea typeface="Inter"/>
                  <a:cs typeface="Inter"/>
                  <a:sym typeface="Inter"/>
                </a:rPr>
                <a:t>Manual Data Inspection Gap</a:t>
              </a:r>
              <a:endParaRPr b="1" sz="1400">
                <a:solidFill>
                  <a:srgbClr val="1E293B"/>
                </a:solidFill>
                <a:latin typeface="Inter"/>
                <a:ea typeface="Inter"/>
                <a:cs typeface="Inter"/>
                <a:sym typeface="Inter"/>
              </a:endParaRPr>
            </a:p>
            <a:p>
              <a:pPr indent="0" lvl="0" marL="0" rtl="0" algn="l">
                <a:spcBef>
                  <a:spcPts val="450"/>
                </a:spcBef>
                <a:spcAft>
                  <a:spcPts val="450"/>
                </a:spcAft>
                <a:buNone/>
              </a:pPr>
              <a:r>
                <a:rPr b="0" lang="en-US" sz="1200">
                  <a:solidFill>
                    <a:srgbClr val="64748B"/>
                  </a:solidFill>
                  <a:latin typeface="Inter"/>
                  <a:ea typeface="Inter"/>
                  <a:cs typeface="Inter"/>
                  <a:sym typeface="Inter"/>
                </a:rPr>
                <a:t>Inspection indicates PlayMemories had a higher negative sentiment distribution than the </a:t>
              </a:r>
              <a:r>
                <a:rPr lang="en-US" sz="1200">
                  <a:solidFill>
                    <a:srgbClr val="64748B"/>
                  </a:solidFill>
                  <a:latin typeface="Inter"/>
                  <a:ea typeface="Inter"/>
                  <a:cs typeface="Inter"/>
                  <a:sym typeface="Inter"/>
                </a:rPr>
                <a:t>results of the sentiment analysis indicated.</a:t>
              </a:r>
              <a:endParaRPr b="0" sz="1200">
                <a:solidFill>
                  <a:srgbClr val="64748B"/>
                </a:solidFill>
                <a:latin typeface="Inter"/>
                <a:ea typeface="Inter"/>
                <a:cs typeface="Inter"/>
                <a:sym typeface="Inter"/>
              </a:endParaRPr>
            </a:p>
          </p:txBody>
        </p:sp>
      </p:grpSp>
      <p:grpSp>
        <p:nvGrpSpPr>
          <p:cNvPr id="475" name="Google Shape;475;p27"/>
          <p:cNvGrpSpPr/>
          <p:nvPr/>
        </p:nvGrpSpPr>
        <p:grpSpPr>
          <a:xfrm>
            <a:off x="4340500" y="1047750"/>
            <a:ext cx="4476900" cy="3619500"/>
            <a:chOff x="4286250" y="1047750"/>
            <a:chExt cx="4476900" cy="3619500"/>
          </a:xfrm>
        </p:grpSpPr>
        <p:sp>
          <p:nvSpPr>
            <p:cNvPr id="476" name="Google Shape;476;p27"/>
            <p:cNvSpPr/>
            <p:nvPr/>
          </p:nvSpPr>
          <p:spPr>
            <a:xfrm>
              <a:off x="4286250" y="1047750"/>
              <a:ext cx="4476900" cy="3619500"/>
            </a:xfrm>
            <a:prstGeom prst="roundRect">
              <a:avLst>
                <a:gd fmla="val 31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7" name="Google Shape;477;p27"/>
            <p:cNvSpPr txBox="1"/>
            <p:nvPr/>
          </p:nvSpPr>
          <p:spPr>
            <a:xfrm>
              <a:off x="4476750" y="1190625"/>
              <a:ext cx="40959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400">
                  <a:solidFill>
                    <a:srgbClr val="1E293B"/>
                  </a:solidFill>
                  <a:latin typeface="Inter"/>
                  <a:ea typeface="Inter"/>
                  <a:cs typeface="Inter"/>
                  <a:sym typeface="Inter"/>
                </a:rPr>
                <a:t>Sentiment Distribution by Segment</a:t>
              </a:r>
              <a:endParaRPr b="1" sz="1400">
                <a:solidFill>
                  <a:srgbClr val="1E293B"/>
                </a:solidFill>
                <a:latin typeface="Inter"/>
                <a:ea typeface="Inter"/>
                <a:cs typeface="Inter"/>
                <a:sym typeface="Inter"/>
              </a:endParaRPr>
            </a:p>
          </p:txBody>
        </p:sp>
        <p:pic>
          <p:nvPicPr>
            <p:cNvPr id="478" name="Google Shape;478;p27"/>
            <p:cNvPicPr preferRelativeResize="0"/>
            <p:nvPr/>
          </p:nvPicPr>
          <p:blipFill rotWithShape="1">
            <a:blip r:embed="rId4">
              <a:alphaModFix/>
            </a:blip>
            <a:srcRect b="0" l="1105" r="1105" t="8567"/>
            <a:stretch/>
          </p:blipFill>
          <p:spPr>
            <a:xfrm>
              <a:off x="4286250" y="2000250"/>
              <a:ext cx="4476900" cy="2404200"/>
            </a:xfrm>
            <a:prstGeom prst="rect">
              <a:avLst/>
            </a:prstGeom>
            <a:noFill/>
            <a:ln>
              <a:noFill/>
            </a:ln>
          </p:spPr>
        </p:pic>
      </p:grpSp>
      <p:grpSp>
        <p:nvGrpSpPr>
          <p:cNvPr id="479" name="Google Shape;479;p27"/>
          <p:cNvGrpSpPr/>
          <p:nvPr/>
        </p:nvGrpSpPr>
        <p:grpSpPr>
          <a:xfrm>
            <a:off x="381000" y="1047750"/>
            <a:ext cx="3619500" cy="1714500"/>
            <a:chOff x="381000" y="1047750"/>
            <a:chExt cx="3619500" cy="1714500"/>
          </a:xfrm>
        </p:grpSpPr>
        <p:sp>
          <p:nvSpPr>
            <p:cNvPr id="480" name="Google Shape;480;p27"/>
            <p:cNvSpPr/>
            <p:nvPr/>
          </p:nvSpPr>
          <p:spPr>
            <a:xfrm>
              <a:off x="381000" y="1047750"/>
              <a:ext cx="36195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1" name="Google Shape;481;p27"/>
            <p:cNvSpPr txBox="1"/>
            <p:nvPr/>
          </p:nvSpPr>
          <p:spPr>
            <a:xfrm>
              <a:off x="571500" y="1260729"/>
              <a:ext cx="381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3B82F6"/>
                  </a:solidFill>
                  <a:latin typeface="Material Icons"/>
                  <a:ea typeface="Material Icons"/>
                  <a:cs typeface="Material Icons"/>
                  <a:sym typeface="Material Icons"/>
                </a:rPr>
                <a:t>analytics</a:t>
              </a:r>
              <a:endParaRPr b="0" sz="2400">
                <a:solidFill>
                  <a:srgbClr val="3B82F6"/>
                </a:solidFill>
                <a:latin typeface="Material Icons"/>
                <a:ea typeface="Material Icons"/>
                <a:cs typeface="Material Icons"/>
                <a:sym typeface="Material Icons"/>
              </a:endParaRPr>
            </a:p>
          </p:txBody>
        </p:sp>
        <p:sp>
          <p:nvSpPr>
            <p:cNvPr id="482" name="Google Shape;482;p27"/>
            <p:cNvSpPr txBox="1"/>
            <p:nvPr/>
          </p:nvSpPr>
          <p:spPr>
            <a:xfrm>
              <a:off x="571500" y="1571625"/>
              <a:ext cx="3238500" cy="1047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93B"/>
                  </a:solidFill>
                  <a:latin typeface="Inter"/>
                  <a:ea typeface="Inter"/>
                  <a:cs typeface="Inter"/>
                  <a:sym typeface="Inter"/>
                </a:rPr>
                <a:t>Sentiment Analysis Results</a:t>
              </a:r>
              <a:endParaRPr b="1" sz="1400">
                <a:solidFill>
                  <a:srgbClr val="1E293B"/>
                </a:solidFill>
                <a:latin typeface="Inter"/>
                <a:ea typeface="Inter"/>
                <a:cs typeface="Inter"/>
                <a:sym typeface="Inter"/>
              </a:endParaRPr>
            </a:p>
            <a:p>
              <a:pPr indent="0" lvl="0" marL="0" rtl="0" algn="l">
                <a:spcBef>
                  <a:spcPts val="450"/>
                </a:spcBef>
                <a:spcAft>
                  <a:spcPts val="450"/>
                </a:spcAft>
                <a:buNone/>
              </a:pPr>
              <a:r>
                <a:rPr b="0" lang="en-US" sz="1200">
                  <a:solidFill>
                    <a:srgbClr val="64748B"/>
                  </a:solidFill>
                  <a:latin typeface="Inter"/>
                  <a:ea typeface="Inter"/>
                  <a:cs typeface="Inter"/>
                  <a:sym typeface="Inter"/>
                </a:rPr>
                <a:t>PlayMemories had the lowest negative sentiment percentage. This is reflected </a:t>
              </a:r>
              <a:r>
                <a:rPr lang="en-US" sz="1200">
                  <a:solidFill>
                    <a:srgbClr val="64748B"/>
                  </a:solidFill>
                  <a:latin typeface="Inter"/>
                  <a:ea typeface="Inter"/>
                  <a:cs typeface="Inter"/>
                  <a:sym typeface="Inter"/>
                </a:rPr>
                <a:t>by the data visualized on the app dashboard.</a:t>
              </a:r>
              <a:endParaRPr b="0" sz="1200">
                <a:solidFill>
                  <a:srgbClr val="64748B"/>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6" name="Shape 486"/>
        <p:cNvGrpSpPr/>
        <p:nvPr/>
      </p:nvGrpSpPr>
      <p:grpSpPr>
        <a:xfrm>
          <a:off x="0" y="0"/>
          <a:ext cx="0" cy="0"/>
          <a:chOff x="0" y="0"/>
          <a:chExt cx="0" cy="0"/>
        </a:xfrm>
      </p:grpSpPr>
      <p:grpSp>
        <p:nvGrpSpPr>
          <p:cNvPr id="487" name="Google Shape;487;p28"/>
          <p:cNvGrpSpPr/>
          <p:nvPr/>
        </p:nvGrpSpPr>
        <p:grpSpPr>
          <a:xfrm>
            <a:off x="0" y="0"/>
            <a:ext cx="9144000" cy="762000"/>
            <a:chOff x="0" y="0"/>
            <a:chExt cx="9144000" cy="762000"/>
          </a:xfrm>
        </p:grpSpPr>
        <p:sp>
          <p:nvSpPr>
            <p:cNvPr id="488" name="Google Shape;488;p28"/>
            <p:cNvSpPr/>
            <p:nvPr/>
          </p:nvSpPr>
          <p:spPr>
            <a:xfrm>
              <a:off x="0" y="0"/>
              <a:ext cx="9144000" cy="7620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9" name="Google Shape;489;p28"/>
            <p:cNvSpPr txBox="1"/>
            <p:nvPr/>
          </p:nvSpPr>
          <p:spPr>
            <a:xfrm>
              <a:off x="381000" y="0"/>
              <a:ext cx="8382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400">
                  <a:solidFill>
                    <a:srgbClr val="FFFFFF"/>
                  </a:solidFill>
                  <a:latin typeface="Inter"/>
                  <a:ea typeface="Inter"/>
                  <a:cs typeface="Inter"/>
                  <a:sym typeface="Inter"/>
                </a:rPr>
                <a:t>Conclusion of Results</a:t>
              </a:r>
              <a:endParaRPr b="1" sz="2400">
                <a:solidFill>
                  <a:srgbClr val="FFFFFF"/>
                </a:solidFill>
                <a:latin typeface="Inter"/>
                <a:ea typeface="Inter"/>
                <a:cs typeface="Inter"/>
                <a:sym typeface="Inter"/>
              </a:endParaRPr>
            </a:p>
          </p:txBody>
        </p:sp>
      </p:grpSp>
      <p:grpSp>
        <p:nvGrpSpPr>
          <p:cNvPr id="490" name="Google Shape;490;p28"/>
          <p:cNvGrpSpPr/>
          <p:nvPr/>
        </p:nvGrpSpPr>
        <p:grpSpPr>
          <a:xfrm>
            <a:off x="381000" y="952500"/>
            <a:ext cx="8382000" cy="666900"/>
            <a:chOff x="381000" y="952500"/>
            <a:chExt cx="8382000" cy="666900"/>
          </a:xfrm>
        </p:grpSpPr>
        <p:sp>
          <p:nvSpPr>
            <p:cNvPr id="491" name="Google Shape;491;p28"/>
            <p:cNvSpPr/>
            <p:nvPr/>
          </p:nvSpPr>
          <p:spPr>
            <a:xfrm>
              <a:off x="381000" y="952500"/>
              <a:ext cx="8382000" cy="666900"/>
            </a:xfrm>
            <a:prstGeom prst="roundRect">
              <a:avLst>
                <a:gd fmla="val 17142"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28"/>
            <p:cNvSpPr txBox="1"/>
            <p:nvPr/>
          </p:nvSpPr>
          <p:spPr>
            <a:xfrm>
              <a:off x="571500" y="952500"/>
              <a:ext cx="8001000" cy="666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1E293B"/>
                  </a:solidFill>
                  <a:latin typeface="Inter"/>
                  <a:ea typeface="Inter"/>
                  <a:cs typeface="Inter"/>
                  <a:sym typeface="Inter"/>
                </a:rPr>
                <a:t>Core Limitation: </a:t>
              </a:r>
              <a:r>
                <a:rPr b="0" lang="en-US" sz="1300">
                  <a:solidFill>
                    <a:srgbClr val="64748B"/>
                  </a:solidFill>
                  <a:latin typeface="Inter"/>
                  <a:ea typeface="Inter"/>
                  <a:cs typeface="Inter"/>
                  <a:sym typeface="Inter"/>
                </a:rPr>
                <a:t>Sentiment analysis is a component of strategic decision making, but </a:t>
              </a:r>
              <a:r>
                <a:rPr lang="en-US" sz="1300">
                  <a:solidFill>
                    <a:srgbClr val="64748B"/>
                  </a:solidFill>
                  <a:latin typeface="Inter"/>
                  <a:ea typeface="Inter"/>
                  <a:cs typeface="Inter"/>
                  <a:sym typeface="Inter"/>
                </a:rPr>
                <a:t>is not suited to act as the sole driver behind strategic decision making.</a:t>
              </a:r>
              <a:endParaRPr b="1" sz="1300">
                <a:solidFill>
                  <a:srgbClr val="1E293B"/>
                </a:solidFill>
                <a:latin typeface="Inter"/>
                <a:ea typeface="Inter"/>
                <a:cs typeface="Inter"/>
                <a:sym typeface="Inter"/>
              </a:endParaRPr>
            </a:p>
          </p:txBody>
        </p:sp>
      </p:grpSp>
      <p:grpSp>
        <p:nvGrpSpPr>
          <p:cNvPr id="493" name="Google Shape;493;p28"/>
          <p:cNvGrpSpPr/>
          <p:nvPr/>
        </p:nvGrpSpPr>
        <p:grpSpPr>
          <a:xfrm>
            <a:off x="381000" y="1809750"/>
            <a:ext cx="4095900" cy="2952900"/>
            <a:chOff x="381000" y="1809750"/>
            <a:chExt cx="4095900" cy="2952900"/>
          </a:xfrm>
        </p:grpSpPr>
        <p:sp>
          <p:nvSpPr>
            <p:cNvPr id="494" name="Google Shape;494;p28"/>
            <p:cNvSpPr/>
            <p:nvPr/>
          </p:nvSpPr>
          <p:spPr>
            <a:xfrm>
              <a:off x="381000" y="1809750"/>
              <a:ext cx="40959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28"/>
            <p:cNvSpPr txBox="1"/>
            <p:nvPr/>
          </p:nvSpPr>
          <p:spPr>
            <a:xfrm>
              <a:off x="571500" y="203530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3B82F6"/>
                  </a:solidFill>
                  <a:latin typeface="Material Icons"/>
                  <a:ea typeface="Material Icons"/>
                  <a:cs typeface="Material Icons"/>
                  <a:sym typeface="Material Icons"/>
                </a:rPr>
                <a:t>laptop</a:t>
              </a:r>
              <a:endParaRPr b="0" sz="2400">
                <a:solidFill>
                  <a:srgbClr val="3B82F6"/>
                </a:solidFill>
                <a:latin typeface="Material Icons"/>
                <a:ea typeface="Material Icons"/>
                <a:cs typeface="Material Icons"/>
                <a:sym typeface="Material Icons"/>
              </a:endParaRPr>
            </a:p>
          </p:txBody>
        </p:sp>
        <p:sp>
          <p:nvSpPr>
            <p:cNvPr id="496" name="Google Shape;496;p28"/>
            <p:cNvSpPr txBox="1"/>
            <p:nvPr/>
          </p:nvSpPr>
          <p:spPr>
            <a:xfrm>
              <a:off x="571500" y="2428875"/>
              <a:ext cx="37149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93B"/>
                  </a:solidFill>
                  <a:latin typeface="Inter"/>
                  <a:ea typeface="Inter"/>
                  <a:cs typeface="Inter"/>
                  <a:sym typeface="Inter"/>
                </a:rPr>
                <a:t>Case 1: VAIO Discontinuation</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en-US">
                  <a:solidFill>
                    <a:srgbClr val="64748B"/>
                  </a:solidFill>
                  <a:latin typeface="Inter"/>
                  <a:ea typeface="Inter"/>
                  <a:cs typeface="Inter"/>
                  <a:sym typeface="Inter"/>
                </a:rPr>
                <a:t>Sentiment </a:t>
              </a:r>
              <a:r>
                <a:rPr lang="en-US">
                  <a:solidFill>
                    <a:srgbClr val="64748B"/>
                  </a:solidFill>
                  <a:latin typeface="Inter"/>
                  <a:ea typeface="Inter"/>
                  <a:cs typeface="Inter"/>
                  <a:sym typeface="Inter"/>
                </a:rPr>
                <a:t>analysis </a:t>
              </a:r>
              <a:r>
                <a:rPr b="0" lang="en-US">
                  <a:solidFill>
                    <a:srgbClr val="64748B"/>
                  </a:solidFill>
                  <a:latin typeface="Inter"/>
                  <a:ea typeface="Inter"/>
                  <a:cs typeface="Inter"/>
                  <a:sym typeface="Inter"/>
                </a:rPr>
                <a:t>suggested continuation, but </a:t>
              </a:r>
              <a:r>
                <a:rPr lang="en-US">
                  <a:solidFill>
                    <a:srgbClr val="64748B"/>
                  </a:solidFill>
                  <a:latin typeface="Inter"/>
                  <a:ea typeface="Inter"/>
                  <a:cs typeface="Inter"/>
                  <a:sym typeface="Inter"/>
                </a:rPr>
                <a:t>additional data</a:t>
              </a:r>
              <a:r>
                <a:rPr b="0" lang="en-US">
                  <a:solidFill>
                    <a:srgbClr val="64748B"/>
                  </a:solidFill>
                  <a:latin typeface="Inter"/>
                  <a:ea typeface="Inter"/>
                  <a:cs typeface="Inter"/>
                  <a:sym typeface="Inter"/>
                </a:rPr>
                <a:t> dictated a different strategy:</a:t>
              </a:r>
              <a:endParaRPr b="0">
                <a:solidFill>
                  <a:srgbClr val="64748B"/>
                </a:solidFill>
                <a:latin typeface="Inter"/>
                <a:ea typeface="Inter"/>
                <a:cs typeface="Inter"/>
                <a:sym typeface="Inter"/>
              </a:endParaRPr>
            </a:p>
            <a:p>
              <a:pPr indent="-304800" lvl="0" marL="457200" rtl="0" algn="l">
                <a:spcBef>
                  <a:spcPts val="900"/>
                </a:spcBef>
                <a:spcAft>
                  <a:spcPts val="0"/>
                </a:spcAft>
                <a:buClr>
                  <a:srgbClr val="1E293B"/>
                </a:buClr>
                <a:buSzPts val="1200"/>
                <a:buFont typeface="Inter"/>
                <a:buChar char="●"/>
              </a:pPr>
              <a:r>
                <a:rPr b="0" lang="en-US" sz="1200">
                  <a:solidFill>
                    <a:srgbClr val="1E293B"/>
                  </a:solidFill>
                  <a:latin typeface="Inter"/>
                  <a:ea typeface="Inter"/>
                  <a:cs typeface="Inter"/>
                  <a:sym typeface="Inter"/>
                </a:rPr>
                <a:t>Unit sales declined from 8.7M (2010) to 5.8M (2013)</a:t>
              </a:r>
              <a:endParaRPr b="0" sz="1200">
                <a:solidFill>
                  <a:srgbClr val="1E293B"/>
                </a:solidFill>
                <a:latin typeface="Inter"/>
                <a:ea typeface="Inter"/>
                <a:cs typeface="Inter"/>
                <a:sym typeface="Inter"/>
              </a:endParaRPr>
            </a:p>
            <a:p>
              <a:pPr indent="-304800" lvl="0" marL="457200" rtl="0" algn="l">
                <a:spcBef>
                  <a:spcPts val="600"/>
                </a:spcBef>
                <a:spcAft>
                  <a:spcPts val="600"/>
                </a:spcAft>
                <a:buClr>
                  <a:srgbClr val="1E293B"/>
                </a:buClr>
                <a:buSzPts val="1200"/>
                <a:buFont typeface="Inter"/>
                <a:buChar char="●"/>
              </a:pPr>
              <a:r>
                <a:rPr b="0" lang="en-US" sz="1200">
                  <a:solidFill>
                    <a:srgbClr val="1E293B"/>
                  </a:solidFill>
                  <a:latin typeface="Inter"/>
                  <a:ea typeface="Inter"/>
                  <a:cs typeface="Inter"/>
                  <a:sym typeface="Inter"/>
                </a:rPr>
                <a:t>Declining market share in a shrinking PC market (1.9% market share in 2013)</a:t>
              </a:r>
              <a:endParaRPr b="0" sz="1200">
                <a:solidFill>
                  <a:srgbClr val="1E293B"/>
                </a:solidFill>
                <a:latin typeface="Inter"/>
                <a:ea typeface="Inter"/>
                <a:cs typeface="Inter"/>
                <a:sym typeface="Inter"/>
              </a:endParaRPr>
            </a:p>
          </p:txBody>
        </p:sp>
      </p:grpSp>
      <p:grpSp>
        <p:nvGrpSpPr>
          <p:cNvPr id="497" name="Google Shape;497;p28"/>
          <p:cNvGrpSpPr/>
          <p:nvPr/>
        </p:nvGrpSpPr>
        <p:grpSpPr>
          <a:xfrm>
            <a:off x="4667250" y="1809750"/>
            <a:ext cx="4095900" cy="2952900"/>
            <a:chOff x="4667250" y="1809750"/>
            <a:chExt cx="4095900" cy="2952900"/>
          </a:xfrm>
        </p:grpSpPr>
        <p:sp>
          <p:nvSpPr>
            <p:cNvPr id="498" name="Google Shape;498;p28"/>
            <p:cNvSpPr/>
            <p:nvPr/>
          </p:nvSpPr>
          <p:spPr>
            <a:xfrm>
              <a:off x="4667250" y="1809750"/>
              <a:ext cx="40959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8"/>
            <p:cNvSpPr txBox="1"/>
            <p:nvPr/>
          </p:nvSpPr>
          <p:spPr>
            <a:xfrm>
              <a:off x="4857750" y="2035302"/>
              <a:ext cx="381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2400">
                  <a:solidFill>
                    <a:srgbClr val="F59E0B"/>
                  </a:solidFill>
                  <a:latin typeface="Material Icons"/>
                  <a:ea typeface="Material Icons"/>
                  <a:cs typeface="Material Icons"/>
                  <a:sym typeface="Material Icons"/>
                </a:rPr>
                <a:t>live_tv</a:t>
              </a:r>
              <a:endParaRPr b="0" sz="2400">
                <a:solidFill>
                  <a:srgbClr val="F59E0B"/>
                </a:solidFill>
                <a:latin typeface="Material Icons"/>
                <a:ea typeface="Material Icons"/>
                <a:cs typeface="Material Icons"/>
                <a:sym typeface="Material Icons"/>
              </a:endParaRPr>
            </a:p>
          </p:txBody>
        </p:sp>
        <p:sp>
          <p:nvSpPr>
            <p:cNvPr id="500" name="Google Shape;500;p28"/>
            <p:cNvSpPr txBox="1"/>
            <p:nvPr/>
          </p:nvSpPr>
          <p:spPr>
            <a:xfrm>
              <a:off x="4857750" y="2428875"/>
              <a:ext cx="3714900" cy="2143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400">
                  <a:solidFill>
                    <a:srgbClr val="1E293B"/>
                  </a:solidFill>
                  <a:latin typeface="Inter"/>
                  <a:ea typeface="Inter"/>
                  <a:cs typeface="Inter"/>
                  <a:sym typeface="Inter"/>
                </a:rPr>
                <a:t>Case 2: PlayStation Vue</a:t>
              </a:r>
              <a:endParaRPr b="1" sz="1400">
                <a:solidFill>
                  <a:srgbClr val="1E293B"/>
                </a:solidFill>
                <a:latin typeface="Inter"/>
                <a:ea typeface="Inter"/>
                <a:cs typeface="Inter"/>
                <a:sym typeface="Inter"/>
              </a:endParaRPr>
            </a:p>
            <a:p>
              <a:pPr indent="0" lvl="0" marL="0" rtl="0" algn="l">
                <a:spcBef>
                  <a:spcPts val="600"/>
                </a:spcBef>
                <a:spcAft>
                  <a:spcPts val="0"/>
                </a:spcAft>
                <a:buNone/>
              </a:pPr>
              <a:r>
                <a:rPr b="0" lang="en-US">
                  <a:solidFill>
                    <a:srgbClr val="64748B"/>
                  </a:solidFill>
                  <a:latin typeface="Inter"/>
                  <a:ea typeface="Inter"/>
                  <a:cs typeface="Inter"/>
                  <a:sym typeface="Inter"/>
                </a:rPr>
                <a:t>Highest sentiment score (73), but failed to survive the market:</a:t>
              </a:r>
              <a:endParaRPr b="0">
                <a:solidFill>
                  <a:srgbClr val="64748B"/>
                </a:solidFill>
                <a:latin typeface="Inter"/>
                <a:ea typeface="Inter"/>
                <a:cs typeface="Inter"/>
                <a:sym typeface="Inter"/>
              </a:endParaRPr>
            </a:p>
            <a:p>
              <a:pPr indent="-304800" lvl="0" marL="457200" rtl="0" algn="l">
                <a:spcBef>
                  <a:spcPts val="900"/>
                </a:spcBef>
                <a:spcAft>
                  <a:spcPts val="0"/>
                </a:spcAft>
                <a:buClr>
                  <a:srgbClr val="1E293B"/>
                </a:buClr>
                <a:buSzPts val="1200"/>
                <a:buFont typeface="Inter"/>
                <a:buChar char="●"/>
              </a:pPr>
              <a:r>
                <a:rPr b="0" lang="en-US" sz="1200">
                  <a:solidFill>
                    <a:srgbClr val="1E293B"/>
                  </a:solidFill>
                  <a:latin typeface="Inter"/>
                  <a:ea typeface="Inter"/>
                  <a:cs typeface="Inter"/>
                  <a:sym typeface="Inter"/>
                </a:rPr>
                <a:t>High quality, but significantly more expensive than competitors</a:t>
              </a:r>
              <a:endParaRPr b="0" sz="1200">
                <a:solidFill>
                  <a:srgbClr val="1E293B"/>
                </a:solidFill>
                <a:latin typeface="Inter"/>
                <a:ea typeface="Inter"/>
                <a:cs typeface="Inter"/>
                <a:sym typeface="Inter"/>
              </a:endParaRPr>
            </a:p>
            <a:p>
              <a:pPr indent="-304800" lvl="0" marL="457200" rtl="0" algn="l">
                <a:spcBef>
                  <a:spcPts val="600"/>
                </a:spcBef>
                <a:spcAft>
                  <a:spcPts val="600"/>
                </a:spcAft>
                <a:buClr>
                  <a:srgbClr val="1E293B"/>
                </a:buClr>
                <a:buSzPts val="1200"/>
                <a:buFont typeface="Inter"/>
                <a:buChar char="●"/>
              </a:pPr>
              <a:r>
                <a:rPr b="0" lang="en-US" sz="1200">
                  <a:solidFill>
                    <a:srgbClr val="1E293B"/>
                  </a:solidFill>
                  <a:latin typeface="Inter"/>
                  <a:ea typeface="Inter"/>
                  <a:cs typeface="Inter"/>
                  <a:sym typeface="Inter"/>
                </a:rPr>
                <a:t>Value Gap: Consumers could not justify a $50 monthly fee</a:t>
              </a:r>
              <a:endParaRPr b="0" sz="1200">
                <a:solidFill>
                  <a:srgbClr val="1E293B"/>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2044"/>
        </a:solidFill>
      </p:bgPr>
    </p:bg>
    <p:spTree>
      <p:nvGrpSpPr>
        <p:cNvPr id="505" name="Shape 505"/>
        <p:cNvGrpSpPr/>
        <p:nvPr/>
      </p:nvGrpSpPr>
      <p:grpSpPr>
        <a:xfrm>
          <a:off x="0" y="0"/>
          <a:ext cx="0" cy="0"/>
          <a:chOff x="0" y="0"/>
          <a:chExt cx="0" cy="0"/>
        </a:xfrm>
      </p:grpSpPr>
      <p:sp>
        <p:nvSpPr>
          <p:cNvPr id="506" name="Google Shape;506;p29"/>
          <p:cNvSpPr/>
          <p:nvPr/>
        </p:nvSpPr>
        <p:spPr>
          <a:xfrm>
            <a:off x="0" y="4480560"/>
            <a:ext cx="9144000" cy="662940"/>
          </a:xfrm>
          <a:prstGeom prst="rect">
            <a:avLst/>
          </a:prstGeom>
          <a:solidFill>
            <a:srgbClr val="00A896"/>
          </a:solidFill>
          <a:ln cap="flat" cmpd="sng" w="12700">
            <a:solidFill>
              <a:srgbClr val="00A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9"/>
          <p:cNvSpPr/>
          <p:nvPr/>
        </p:nvSpPr>
        <p:spPr>
          <a:xfrm>
            <a:off x="6858000" y="-731520"/>
            <a:ext cx="3200400" cy="3200400"/>
          </a:xfrm>
          <a:prstGeom prst="ellipse">
            <a:avLst/>
          </a:prstGeom>
          <a:solidFill>
            <a:srgbClr val="02C39A">
              <a:alpha val="10196"/>
            </a:srgbClr>
          </a:solidFill>
          <a:ln cap="flat" cmpd="sng" w="12700">
            <a:solidFill>
              <a:srgbClr val="02C39A">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9"/>
          <p:cNvSpPr/>
          <p:nvPr/>
        </p:nvSpPr>
        <p:spPr>
          <a:xfrm>
            <a:off x="457200" y="822960"/>
            <a:ext cx="8229600" cy="10972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Thank You</a:t>
            </a:r>
            <a:endParaRPr b="0" i="0" sz="4800" u="none" cap="none" strike="noStrike">
              <a:solidFill>
                <a:schemeClr val="dk1"/>
              </a:solidFill>
              <a:latin typeface="Calibri"/>
              <a:ea typeface="Calibri"/>
              <a:cs typeface="Calibri"/>
              <a:sym typeface="Calibri"/>
            </a:endParaRPr>
          </a:p>
        </p:txBody>
      </p:sp>
      <p:sp>
        <p:nvSpPr>
          <p:cNvPr id="509" name="Google Shape;509;p29"/>
          <p:cNvSpPr/>
          <p:nvPr/>
        </p:nvSpPr>
        <p:spPr>
          <a:xfrm>
            <a:off x="457200" y="2103120"/>
            <a:ext cx="8229600"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2C39A"/>
              </a:buClr>
              <a:buSzPts val="1400"/>
              <a:buFont typeface="Calibri"/>
              <a:buNone/>
            </a:pPr>
            <a:r>
              <a:rPr b="0" i="1" lang="en-US" sz="1400" u="none" cap="none" strike="noStrike">
                <a:solidFill>
                  <a:srgbClr val="02C39A"/>
                </a:solidFill>
                <a:latin typeface="Calibri"/>
                <a:ea typeface="Calibri"/>
                <a:cs typeface="Calibri"/>
                <a:sym typeface="Calibri"/>
              </a:rPr>
              <a:t>Consumer Sentiment Analytics Dashboard</a:t>
            </a:r>
            <a:endParaRPr b="0" i="0" sz="14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2C39A"/>
              </a:buClr>
              <a:buSzPts val="1400"/>
              <a:buFont typeface="Calibri"/>
              <a:buNone/>
            </a:pPr>
            <a:r>
              <a:rPr b="0" i="1" lang="en-US" sz="1400" u="none" cap="none" strike="noStrike">
                <a:solidFill>
                  <a:srgbClr val="02C39A"/>
                </a:solidFill>
                <a:latin typeface="Calibri"/>
                <a:ea typeface="Calibri"/>
                <a:cs typeface="Calibri"/>
                <a:sym typeface="Calibri"/>
              </a:rPr>
              <a:t>Sony PlayMemories Online — Recommended for Discontinuation</a:t>
            </a:r>
            <a:endParaRPr b="0" i="0" sz="1400" u="none" cap="none" strike="noStrike">
              <a:solidFill>
                <a:schemeClr val="dk1"/>
              </a:solidFill>
              <a:latin typeface="Calibri"/>
              <a:ea typeface="Calibri"/>
              <a:cs typeface="Calibri"/>
              <a:sym typeface="Calibri"/>
            </a:endParaRPr>
          </a:p>
        </p:txBody>
      </p:sp>
      <p:sp>
        <p:nvSpPr>
          <p:cNvPr id="510" name="Google Shape;510;p29"/>
          <p:cNvSpPr/>
          <p:nvPr/>
        </p:nvSpPr>
        <p:spPr>
          <a:xfrm>
            <a:off x="457200" y="315468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CADCFC"/>
              </a:buClr>
              <a:buSzPts val="1200"/>
              <a:buFont typeface="Calibri"/>
              <a:buNone/>
            </a:pPr>
            <a:r>
              <a:rPr b="0" i="0" lang="en-US" sz="1200" u="none" cap="none" strike="noStrike">
                <a:solidFill>
                  <a:srgbClr val="CADCFC"/>
                </a:solidFill>
                <a:latin typeface="Calibri"/>
                <a:ea typeface="Calibri"/>
                <a:cs typeface="Calibri"/>
                <a:sym typeface="Calibri"/>
              </a:rPr>
              <a:t>Global Sentiment Index: 67/100  •  166 Reviews  •  3 Products Analyzed</a:t>
            </a:r>
            <a:endParaRPr b="0" i="0" sz="1200" u="none" cap="none" strike="noStrike">
              <a:solidFill>
                <a:schemeClr val="dk1"/>
              </a:solidFill>
              <a:latin typeface="Calibri"/>
              <a:ea typeface="Calibri"/>
              <a:cs typeface="Calibri"/>
              <a:sym typeface="Calibri"/>
            </a:endParaRPr>
          </a:p>
        </p:txBody>
      </p:sp>
      <p:sp>
        <p:nvSpPr>
          <p:cNvPr id="511" name="Google Shape;511;p29"/>
          <p:cNvSpPr/>
          <p:nvPr/>
        </p:nvSpPr>
        <p:spPr>
          <a:xfrm>
            <a:off x="457200" y="3566160"/>
            <a:ext cx="8229600"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94A3B8"/>
              </a:buClr>
              <a:buSzPts val="1400"/>
              <a:buFont typeface="Calibri"/>
              <a:buNone/>
            </a:pPr>
            <a:r>
              <a:rPr b="0" i="0" lang="en-US" sz="1400" u="none" cap="none" strike="noStrike">
                <a:solidFill>
                  <a:srgbClr val="94A3B8"/>
                </a:solidFill>
                <a:latin typeface="Calibri"/>
                <a:ea typeface="Calibri"/>
                <a:cs typeface="Calibri"/>
                <a:sym typeface="Calibri"/>
              </a:rPr>
              <a:t>Questions &amp; Discussion</a:t>
            </a:r>
            <a:endParaRPr b="0" i="0" sz="1400" u="none" cap="none" strike="noStrike">
              <a:solidFill>
                <a:schemeClr val="dk1"/>
              </a:solidFill>
              <a:latin typeface="Calibri"/>
              <a:ea typeface="Calibri"/>
              <a:cs typeface="Calibri"/>
              <a:sym typeface="Calibri"/>
            </a:endParaRPr>
          </a:p>
        </p:txBody>
      </p:sp>
      <p:sp>
        <p:nvSpPr>
          <p:cNvPr id="512" name="Google Shape;512;p29"/>
          <p:cNvSpPr/>
          <p:nvPr/>
        </p:nvSpPr>
        <p:spPr>
          <a:xfrm>
            <a:off x="182880" y="4526280"/>
            <a:ext cx="877824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0" i="0" lang="en-US" sz="1000" u="none" cap="none" strike="noStrike">
                <a:solidFill>
                  <a:srgbClr val="FFFFFF"/>
                </a:solidFill>
                <a:latin typeface="Calibri"/>
                <a:ea typeface="Calibri"/>
                <a:cs typeface="Calibri"/>
                <a:sym typeface="Calibri"/>
              </a:rPr>
              <a:t>Group 2  |  Web Analytics  |  Fordham University  |  Spring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